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400" b="1" i="0">
                <a:solidFill>
                  <a:srgbClr val="BE0F05"/>
                </a:solidFill>
                <a:latin typeface="Arial"/>
              </a:rPr>
              <a:t>Antibiotic Resistance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A Live Patent Landscape, Built Notebook by Notebook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4748B"/>
                </a:solidFill>
                <a:latin typeface="Arial"/>
              </a:rPr>
              <a:t>PATLIB Conference 2026 · Warsaw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514600"/>
            <a:ext cx="10637215" cy="960120"/>
          </a:xfrm>
          <a:prstGeom prst="roundRect">
            <a:avLst>
              <a:gd name="adj" fmla="val 6000"/>
            </a:avLst>
          </a:prstGeom>
          <a:solidFill>
            <a:srgbClr val="FD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46304" bIns="146304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1">
                <a:solidFill>
                  <a:srgbClr val="1A1A1A"/>
                </a:solidFill>
                <a:latin typeface="Arial"/>
              </a:rPr>
              <a:t>What you will see live: four short notebooks that turn a research question into a finished, browsable patent landscape report — using EPO's Technology Intelligence Platform (TIP) and the PATSTAT patent database.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6587" y="3977639"/>
            <a:ext cx="2377440" cy="96012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BE0F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6587" y="3977639"/>
            <a:ext cx="23774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BE0F05"/>
                </a:solidFill>
                <a:latin typeface="Arial"/>
              </a:rPr>
              <a:t>1 · Search
strategy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18891" y="4315967"/>
            <a:ext cx="393192" cy="274320"/>
          </a:xfrm>
          <a:prstGeom prst="rightArrow">
            <a:avLst/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66947" y="3977639"/>
            <a:ext cx="2377440" cy="96012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BE0F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66947" y="3977639"/>
            <a:ext cx="23774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BE0F05"/>
                </a:solidFill>
                <a:latin typeface="Arial"/>
              </a:rPr>
              <a:t>2 · Core
landscape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99251" y="4315967"/>
            <a:ext cx="393192" cy="274320"/>
          </a:xfrm>
          <a:prstGeom prst="rightArrow">
            <a:avLst/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47307" y="3977639"/>
            <a:ext cx="2377440" cy="96012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BE0F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7307" y="3977639"/>
            <a:ext cx="23774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BE0F05"/>
                </a:solidFill>
                <a:latin typeface="Arial"/>
              </a:rPr>
              <a:t>3 · Technology
network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779611" y="4315967"/>
            <a:ext cx="393192" cy="274320"/>
          </a:xfrm>
          <a:prstGeom prst="rightArrow">
            <a:avLst/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227667" y="3977639"/>
            <a:ext cx="2377440" cy="96012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BE0F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27667" y="3977639"/>
            <a:ext cx="23774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BE0F05"/>
                </a:solidFill>
                <a:latin typeface="Arial"/>
              </a:rPr>
              <a:t>4 · Assemble
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25780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created by Riccardo Priore, Centro PATLIB, AREA Science Park · rebuilt for TIP4PATLIBS by Arne Krüger (mtc.berlin)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6_patentreports / 2_antibiotic_resistance_rebuild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5495" y="6355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Antibiotic Resistance · Live Demo · 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BE0F05"/>
                </a:solidFill>
                <a:latin typeface="Arial"/>
              </a:rPr>
              <a:t>BEFORE WE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2455" y="4572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Arial"/>
              </a:rPr>
              <a:t>For anyone new to TIP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Arial"/>
              </a:rPr>
              <a:t>Two things worth knowing before the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5074920" cy="3566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/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600" b="1" i="0">
                <a:solidFill>
                  <a:srgbClr val="BE0F05"/>
                </a:solidFill>
                <a:latin typeface="Arial"/>
              </a:rPr>
              <a:t>PATSTAT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The world's patent statistical database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64748B"/>
                </a:solidFill>
                <a:latin typeface="Arial"/>
              </a:rPr>
              <a:t>Maintained by EPO. Millions of patent applications from patent offices worldwide, harmonised into one queryable database — who filed what, when, where, and how it was classified. We use the full production edition, PATSTAT Global, Autumn 2025.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828800"/>
            <a:ext cx="5074920" cy="3566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/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600" b="1" i="0">
                <a:solidFill>
                  <a:srgbClr val="BE0F05"/>
                </a:solidFill>
                <a:latin typeface="Arial"/>
              </a:rPr>
              <a:t>TIP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EPO's Technology Intelligence Platform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64748B"/>
                </a:solidFill>
                <a:latin typeface="Arial"/>
              </a:rPr>
              <a:t>A cloud workspace (JupyterLab notebooks) that already has a live connection to PATSTAT built in. You write a query in Python, TIP runs it against PATSTAT, and you get a table or a chart back — no local database, no installation.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62356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1">
                <a:solidFill>
                  <a:srgbClr val="BE0F05"/>
                </a:solidFill>
                <a:latin typeface="Arial"/>
              </a:rPr>
              <a:t>In short: PATSTAT is the data, TIP is the notebook environment we query it from. Everything you'll see today runs live inside TIP.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5495" y="6355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Antibiotic Resistance · Live Demo · 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BE0F05"/>
                </a:solidFill>
                <a:latin typeface="Arial"/>
              </a:rPr>
              <a:t>THE SHAPE OF THE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2455" y="4572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Arial"/>
              </a:rPr>
              <a:t>6_patentreports/2_antibiotic_resistance_rebuild/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Arial"/>
              </a:rPr>
              <a:t>One pipeline, four notebooks, run in order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3747" y="1965960"/>
            <a:ext cx="2377440" cy="2286000"/>
          </a:xfrm>
          <a:prstGeom prst="roundRect">
            <a:avLst>
              <a:gd name="adj" fmla="val 8000"/>
            </a:avLst>
          </a:prstGeom>
          <a:solidFill>
            <a:srgbClr val="FDF2F2"/>
          </a:solidFill>
          <a:ln w="19050">
            <a:solidFill>
              <a:srgbClr val="BE0F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747" y="2011680"/>
            <a:ext cx="237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3400" b="1" i="0">
                <a:solidFill>
                  <a:srgbClr val="BE0F05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339" y="2834640"/>
            <a:ext cx="20482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dataset_and_search_strategy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339" y="3520440"/>
            <a:ext cx="204825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Defines the corpus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37763" y="2971800"/>
            <a:ext cx="338328" cy="274320"/>
          </a:xfrm>
          <a:prstGeom prst="rightArrow">
            <a:avLst/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12667" y="1965960"/>
            <a:ext cx="2377440" cy="2286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905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2667" y="2011680"/>
            <a:ext cx="237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3400" b="1" i="0">
                <a:solidFill>
                  <a:srgbClr val="1F6FEB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7259" y="2834640"/>
            <a:ext cx="20482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core_landscape_analyses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7259" y="3520440"/>
            <a:ext cx="204825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Who · Where · When — 10 charts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26683" y="2971800"/>
            <a:ext cx="338328" cy="274320"/>
          </a:xfrm>
          <a:prstGeom prst="rightArrow">
            <a:avLst/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1587" y="1965960"/>
            <a:ext cx="2377440" cy="2286000"/>
          </a:xfrm>
          <a:prstGeom prst="roundRect">
            <a:avLst>
              <a:gd name="adj" fmla="val 8000"/>
            </a:avLst>
          </a:prstGeom>
          <a:solidFill>
            <a:srgbClr val="FDF2F2"/>
          </a:solidFill>
          <a:ln w="19050">
            <a:solidFill>
              <a:srgbClr val="2E8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1587" y="2011680"/>
            <a:ext cx="237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3400" b="1" i="0">
                <a:solidFill>
                  <a:srgbClr val="2E8540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6179" y="2834640"/>
            <a:ext cx="20482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advanced_analyses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6179" y="3520440"/>
            <a:ext cx="204825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How technologies connect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715603" y="2971800"/>
            <a:ext cx="338328" cy="274320"/>
          </a:xfrm>
          <a:prstGeom prst="rightArrow">
            <a:avLst/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90507" y="1965960"/>
            <a:ext cx="2377440" cy="2286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9050">
            <a:solidFill>
              <a:srgbClr val="BE0F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0507" y="2011680"/>
            <a:ext cx="237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3400" b="1" i="0">
                <a:solidFill>
                  <a:srgbClr val="BE0F05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5099" y="2834640"/>
            <a:ext cx="20482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assemble_report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5099" y="3520440"/>
            <a:ext cx="204825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One HTML report + one Excel file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663440"/>
            <a:ext cx="10637215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rule that makes this work: each notebook writes exactly what the next one reads. Notebook 1 writes one file, “dataset.xlsx” — the shared corpus every later step re-queries PATSTAT against. Nothing is copy-pasted between notebooks.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5495" y="6355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Antibiotic Resistance · Live Demo · 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BE0F05"/>
                </a:solidFill>
                <a:latin typeface="Arial"/>
              </a:rPr>
              <a:t>NOTEBOOK 1 · STEP 2–4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2455" y="4572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Arial"/>
              </a:rPr>
              <a:t>dataset_and_search_strategy.ipynb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Arial"/>
              </a:rPr>
              <a:t>Defining the corpus: two ingredients, combined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4846320" cy="36118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9050">
            <a:solidFill>
              <a:srgbClr val="BE0F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82880"/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900" b="1" i="0">
                <a:solidFill>
                  <a:srgbClr val="BE0F05"/>
                </a:solidFill>
                <a:latin typeface="Arial"/>
              </a:rPr>
              <a:t>Keywords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50" b="0" i="1">
                <a:solidFill>
                  <a:srgbClr val="64748B"/>
                </a:solidFill>
                <a:latin typeface="Arial"/>
              </a:rPr>
              <a:t>What the text says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•  Group 1 — core terms: “antibiotic resistance”, “antimicrobial resistant”…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•  Group 2 — resistance mechanisms: beta-lactamase, carbapenemase, methicillin resistance…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•  Group 3 — explicit bacterial context: “antibiotic-resistant bacteria”…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•  Excluded on purpose: generic “drug resistance” (mostly cancer results) and bare acronyms like MRSA, VRE, ESBL (too noisy alone)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760720" y="3108960"/>
            <a:ext cx="777240" cy="320040"/>
          </a:xfrm>
          <a:prstGeom prst="rightArrow">
            <a:avLst/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41848" y="3474720"/>
            <a:ext cx="1014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645920"/>
            <a:ext cx="4846320" cy="36118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905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82880"/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900" b="1" i="0">
                <a:solidFill>
                  <a:srgbClr val="1F6FEB"/>
                </a:solidFill>
                <a:latin typeface="Arial"/>
              </a:rPr>
              <a:t>Classification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50" b="0" i="1">
                <a:solidFill>
                  <a:srgbClr val="64748B"/>
                </a:solidFill>
                <a:latin typeface="Arial"/>
              </a:rPr>
              <a:t>What the examiner tagged it as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•  6 code families: pharma (A61K), therapeutics (A61P), diagnostics (C12Q/G01N), microorganisms (C12N/C12P), chemistry (C07D/C07K), biocides (A01N)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•  Same code list used for both official systems, IPC and CPC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•  Caveat: IPC codes are fixed-width — “A61K  31” has exact spacing; get it wrong and the filter silently matches nothing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The final corpus = families matching a keyword AND a classification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5495" y="6355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Antibiotic Resistance · Live Demo · 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BE0F05"/>
                </a:solidFill>
                <a:latin typeface="Arial"/>
              </a:rPr>
              <a:t>A QUICK REMINDER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2455" y="4572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Arial"/>
              </a:rPr>
              <a:t>No statistics background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Arial"/>
              </a:rPr>
              <a:t>Why combine two filters? Precision vs. recall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5212080" cy="1965960"/>
          </a:xfrm>
          <a:prstGeom prst="roundRect">
            <a:avLst>
              <a:gd name="adj" fmla="val 6000"/>
            </a:avLst>
          </a:prstGeom>
          <a:solidFill>
            <a:srgbClr val="FDF2F2"/>
          </a:solidFill>
          <a:ln w="12700">
            <a:solidFill>
              <a:srgbClr val="BE0F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82880"/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000" b="1" i="0">
                <a:solidFill>
                  <a:srgbClr val="BE0F05"/>
                </a:solidFill>
                <a:latin typeface="Arial"/>
              </a:rPr>
              <a:t>Recall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 i="1">
                <a:solidFill>
                  <a:srgbClr val="64748B"/>
                </a:solidFill>
                <a:latin typeface="Arial"/>
              </a:rPr>
              <a:t>“Did I catch everything relevant?”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A wide net: broad keyword search alone. Catches almost every real antibiotic-resistance patent — but also a lot of junk (e.g. drug-resistance patents about cancer that happen to share the words).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737360"/>
            <a:ext cx="5212080" cy="19659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82880"/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000" b="1" i="0">
                <a:solidFill>
                  <a:srgbClr val="1F6FEB"/>
                </a:solidFill>
                <a:latin typeface="Arial"/>
              </a:rPr>
              <a:t>Precision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 i="1">
                <a:solidFill>
                  <a:srgbClr val="64748B"/>
                </a:solidFill>
                <a:latin typeface="Arial"/>
              </a:rPr>
              <a:t>“Is everything I caught actually relevant?”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A narrow net: classification codes alone. What's caught is on-topic, but some real antibiotic-resistance patents get missed because examiners classified them slightly differently.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77639"/>
            <a:ext cx="10637215" cy="15087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9050">
            <a:solidFill>
              <a:srgbClr val="BE0F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 i="0">
                <a:solidFill>
                  <a:srgbClr val="BE0F05"/>
                </a:solidFill>
                <a:latin typeface="Arial"/>
              </a:rPr>
              <a:t>The pipeline's choice: keywords AND classification (Step 4)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Requiring both signals together trades a little recall for a lot of precision: a family must talk about resistance and carry a relevant classification code. That is a deliberate, documented decision — not the only possible one — and it's exactly the kind of choice worth explaining to a client who asks “why this number?”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5495" y="6355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Antibiotic Resistance · Live Demo · 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BE0F05"/>
                </a:solidFill>
                <a:latin typeface="Arial"/>
              </a:rPr>
              <a:t>NOTEBOOK 1 · STEPS 5–8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2455" y="4572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Arial"/>
              </a:rPr>
              <a:t>dataset_and_search_strategy.ipynb — what it leaves behind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Arial"/>
              </a:rPr>
              <a:t>Notebook 1 hands off exactly one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10637215" cy="1417320"/>
          </a:xfrm>
          <a:prstGeom prst="roundRect">
            <a:avLst>
              <a:gd name="adj" fmla="val 6000"/>
            </a:avLst>
          </a:prstGeom>
          <a:solidFill>
            <a:srgbClr val="FDF2F2"/>
          </a:solidFill>
          <a:ln w="19050">
            <a:solidFill>
              <a:srgbClr val="BE0F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 i="0">
                <a:solidFill>
                  <a:srgbClr val="BE0F05"/>
                </a:solidFill>
                <a:latin typeface="Arial"/>
              </a:rPr>
              <a:t>1_dataset_and_search_strategy_output/dataset.xlsx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One row per patent family: its id and one representative publication number (preferring an EP publication, then WO, then US). Filings restricted to year 2000 onwards. Every later notebook starts by reading this one file.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429000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Plus a first look at the corpus — two charts, already in the final report: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886200"/>
            <a:ext cx="5212080" cy="15087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Families over time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Arial"/>
              </a:rPr>
              <a:t>Patent families by earliest filing year — the growth curve of antibiotic-resistance patenting since 2000.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3886200"/>
            <a:ext cx="5212080" cy="15087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Top 20 IPC classes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Arial"/>
              </a:rPr>
              <a:t>Which technology classes dominate the corpus at a glance, before any deeper analysis.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5495" y="6355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Antibiotic Resistance · Live Demo · 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BE0F05"/>
                </a:solidFill>
                <a:latin typeface="Arial"/>
              </a:rPr>
              <a:t>NOTEBOOK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2455" y="4572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Arial"/>
              </a:rPr>
              <a:t>core_landscape_analyses.ipynb — the “who / where / when” battery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Arial"/>
              </a:rPr>
              <a:t>Ten charts, one shared corpus, re-queried ten ways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764792"/>
            <a:ext cx="274320" cy="2743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19072"/>
            <a:ext cx="4800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Filings by international/regional authority (WO, EP, EA, AP, OA)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386584"/>
            <a:ext cx="274320" cy="2743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5915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340864"/>
            <a:ext cx="4800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WO (PCT) vs. EP filings over time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08376"/>
            <a:ext cx="274320" cy="2743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98094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62656"/>
            <a:ext cx="4800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National filing trends — top 8 national offices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630168"/>
            <a:ext cx="274320" cy="2743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60273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584448"/>
            <a:ext cx="4800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Innovation waves — families per year by technology area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251960"/>
            <a:ext cx="274320" cy="2743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2452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206240"/>
            <a:ext cx="4800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National vs. international filing strategy over time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1764792"/>
            <a:ext cx="274320" cy="2743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73736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1719072"/>
            <a:ext cx="4800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Family size &amp; global reach (how many countries per family)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0" y="2386584"/>
            <a:ext cx="274320" cy="2743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35915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2340864"/>
            <a:ext cx="4800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Top 15 applicants by patent families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0" y="3008376"/>
            <a:ext cx="274320" cy="2743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98094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2962656"/>
            <a:ext cx="4800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Applicants by institutional sector (company / university / hospital…)</a:t>
            </a:r>
          </a:p>
        </p:txBody>
      </p:sp>
      <p:sp>
        <p:nvSpPr>
          <p:cNvPr id="29" name="Oval 28"/>
          <p:cNvSpPr/>
          <p:nvPr/>
        </p:nvSpPr>
        <p:spPr>
          <a:xfrm>
            <a:off x="6583680" y="3630168"/>
            <a:ext cx="274320" cy="2743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60273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3584448"/>
            <a:ext cx="4800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Grant rate for the top 20 applicants by volume</a:t>
            </a:r>
          </a:p>
        </p:txBody>
      </p:sp>
      <p:sp>
        <p:nvSpPr>
          <p:cNvPr id="32" name="Oval 31"/>
          <p:cNvSpPr/>
          <p:nvPr/>
        </p:nvSpPr>
        <p:spPr>
          <a:xfrm>
            <a:off x="6583680" y="4251960"/>
            <a:ext cx="274320" cy="2743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422452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4206240"/>
            <a:ext cx="4800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Most influential organisations — forward citations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5166360"/>
            <a:ext cx="10637215" cy="1051560"/>
          </a:xfrm>
          <a:prstGeom prst="roundRect">
            <a:avLst>
              <a:gd name="adj" fmla="val 5000"/>
            </a:avLst>
          </a:prstGeom>
          <a:solidFill>
            <a:srgbClr val="FDF2F2"/>
          </a:solidFill>
          <a:ln w="12700">
            <a:solidFill>
              <a:srgbClr val="BE0F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Caveat worth flagging live: charts 1–5 count filings (applications), not families — a family filed at three offices adds to all three bars. And chart 10 (citations) needs a second query engine (BigQuery) because it self-joins the whole citation table, which is too large for the everyday query path.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05495" y="6355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Antibiotic Resistance · Live Demo · 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BE0F05"/>
                </a:solidFill>
                <a:latin typeface="Arial"/>
              </a:rPr>
              <a:t>NOTEBOOK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2455" y="4572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Arial"/>
              </a:rPr>
              <a:t>advanced_analyses.ipynb — the technology co-occurrence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Arial"/>
              </a:rPr>
              <a:t>Which technologies show up together on the same patent?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E8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37944"/>
            <a:ext cx="365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" y="1764792"/>
            <a:ext cx="101068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A dictionary of names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Arial"/>
              </a:rPr>
              <a:t>Every IPC code (e.g. A61K 31) is mapped to a readable label (“Antibiotic Drugs — Organic Compounds”) — the one piece of domain expertise that turns codes into a 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7919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E8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65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2660904"/>
            <a:ext cx="101068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Keep only the significant codes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Arial"/>
              </a:rPr>
              <a:t>A code becomes a node only if it appears in at least 50 patent families — filters out one-off, noisy classifications.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57530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E8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630168"/>
            <a:ext cx="365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3557016"/>
            <a:ext cx="101068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Find what co-occurs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Arial"/>
              </a:rPr>
              <a:t>Two codes on the same patent application → an edge. Only pairs occurring at least 5 times are drawn.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47141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E8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526280"/>
            <a:ext cx="365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7592" y="4453128"/>
            <a:ext cx="101068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Draw it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Arial"/>
              </a:rPr>
              <a:t>Node size/colour = how many families carry that technology. Edge thickness = how often the two technologies appear together.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440680"/>
            <a:ext cx="10637215" cy="777240"/>
          </a:xfrm>
          <a:prstGeom prst="roundRect">
            <a:avLst>
              <a:gd name="adj" fmla="val 5000"/>
            </a:avLst>
          </a:prstGeom>
          <a:solidFill>
            <a:srgbClr val="FDF2F2"/>
          </a:solidFill>
          <a:ln w="12700">
            <a:solidFill>
              <a:srgbClr val="BE0F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Caveat: the two thresholds (50 families, 5 co-occurrences) are judgment calls, not a fixed truth. Change them and the picture of the field changes — worth saying out loud when showing the network live.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5495" y="6355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Antibiotic Resistance · Live Demo · 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BE0F05"/>
                </a:solidFill>
                <a:latin typeface="Arial"/>
              </a:rPr>
              <a:t>NOTEBOOK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2455" y="4572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Arial"/>
              </a:rPr>
              <a:t>assemble_report.ipynb — from many small pieces to one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Arial"/>
              </a:rPr>
              <a:t>Every chart is a small, self-describing building block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372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Every analysis in notebooks 1–3 follows one simple rule: make one chart, keep the data behind it, and record both automatically. Notebook 4 doesn't analyse anything — it just collects all these building blocks, in order, and assembles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651760"/>
            <a:ext cx="5212080" cy="32004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9050">
            <a:solidFill>
              <a:srgbClr val="BE0F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82880"/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700" b="1" i="0">
                <a:solidFill>
                  <a:srgbClr val="BE0F05"/>
                </a:solidFill>
                <a:latin typeface="Arial"/>
              </a:rPr>
              <a:t>One HTML report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00" b="0" i="1">
                <a:solidFill>
                  <a:srgbClr val="64748B"/>
                </a:solidFill>
                <a:latin typeface="Arial"/>
              </a:rPr>
              <a:t>antibiotic_resistance_report.html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•  Fully self-contained — no internet connection needed to open it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•  Two view modes: “Paged” (one chart at a time, ideal for presenting live) and “One page” (everything scrolled, ideal for scanning or export)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•  Technical note: it has to be self-contained because TIP's Jupyter environment blocks the kind of embedded content (iframes) a simpler report would normally 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2651760"/>
            <a:ext cx="5212080" cy="32004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905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82880"/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700" b="1" i="0">
                <a:solidFill>
                  <a:srgbClr val="1F6FEB"/>
                </a:solidFill>
                <a:latin typeface="Arial"/>
              </a:rPr>
              <a:t>One Excel workbook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00" b="0" i="1">
                <a:solidFill>
                  <a:srgbClr val="64748B"/>
                </a:solidFill>
                <a:latin typeface="Arial"/>
              </a:rPr>
              <a:t>antibiotic_resistance_report_data.xlsx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•  One sheet per chart — the numbers behind every figure in the report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•  Makes the report auditable: a client can check or reuse the data without ever opening TIP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•  A chart built from two tables (like the technology network) simply gets two sheets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5495" y="6355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Antibiotic Resistance · Live Demo · 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BE0F05"/>
                </a:solidFill>
                <a:latin typeface="Arial"/>
              </a:rPr>
              <a:t>WHAT HAPPENS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2455" y="4572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Arial"/>
              </a:rPr>
              <a:t>Live in TIP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Arial"/>
              </a:rPr>
              <a:t>Live now: running the four notebooks end to end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956816"/>
            <a:ext cx="91440" cy="91440"/>
          </a:xfrm>
          <a:prstGeom prst="ellipse">
            <a:avLst/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828800"/>
            <a:ext cx="103446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Open notebook 1 — connect to PATSTAT PROD, build the corpus, watch the family count come back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578608"/>
            <a:ext cx="91440" cy="91440"/>
          </a:xfrm>
          <a:prstGeom prst="ellipse">
            <a:avLst/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450592"/>
            <a:ext cx="103446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Run notebook 2 — ten charts render inline, one PATSTAT query at a time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200400"/>
            <a:ext cx="91440" cy="91440"/>
          </a:xfrm>
          <a:prstGeom prst="ellipse">
            <a:avLst/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3072384"/>
            <a:ext cx="103446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Run notebook 3 — the technology network takes shape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822192"/>
            <a:ext cx="91440" cy="91440"/>
          </a:xfrm>
          <a:prstGeom prst="ellipse">
            <a:avLst/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3694176"/>
            <a:ext cx="103446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Run notebook 4 — the two files above appear, and the finished report opens inside TIP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709160"/>
            <a:ext cx="10637215" cy="1371600"/>
          </a:xfrm>
          <a:prstGeom prst="roundRect">
            <a:avLst>
              <a:gd name="adj" fmla="val 6000"/>
            </a:avLst>
          </a:prstGeom>
          <a:solidFill>
            <a:srgbClr val="FDF2F2"/>
          </a:solidFill>
          <a:ln w="19050">
            <a:solidFill>
              <a:srgbClr val="BE0F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 i="0">
                <a:solidFill>
                  <a:srgbClr val="BE0F05"/>
                </a:solidFill>
                <a:latin typeface="Arial"/>
              </a:rPr>
              <a:t>The one sentence to remember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A patent landscape isn't magic: a clearly documented search, the same corpus re-queried notebook by notebook, and one auditable report at the end — every number traceable back to a PATSTAT query.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5495" y="6355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Antibiotic Resistance · Live Demo · 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Arial"/>
              </a:rPr>
              <a:t>Thank you — questions welcome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2048256"/>
            <a:ext cx="91440" cy="91440"/>
          </a:xfrm>
          <a:prstGeom prst="ellipse">
            <a:avLst/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" y="1920240"/>
            <a:ext cx="103446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Full pipeline: 6_patentreports/2_antibiotic_resistance_rebuild/ (notebooks 1–4)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706624"/>
            <a:ext cx="91440" cy="91440"/>
          </a:xfrm>
          <a:prstGeom prst="ellipse">
            <a:avLst/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578608"/>
            <a:ext cx="103446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Reference report already on file: 6_patentreports/1_antibiotic_resistance/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3364992"/>
            <a:ext cx="91440" cy="91440"/>
          </a:xfrm>
          <a:prstGeom prst="ellipse">
            <a:avLst/>
          </a:prstGeom>
          <a:solidFill>
            <a:srgbClr val="BE0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3236976"/>
            <a:ext cx="103446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small “record” contract every chart follows: report_kit.py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434840"/>
            <a:ext cx="10637215" cy="1371600"/>
          </a:xfrm>
          <a:prstGeom prst="roundRect">
            <a:avLst>
              <a:gd name="adj" fmla="val 5000"/>
            </a:avLst>
          </a:prstGeom>
          <a:solidFill>
            <a:srgbClr val="FD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/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 i="0">
                <a:solidFill>
                  <a:srgbClr val="BE0F05"/>
                </a:solidFill>
                <a:latin typeface="Arial"/>
              </a:rPr>
              <a:t>created by Riccardo Priore, Centro PATLIB, AREA Science Park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Arial"/>
              </a:rPr>
              <a:t>rebuilt as a TIP4PATLIBS teaching module by Arne Krüger (mtc.berlin)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4748B"/>
                </a:solidFill>
                <a:latin typeface="Arial"/>
              </a:rPr>
              <a:t>PATLIB Conference 2026 · Warsaw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epo-tip4patlibs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5495" y="6355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Arial"/>
              </a:rPr>
              <a:t>Antibiotic Resistance · Live Demo · 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