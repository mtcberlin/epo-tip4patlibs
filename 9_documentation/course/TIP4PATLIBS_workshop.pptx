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200" b="1" i="0">
                <a:solidFill>
                  <a:srgbClr val="BE0F05"/>
                </a:solidFill>
                <a:latin typeface="Arial"/>
              </a:rPr>
              <a:t>TIP4PATLIBS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Patent analytics on the EPO Technology Intelligence Platform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 i="0">
                <a:solidFill>
                  <a:srgbClr val="64748B"/>
                </a:solidFill>
                <a:latin typeface="Arial"/>
              </a:rPr>
              <a:t>PATLIB Workshop · Warsaw · 18 September 2026   ·   Arne Krüger · mtc.berlin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10637215" cy="105156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146304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1">
                <a:solidFill>
                  <a:srgbClr val="1A1A1A"/>
                </a:solidFill>
                <a:latin typeface="Arial"/>
              </a:rPr>
              <a:t>A PATLIB adviser can take a real question from a real client and answer it from PATSTAT on TIP — with a defensible method, a reproducible notebook and an artifact the client can keep. And they can say which parts of that answer are evidence and which are judgement.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310128"/>
            <a:ext cx="4206240" cy="292608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438144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SKILLS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78408" y="3767328"/>
            <a:ext cx="3803904" cy="694944"/>
          </a:xfrm>
          <a:prstGeom prst="roundRect">
            <a:avLst>
              <a:gd name="adj" fmla="val 12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" y="3867912"/>
            <a:ext cx="3438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1   Work on TIP at all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environment, first query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8408" y="4599432"/>
            <a:ext cx="3803904" cy="694944"/>
          </a:xfrm>
          <a:prstGeom prst="roundRect">
            <a:avLst>
              <a:gd name="adj" fmla="val 12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61288" y="4700016"/>
            <a:ext cx="3438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3   Ask PATSTAT a question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the query library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" y="5431536"/>
            <a:ext cx="3803904" cy="694944"/>
          </a:xfrm>
          <a:prstGeom prst="roundRect">
            <a:avLst>
              <a:gd name="adj" fmla="val 12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61288" y="5532120"/>
            <a:ext cx="3438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4   Find the right people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applicant consolidation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310128"/>
            <a:ext cx="4206240" cy="292608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3438144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APPLICATIONS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22008" y="3767328"/>
            <a:ext cx="3803904" cy="694944"/>
          </a:xfrm>
          <a:prstGeom prst="roundRect">
            <a:avLst>
              <a:gd name="adj" fmla="val 12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04888" y="3867912"/>
            <a:ext cx="3438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5   Who is out there?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region → applicants → leads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22008" y="4599432"/>
            <a:ext cx="3803904" cy="694944"/>
          </a:xfrm>
          <a:prstGeom prst="roundRect">
            <a:avLst>
              <a:gd name="adj" fmla="val 12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04888" y="4700016"/>
            <a:ext cx="3438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6   What does a field look like?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corpus → analyses → report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22008" y="5431536"/>
            <a:ext cx="3803904" cy="694944"/>
          </a:xfrm>
          <a:prstGeom prst="roundRect">
            <a:avLst>
              <a:gd name="adj" fmla="val 12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04888" y="5532120"/>
            <a:ext cx="3438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8   What is one patent worth?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model → evidence → valuation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303520" y="4626864"/>
            <a:ext cx="1097280" cy="292608"/>
          </a:xfrm>
          <a:prstGeom prst="rightArrow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3904488"/>
            <a:ext cx="1554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each application
consumes all three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Each application consumes all three skills. 5, 6 and 8 are parallel, not sequential.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A — SKILLS ·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Arial"/>
              </a:rPr>
              <a:t>Module 1 — Start with TIP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10637215" cy="13716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 tIns="182880" bIns="18288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 i="1">
                <a:solidFill>
                  <a:srgbClr val="BE0F05"/>
                </a:solidFill>
                <a:latin typeface="Arial"/>
              </a:rPr>
              <a:t>"You have been given a login to a machine you do not own, which will be reset without warning, and which holds the largest patent database in the world. Where do you put your work?"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4290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BE0F05"/>
                </a:solidFill>
                <a:latin typeface="Arial"/>
              </a:rPr>
              <a:t>Why the obvious answer fails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3986784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840480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Half the room assumes everything persists, half assumes nothing does. Both are wrong.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4553712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407408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It depends entirely on which directory — and nothing on the screen tells you which.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5120640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974336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Nothing is deleted. It is overwritten, by the scripts that rebuild the container on every start.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1_startwithtip/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A — SKILLS ·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Working through · ~28 min in the 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Arial"/>
              </a:rPr>
              <a:t>Start with TIP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6400800" cy="3977639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25000"/>
              </a:lnSpc>
              <a:spcAft>
                <a:spcPts val="1000"/>
              </a:spcAft>
            </a:pPr>
            <a:r>
              <a:rPr sz="1100" b="1" i="0">
                <a:solidFill>
                  <a:srgbClr val="94A3B8"/>
                </a:solidFill>
                <a:latin typeface="Arial"/>
              </a:rPr>
              <a:t>SCREENSHOT</a:t>
            </a:r>
          </a:p>
          <a:p>
            <a:pPr algn="ctr">
              <a:lnSpc>
                <a:spcPct val="125000"/>
              </a:lnSpc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Notebook 2, Query 1 — the applicant search with its result table</a:t>
            </a:r>
          </a:p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1_startwithtip/2_getting-started-with-patstat.ipynb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NEEDS A TIP RUN — notebook ships with cleared outputs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173736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78308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71907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Learn the machine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sections 1–5b — a factual report on your own environment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10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306324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10896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04495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Ask PATSTAT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Part 1, queries 1–4 — your first result table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13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438912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443484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37083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Get your work out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sections 9–11 — SSH key, your own copy of the material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1_startwithtip/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A — SKILLS ·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1A1A1A"/>
                </a:solidFill>
                <a:latin typeface="Arial"/>
              </a:rPr>
              <a:t>What now exists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A TIP environment that survives a restart, with your settings in the right file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624328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One PATSTAT query you wrote yourself, answering a question you chose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65576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An SSH key that pushes your results off the machine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43984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E0F05"/>
                </a:solidFill>
                <a:latin typeface="Arial"/>
              </a:rPr>
              <a:t>The one sentence to remember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855464"/>
            <a:ext cx="10637215" cy="1051560"/>
          </a:xfrm>
          <a:prstGeom prst="roundRect">
            <a:avLst>
              <a:gd name="adj" fmla="val 5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BE0F05"/>
                </a:solidFill>
                <a:latin typeface="Arial"/>
              </a:rPr>
              <a:t>Count families for inventions and applications for filings — and always say which of the two you used.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1_startwithtip/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A — SKILLS · MODULE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Arial"/>
              </a:rPr>
              <a:t>Module 3 — The Query Library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10637215" cy="13716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 tIns="182880" bIns="18288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 i="1">
                <a:solidFill>
                  <a:srgbClr val="BE0F05"/>
                </a:solidFill>
                <a:latin typeface="Arial"/>
              </a:rPr>
              <a:t>"A client walks in: "Who in Europe is working on solid-state batteries?""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4290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BE0F05"/>
                </a:solidFill>
                <a:latin typeface="Arial"/>
              </a:rPr>
              <a:t>Why the obvious answer fails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3986784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840480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The first answer is always a keyword search. It is not wrong — it is undefendable.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4553712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407408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Keywords miss everything phrased differently and catch everything that merely mentions the term.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5120640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974336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Neither problem is visible in the result. You get a list, and no way to prove it is complete.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3_querylib/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A — SKILLS · MODULE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Working through · ~28 min in the 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Arial"/>
              </a:rPr>
              <a:t>The Query Library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6400800" cy="3977639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25000"/>
              </a:lnSpc>
              <a:spcAft>
                <a:spcPts val="1000"/>
              </a:spcAft>
            </a:pPr>
            <a:r>
              <a:rPr sz="1100" b="1" i="0">
                <a:solidFill>
                  <a:srgbClr val="94A3B8"/>
                </a:solidFill>
                <a:latin typeface="Arial"/>
              </a:rPr>
              <a:t>SCREENSHOT</a:t>
            </a:r>
          </a:p>
          <a:p>
            <a:pPr algn="ctr">
              <a:lnSpc>
                <a:spcPct val="125000"/>
              </a:lnSpc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The Query Browser with a query's SQL open</a:t>
            </a:r>
          </a:p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3_querylib/TIP_for_PATLIBs_QueryLib.ipynb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partly available — some cells ship cleared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173736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78308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71907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Browse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open one query's SQL — the decisions someone made for you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8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306324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10896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04495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Adapt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change country, window, field; run it; time it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12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438912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443484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37083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Point and click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the same data through the interactive demo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8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3_querylib/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A — SKILLS · MODULE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1A1A1A"/>
                </a:solidFill>
                <a:latin typeface="Arial"/>
              </a:rPr>
              <a:t>What now exists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One query adapted to a question you are actually asked, with its result 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624328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A first feel for what a PATSTAT query costs in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02736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E0F05"/>
                </a:solidFill>
                <a:latin typeface="Arial"/>
              </a:rPr>
              <a:t>The one sentence to remember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014216"/>
            <a:ext cx="10637215" cy="1051560"/>
          </a:xfrm>
          <a:prstGeom prst="roundRect">
            <a:avLst>
              <a:gd name="adj" fmla="val 5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BE0F05"/>
                </a:solidFill>
                <a:latin typeface="Arial"/>
              </a:rPr>
              <a:t>An analysis you cannot open up is one you cannot defend.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3_querylib/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A — SKILLS · MODULE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Arial"/>
              </a:rPr>
              <a:t>Module 4 — PATSTAT Explorer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10637215" cy="13716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 tIns="182880" bIns="18288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 i="1">
                <a:solidFill>
                  <a:srgbClr val="BE0F05"/>
                </a:solidFill>
                <a:latin typeface="Arial"/>
              </a:rPr>
              <a:t>"A client asks how big Siemens Healthineers' patent portfolio is. You run a name search. You get 200 rows. Which one is the answer?"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4290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BE0F05"/>
                </a:solidFill>
                <a:latin typeface="Arial"/>
              </a:rPr>
              <a:t>Why the obvious answer fails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3986784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840480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None of them. PATSTAT does not know companies — it knows names, as typed on each application.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4553712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407408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One entry per spelling, per country, per subsidiary, per typo. There is no record to look up.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5120640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974336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Take the biggest row and you have undercounted the group — as a clean, confident-looking number.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4_patstat_explorer/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A — SKILLS · MODULE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Working through · ~28 min in the 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Arial"/>
              </a:rPr>
              <a:t>PATSTAT Explorer</a:t>
            </a:r>
          </a:p>
        </p:txBody>
      </p:sp>
      <p:pic>
        <p:nvPicPr>
          <p:cNvPr id="5" name="Picture 4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491116"/>
            <a:ext cx="6400800" cy="247012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35240" y="173736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78308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71907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Find the names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up to 200 spellings, none of them the answer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6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306324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10896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04495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Decide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which belong together — the step no query can do for you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7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438912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443484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37083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Count families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not applications — a number below the naive sum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4_patstat_explorer/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A — SKILLS · MODULE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1A1A1A"/>
                </a:solidFill>
                <a:latin typeface="Arial"/>
              </a:rPr>
              <a:t>What now exists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One consolidated applicant group — a named list of spellings you decided belong together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624328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The group's family count, filing offices and technology profile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65576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A written note of what your consolidation missed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43984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E0F05"/>
                </a:solidFill>
                <a:latin typeface="Arial"/>
              </a:rPr>
              <a:t>The one sentence to remember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855464"/>
            <a:ext cx="10637215" cy="1051560"/>
          </a:xfrm>
          <a:prstGeom prst="roundRect">
            <a:avLst>
              <a:gd name="adj" fmla="val 5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BE0F05"/>
                </a:solidFill>
                <a:latin typeface="Arial"/>
              </a:rPr>
              <a:t>Consolidation is a judgement, not a lookup. What makes the number defensible is that you wrote the decision down.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4_patstat_explorer/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B — APPLICATIONS · MODULE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Arial"/>
              </a:rPr>
              <a:t>Module 5 — Regional Lead Generation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10637215" cy="13716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 tIns="182880" bIns="18288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 i="1">
                <a:solidFill>
                  <a:srgbClr val="BE0F05"/>
                </a:solidFill>
                <a:latin typeface="Arial"/>
              </a:rPr>
              <a:t>"Your PATLIB is asked to justify its outreach budget. Which companies in your region should you actually be talking to — and why those?"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4290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BE0F05"/>
                </a:solidFill>
                <a:latin typeface="Arial"/>
              </a:rPr>
              <a:t>Why the obvious answer fails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3986784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840480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Every PATLIB has a contact list. Almost none can say how it was built.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4553712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407408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Who walked in, who came to the last event, who somebody remembered.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5120640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974336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The question a ranked list has to survive is not 'who is on it' but 'who is missing'.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5_lead_generation/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B — APPLICATIONS · MODULE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Working through · ~28 min in the 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Arial"/>
              </a:rPr>
              <a:t>Regional Lead Generation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6400800" cy="3977639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25000"/>
              </a:lnSpc>
              <a:spcAft>
                <a:spcPts val="1000"/>
              </a:spcAft>
            </a:pPr>
            <a:r>
              <a:rPr sz="1100" b="1" i="0">
                <a:solidFill>
                  <a:srgbClr val="94A3B8"/>
                </a:solidFill>
                <a:latin typeface="Arial"/>
              </a:rPr>
              <a:t>SCREENSHOT</a:t>
            </a:r>
          </a:p>
          <a:p>
            <a:pPr algn="ctr">
              <a:lnSpc>
                <a:spcPct val="125000"/>
              </a:lnSpc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The lead-tier grid and the named shortlist for Alsace</a:t>
            </a:r>
          </a:p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5_lead_generation/1_regional-leads.ipynb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NEEDS A TIP RUN — notebook ships with cleared outputs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173736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78308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71907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Get the NUTS codes right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both vintages — one alone loses a third of the data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7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306324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10896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04495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Two axes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portfolio depth × geographic reach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11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438912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443484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37083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Segment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the grid, and the named shortlist you act on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6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5_lead_generation/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B — APPLICATIONS · MODULE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1A1A1A"/>
                </a:solidFill>
                <a:latin typeface="Arial"/>
              </a:rPr>
              <a:t>What now exists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A named shortlist of companies in your region — family count, depth tier, reach tier, zones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624328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The grid showing how your region distributes across the tiers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65576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One defensible sentence about what the list does not contain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43984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E0F05"/>
                </a:solidFill>
                <a:latin typeface="Arial"/>
              </a:rPr>
              <a:t>The one sentence to remember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855464"/>
            <a:ext cx="10637215" cy="1051560"/>
          </a:xfrm>
          <a:prstGeom prst="roundRect">
            <a:avLst>
              <a:gd name="adj" fmla="val 5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BE0F05"/>
                </a:solidFill>
                <a:latin typeface="Arial"/>
              </a:rPr>
              <a:t>This is the EP/PCT-active subset of your region. Roughly 70% of national families never take that route — say so under the 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5_lead_generation/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B — APPLICATIONS · MODULE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Landscape analyses after Riccardo Priore, Centro PATLIB, AREA Science 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Arial"/>
              </a:rPr>
              <a:t>Module 6 — Patent Landscape Reports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37215" cy="13716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 tIns="182880" bIns="18288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 i="1">
                <a:solidFill>
                  <a:srgbClr val="BE0F05"/>
                </a:solidFill>
                <a:latin typeface="Arial"/>
              </a:rPr>
              <a:t>"A regional cluster manager asks for a picture of what is happening in antibiotic resistance. Where do you start?"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BE0F05"/>
                </a:solidFill>
                <a:latin typeface="Arial"/>
              </a:rPr>
              <a:t>Why the obvious answer fails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3986784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3840480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"drug resistance" is dominated by cancer — an oncology landscape wearing the wrong label.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4553712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4407408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Bare acronyms — MRSA, VRE, ESBL — are noisy and appear where the subject is not.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5120640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4974336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Neither is visible in the result: a large corpus, looking healthy, about something else.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6_patentreports/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B — APPLICATIONS · MODULE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Working through · ~28 min in the 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Arial"/>
              </a:rPr>
              <a:t>Patent Landscape Reports</a:t>
            </a:r>
          </a:p>
        </p:txBody>
      </p:sp>
      <p:pic>
        <p:nvPicPr>
          <p:cNvPr id="5" name="Picture 4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546396"/>
            <a:ext cx="6400800" cy="235956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35240" y="173736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78308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71907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Define the corpus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keywords AND (IPC OR CPC) — recall from one half, precision from the other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10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306324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10896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04495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Run the battery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13 charts: who, where, when, how it connects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14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438912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443484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37083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Assemble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one self-contained HTML report + one workbook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4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6_patentreports/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B — APPLICATIONS · MODULE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1A1A1A"/>
                </a:solidFill>
                <a:latin typeface="Arial"/>
              </a:rPr>
              <a:t>What now exists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One self-contained HTML report, 13 charts, no internet needed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624328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One workbook carrying the data behind every chart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65576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A written search strategy — including its exclusions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43984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E0F05"/>
                </a:solidFill>
                <a:latin typeface="Arial"/>
              </a:rPr>
              <a:t>The one sentence to remember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855464"/>
            <a:ext cx="10637215" cy="1051560"/>
          </a:xfrm>
          <a:prstGeom prst="roundRect">
            <a:avLst>
              <a:gd name="adj" fmla="val 5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BE0F05"/>
                </a:solidFill>
                <a:latin typeface="Arial"/>
              </a:rPr>
              <a:t>The analyses are generic. The corpus definition is the part that is yours, and the part you have to defend.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6_patentreports/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B — APPLICATIONS · MODULE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IPScore is an EPO tool; this is the course's own implementation of the 3.01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Arial"/>
              </a:rPr>
              <a:t>Module 8 — What is this patent worth?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37215" cy="13716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 tIns="182880" bIns="18288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 i="1">
                <a:solidFill>
                  <a:srgbClr val="BE0F05"/>
                </a:solidFill>
                <a:latin typeface="Arial"/>
              </a:rPr>
              <a:t>"A client puts a granted European patent on the table and asks what it is worth."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BE0F05"/>
                </a:solidFill>
                <a:latin typeface="Arial"/>
              </a:rPr>
              <a:t>Why the obvious answer fails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3986784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3840480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Renewal costs, comparable licence rates, "it depends" — or that the question is unanswerable.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4553712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4407408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IPScore answers it: 40 questions, seven figures from the accounts, a ten-year discounted cash flow.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5120640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4974336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And then: all 40 answers come from a person. The engine is exact; its inputs are opinions.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8_ipscore_rebuild/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B — APPLICATIONS · MODULE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Working through · ~28 min in the 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Arial"/>
              </a:rPr>
              <a:t>What is this patent worth?</a:t>
            </a:r>
          </a:p>
        </p:txBody>
      </p:sp>
      <p:pic>
        <p:nvPicPr>
          <p:cNvPr id="5" name="Picture 4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67464"/>
            <a:ext cx="6400800" cy="271743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35240" y="173736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78308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71907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The model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40 questions — and only 8 of them touch the money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19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306324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10896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04495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The finished report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NPV 1,248,870 EUR · 139/200 points · 2 measured, 6 informed, 32 judgement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6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438912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443484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37083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The lever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widest ≠ worth pulling: C3 has an upside of exactly zero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8_ipscore_rebuild/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B — APPLICATIONS · MODULE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1A1A1A"/>
                </a:solidFill>
                <a:latin typeface="Arial"/>
              </a:rPr>
              <a:t>What now exists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A verified implementation of the EPO IPScore model, seen from the inside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624328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One completed valuation of a real patent — NPV and profile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65576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A statement of how much of that number is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43984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E0F05"/>
                </a:solidFill>
                <a:latin typeface="Arial"/>
              </a:rPr>
              <a:t>The one sentence to remember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855464"/>
            <a:ext cx="10637215" cy="1051560"/>
          </a:xfrm>
          <a:prstGeom prst="roundRect">
            <a:avLst>
              <a:gd name="adj" fmla="val 5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BE0F05"/>
                </a:solidFill>
                <a:latin typeface="Arial"/>
              </a:rPr>
              <a:t>None of the 11 questions PATSTAT can check is one of the 8 that carry money. What a database can check and what a valuation depends on barely overlap.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8_ipscore_rebuild/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1A1A1A"/>
                </a:solidFill>
                <a:latin typeface="Arial"/>
              </a:rPr>
              <a:t>What a participant leaves with</a:t>
            </a:r>
          </a:p>
        </p:txBody>
      </p:sp>
      <p:sp>
        <p:nvSpPr>
          <p:cNvPr id="4" name="Oval 3"/>
          <p:cNvSpPr/>
          <p:nvPr/>
        </p:nvSpPr>
        <p:spPr>
          <a:xfrm>
            <a:off x="777240" y="2194560"/>
            <a:ext cx="109728" cy="109728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" y="2011680"/>
            <a:ext cx="102531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Three skills: work on TIP · ask PATSTAT · find the right people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3063240"/>
            <a:ext cx="109728" cy="109728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61288" y="2880360"/>
            <a:ext cx="102531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Three applications: a regional lead list · a landscape report · a patent valuation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3931920"/>
            <a:ext cx="109728" cy="109728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61288" y="3749040"/>
            <a:ext cx="102531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And, in every one of them, the line between evidence and judgement — drawn out loud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37760"/>
            <a:ext cx="10637215" cy="1005840"/>
          </a:xfrm>
          <a:prstGeom prst="roundRect">
            <a:avLst>
              <a:gd name="adj" fmla="val 5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/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1" i="0">
                <a:solidFill>
                  <a:srgbClr val="BE0F05"/>
                </a:solidFill>
                <a:latin typeface="Arial"/>
              </a:rPr>
              <a:t>Seven A4 handouts, one per module, in 9_documentation/course/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Arial"/>
              </a:rPr>
              <a:t>github.com/mtcberlin/epo-tip4patlibs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Arne Krüger · mtc.berlin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