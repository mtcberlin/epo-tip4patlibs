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1371600"/>
          </a:xfrm>
          <a:prstGeom prst="rect">
            <a:avLst/>
          </a:prstGeom>
          <a:noFill/>
        </p:spPr>
        <p:txBody>
          <a:bodyPr wrap="square" anchor="t" lIns="0" rIns="0" tIns="0" bIns="0">
            <a:spAutoFit/>
          </a:bodyPr>
          <a:lstStyle/>
          <a:p>
            <a:pPr algn="l">
              <a:lnSpc>
                <a:spcPct val="100000"/>
              </a:lnSpc>
              <a:spcAft>
                <a:spcPts val="400"/>
              </a:spcAft>
            </a:pPr>
            <a:r>
              <a:rPr sz="4200" b="1" i="0">
                <a:solidFill>
                  <a:srgbClr val="BE0F05"/>
                </a:solidFill>
                <a:latin typeface="Arial"/>
              </a:rPr>
              <a:t>TIP4PATLIBS</a:t>
            </a:r>
          </a:p>
          <a:p>
            <a:pPr algn="l">
              <a:lnSpc>
                <a:spcPct val="125000"/>
              </a:lnSpc>
              <a:spcAft>
                <a:spcPts val="200"/>
              </a:spcAft>
            </a:pPr>
            <a:r>
              <a:rPr sz="1600" b="0" i="0">
                <a:solidFill>
                  <a:srgbClr val="1A1A1A"/>
                </a:solidFill>
                <a:latin typeface="Arial"/>
              </a:rPr>
              <a:t>Install an assistant. Then ask better questions.</a:t>
            </a:r>
          </a:p>
          <a:p>
            <a:pPr algn="l">
              <a:lnSpc>
                <a:spcPct val="125000"/>
              </a:lnSpc>
              <a:spcAft>
                <a:spcPts val="600"/>
              </a:spcAft>
            </a:pPr>
            <a:r>
              <a:rPr sz="1200" b="0" i="0">
                <a:solidFill>
                  <a:srgbClr val="64748B"/>
                </a:solidFill>
                <a:latin typeface="Arial"/>
              </a:rPr>
              <a:t>PATLIB Workshop · Warsaw · 18 September 2026   ·   Arne Krüger · mtc.berlin  ·  Riccardo Priore · AREA Science Park</a:t>
            </a:r>
          </a:p>
        </p:txBody>
      </p:sp>
      <p:sp>
        <p:nvSpPr>
          <p:cNvPr id="4" name="Rounded Rectangle 3"/>
          <p:cNvSpPr/>
          <p:nvPr/>
        </p:nvSpPr>
        <p:spPr>
          <a:xfrm>
            <a:off x="777240" y="2057400"/>
            <a:ext cx="10637215" cy="105156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46304" bIns="146304"/>
          <a:lstStyle/>
          <a:p>
            <a:pPr algn="l">
              <a:lnSpc>
                <a:spcPct val="130000"/>
              </a:lnSpc>
              <a:spcAft>
                <a:spcPts val="0"/>
              </a:spcAft>
            </a:pPr>
            <a:r>
              <a:rPr sz="1300" b="0" i="1">
                <a:solidFill>
                  <a:srgbClr val="1A1A1A"/>
                </a:solidFill>
                <a:latin typeface="Arial"/>
              </a:rPr>
              <a:t>You do not have to learn SQL. You have to install something that writes it — and then decide what to ask. Everything in this session is evidence for that one sentence.</a:t>
            </a:r>
          </a:p>
        </p:txBody>
      </p:sp>
      <p:sp>
        <p:nvSpPr>
          <p:cNvPr id="5" name="Rounded Rectangle 4"/>
          <p:cNvSpPr/>
          <p:nvPr/>
        </p:nvSpPr>
        <p:spPr>
          <a:xfrm>
            <a:off x="777240" y="3310128"/>
            <a:ext cx="4206240" cy="2926080"/>
          </a:xfrm>
          <a:prstGeom prst="roundRect">
            <a:avLst>
              <a:gd name="adj" fmla="val 3000"/>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3438144"/>
            <a:ext cx="4206240" cy="237744"/>
          </a:xfrm>
          <a:prstGeom prst="rect">
            <a:avLst/>
          </a:prstGeom>
          <a:noFill/>
        </p:spPr>
        <p:txBody>
          <a:bodyPr wrap="square" anchor="t" lIns="0" rIns="0" tIns="0" bIns="0">
            <a:spAutoFit/>
          </a:bodyPr>
          <a:lstStyle/>
          <a:p>
            <a:pPr algn="ctr">
              <a:lnSpc>
                <a:spcPct val="125000"/>
              </a:lnSpc>
              <a:spcAft>
                <a:spcPts val="0"/>
              </a:spcAft>
            </a:pPr>
            <a:r>
              <a:rPr sz="1000" b="1" i="0">
                <a:solidFill>
                  <a:srgbClr val="BE0F05"/>
                </a:solidFill>
                <a:latin typeface="Arial"/>
              </a:rPr>
              <a:t>THE CLAIM</a:t>
            </a:r>
          </a:p>
        </p:txBody>
      </p:sp>
      <p:sp>
        <p:nvSpPr>
          <p:cNvPr id="7" name="Rounded Rectangle 6"/>
          <p:cNvSpPr/>
          <p:nvPr/>
        </p:nvSpPr>
        <p:spPr>
          <a:xfrm>
            <a:off x="978408" y="4599432"/>
            <a:ext cx="3803904" cy="694944"/>
          </a:xfrm>
          <a:prstGeom prst="roundRect">
            <a:avLst>
              <a:gd name="adj" fmla="val 12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61288" y="4700016"/>
            <a:ext cx="3438144" cy="548640"/>
          </a:xfrm>
          <a:prstGeom prst="rect">
            <a:avLst/>
          </a:prstGeom>
          <a:noFill/>
        </p:spPr>
        <p:txBody>
          <a:bodyPr wrap="square" anchor="t" lIns="0" rIns="0" tIns="0" bIns="0">
            <a:spAutoFit/>
          </a:bodyPr>
          <a:lstStyle/>
          <a:p>
            <a:pPr algn="l">
              <a:lnSpc>
                <a:spcPct val="125000"/>
              </a:lnSpc>
              <a:spcAft>
                <a:spcPts val="100"/>
              </a:spcAft>
            </a:pPr>
            <a:r>
              <a:rPr sz="1300" b="1" i="0">
                <a:solidFill>
                  <a:srgbClr val="1A1A1A"/>
                </a:solidFill>
                <a:latin typeface="Arial"/>
              </a:rPr>
              <a:t>Install the assistant, persistently</a:t>
            </a:r>
          </a:p>
          <a:p>
            <a:pPr algn="l">
              <a:lnSpc>
                <a:spcPct val="125000"/>
              </a:lnSpc>
              <a:spcAft>
                <a:spcPts val="0"/>
              </a:spcAft>
            </a:pPr>
            <a:r>
              <a:rPr sz="1000" b="0" i="0">
                <a:solidFill>
                  <a:srgbClr val="64748B"/>
                </a:solidFill>
                <a:latin typeface="Arial"/>
              </a:rPr>
              <a:t>it writes the SQL and the notebooks — you decide what to ask</a:t>
            </a:r>
          </a:p>
        </p:txBody>
      </p:sp>
      <p:sp>
        <p:nvSpPr>
          <p:cNvPr id="9" name="Rounded Rectangle 8"/>
          <p:cNvSpPr/>
          <p:nvPr/>
        </p:nvSpPr>
        <p:spPr>
          <a:xfrm>
            <a:off x="6720840" y="3310128"/>
            <a:ext cx="4206240" cy="2926080"/>
          </a:xfrm>
          <a:prstGeom prst="roundRect">
            <a:avLst>
              <a:gd name="adj" fmla="val 3000"/>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720840" y="3438144"/>
            <a:ext cx="4206240" cy="237744"/>
          </a:xfrm>
          <a:prstGeom prst="rect">
            <a:avLst/>
          </a:prstGeom>
          <a:noFill/>
        </p:spPr>
        <p:txBody>
          <a:bodyPr wrap="square" anchor="t" lIns="0" rIns="0" tIns="0" bIns="0">
            <a:spAutoFit/>
          </a:bodyPr>
          <a:lstStyle/>
          <a:p>
            <a:pPr algn="ctr">
              <a:lnSpc>
                <a:spcPct val="125000"/>
              </a:lnSpc>
              <a:spcAft>
                <a:spcPts val="0"/>
              </a:spcAft>
            </a:pPr>
            <a:r>
              <a:rPr sz="1000" b="1" i="0">
                <a:solidFill>
                  <a:srgbClr val="BE0F05"/>
                </a:solidFill>
                <a:latin typeface="Arial"/>
              </a:rPr>
              <a:t>THREE EXAMPLES, RISING</a:t>
            </a:r>
          </a:p>
        </p:txBody>
      </p:sp>
      <p:sp>
        <p:nvSpPr>
          <p:cNvPr id="11" name="Rounded Rectangle 10"/>
          <p:cNvSpPr/>
          <p:nvPr/>
        </p:nvSpPr>
        <p:spPr>
          <a:xfrm>
            <a:off x="6922008" y="3767328"/>
            <a:ext cx="3803904" cy="694944"/>
          </a:xfrm>
          <a:prstGeom prst="roundRect">
            <a:avLst>
              <a:gd name="adj" fmla="val 12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104888" y="3867912"/>
            <a:ext cx="3438144" cy="548640"/>
          </a:xfrm>
          <a:prstGeom prst="rect">
            <a:avLst/>
          </a:prstGeom>
          <a:noFill/>
        </p:spPr>
        <p:txBody>
          <a:bodyPr wrap="square" anchor="t" lIns="0" rIns="0" tIns="0" bIns="0">
            <a:spAutoFit/>
          </a:bodyPr>
          <a:lstStyle/>
          <a:p>
            <a:pPr algn="l">
              <a:lnSpc>
                <a:spcPct val="125000"/>
              </a:lnSpc>
              <a:spcAft>
                <a:spcPts val="100"/>
              </a:spcAft>
            </a:pPr>
            <a:r>
              <a:rPr sz="1300" b="1" i="0">
                <a:solidFill>
                  <a:srgbClr val="1A1A1A"/>
                </a:solidFill>
                <a:latin typeface="Arial"/>
              </a:rPr>
              <a:t>1   A question already asked</a:t>
            </a:r>
          </a:p>
          <a:p>
            <a:pPr algn="l">
              <a:lnSpc>
                <a:spcPct val="125000"/>
              </a:lnSpc>
              <a:spcAft>
                <a:spcPts val="0"/>
              </a:spcAft>
            </a:pPr>
            <a:r>
              <a:rPr sz="1000" b="0" i="0">
                <a:solidFill>
                  <a:srgbClr val="64748B"/>
                </a:solidFill>
                <a:latin typeface="Arial"/>
              </a:rPr>
              <a:t>the query library</a:t>
            </a:r>
          </a:p>
        </p:txBody>
      </p:sp>
      <p:sp>
        <p:nvSpPr>
          <p:cNvPr id="13" name="Rounded Rectangle 12"/>
          <p:cNvSpPr/>
          <p:nvPr/>
        </p:nvSpPr>
        <p:spPr>
          <a:xfrm>
            <a:off x="6922008" y="4599432"/>
            <a:ext cx="3803904" cy="694944"/>
          </a:xfrm>
          <a:prstGeom prst="roundRect">
            <a:avLst>
              <a:gd name="adj" fmla="val 12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104888" y="4700016"/>
            <a:ext cx="3438144" cy="548640"/>
          </a:xfrm>
          <a:prstGeom prst="rect">
            <a:avLst/>
          </a:prstGeom>
          <a:noFill/>
        </p:spPr>
        <p:txBody>
          <a:bodyPr wrap="square" anchor="t" lIns="0" rIns="0" tIns="0" bIns="0">
            <a:spAutoFit/>
          </a:bodyPr>
          <a:lstStyle/>
          <a:p>
            <a:pPr algn="l">
              <a:lnSpc>
                <a:spcPct val="125000"/>
              </a:lnSpc>
              <a:spcAft>
                <a:spcPts val="100"/>
              </a:spcAft>
            </a:pPr>
            <a:r>
              <a:rPr sz="1300" b="1" i="0">
                <a:solidFill>
                  <a:srgbClr val="1A1A1A"/>
                </a:solidFill>
                <a:latin typeface="Arial"/>
              </a:rPr>
              <a:t>2   The same query, as an app</a:t>
            </a:r>
          </a:p>
          <a:p>
            <a:pPr algn="l">
              <a:lnSpc>
                <a:spcPct val="125000"/>
              </a:lnSpc>
              <a:spcAft>
                <a:spcPts val="0"/>
              </a:spcAft>
            </a:pPr>
            <a:r>
              <a:rPr sz="1000" b="0" i="0">
                <a:solidFill>
                  <a:srgbClr val="64748B"/>
                </a:solidFill>
                <a:latin typeface="Arial"/>
              </a:rPr>
              <a:t>PATSTAT Explorer</a:t>
            </a:r>
          </a:p>
        </p:txBody>
      </p:sp>
      <p:sp>
        <p:nvSpPr>
          <p:cNvPr id="15" name="Rounded Rectangle 14"/>
          <p:cNvSpPr/>
          <p:nvPr/>
        </p:nvSpPr>
        <p:spPr>
          <a:xfrm>
            <a:off x="6922008" y="5431536"/>
            <a:ext cx="3803904" cy="694944"/>
          </a:xfrm>
          <a:prstGeom prst="roundRect">
            <a:avLst>
              <a:gd name="adj" fmla="val 12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104888" y="5532120"/>
            <a:ext cx="3438144" cy="548640"/>
          </a:xfrm>
          <a:prstGeom prst="rect">
            <a:avLst/>
          </a:prstGeom>
          <a:noFill/>
        </p:spPr>
        <p:txBody>
          <a:bodyPr wrap="square" anchor="t" lIns="0" rIns="0" tIns="0" bIns="0">
            <a:spAutoFit/>
          </a:bodyPr>
          <a:lstStyle/>
          <a:p>
            <a:pPr algn="l">
              <a:lnSpc>
                <a:spcPct val="125000"/>
              </a:lnSpc>
              <a:spcAft>
                <a:spcPts val="100"/>
              </a:spcAft>
            </a:pPr>
            <a:r>
              <a:rPr sz="1300" b="1" i="0">
                <a:solidFill>
                  <a:srgbClr val="1A1A1A"/>
                </a:solidFill>
                <a:latin typeface="Arial"/>
              </a:rPr>
              <a:t>3   Your region, your client list</a:t>
            </a:r>
          </a:p>
          <a:p>
            <a:pPr algn="l">
              <a:lnSpc>
                <a:spcPct val="125000"/>
              </a:lnSpc>
              <a:spcAft>
                <a:spcPts val="0"/>
              </a:spcAft>
            </a:pPr>
            <a:r>
              <a:rPr sz="1000" b="0" i="0">
                <a:solidFill>
                  <a:srgbClr val="64748B"/>
                </a:solidFill>
                <a:latin typeface="Arial"/>
              </a:rPr>
              <a:t>regional leads — FR and DE</a:t>
            </a:r>
          </a:p>
        </p:txBody>
      </p:sp>
      <p:sp>
        <p:nvSpPr>
          <p:cNvPr id="17" name="Right Arrow 16"/>
          <p:cNvSpPr/>
          <p:nvPr/>
        </p:nvSpPr>
        <p:spPr>
          <a:xfrm>
            <a:off x="5303520" y="4626864"/>
            <a:ext cx="1097280" cy="292608"/>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3904488"/>
            <a:ext cx="1554480" cy="640080"/>
          </a:xfrm>
          <a:prstGeom prst="rect">
            <a:avLst/>
          </a:prstGeom>
          <a:noFill/>
        </p:spPr>
        <p:txBody>
          <a:bodyPr wrap="square" anchor="t" lIns="0" rIns="0" tIns="0" bIns="0">
            <a:spAutoFit/>
          </a:bodyPr>
          <a:lstStyle/>
          <a:p>
            <a:pPr algn="ctr">
              <a:lnSpc>
                <a:spcPct val="125000"/>
              </a:lnSpc>
              <a:spcAft>
                <a:spcPts val="0"/>
              </a:spcAft>
            </a:pPr>
            <a:r>
              <a:rPr sz="900" b="0" i="0">
                <a:solidFill>
                  <a:srgbClr val="64748B"/>
                </a:solidFill>
                <a:latin typeface="Arial"/>
              </a:rPr>
              <a:t>then, three
times over</a:t>
            </a:r>
          </a:p>
        </p:txBody>
      </p:sp>
      <p:sp>
        <p:nvSpPr>
          <p:cNvPr id="19" name="TextBox 18"/>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Riccardo Priore adds two use cases of his own — 2 × 10 min</a:t>
            </a:r>
          </a:p>
        </p:txBody>
      </p:sp>
      <p:sp>
        <p:nvSpPr>
          <p:cNvPr id="20" name="TextBox 19"/>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ARNE — THE CLAIM, THEN THE LADDER · MODULE 1</a:t>
            </a:r>
          </a:p>
        </p:txBody>
      </p:sp>
      <p:sp>
        <p:nvSpPr>
          <p:cNvPr id="3" name="TextBox 2"/>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3000" b="1" i="0">
                <a:solidFill>
                  <a:srgbClr val="1A1A1A"/>
                </a:solidFill>
                <a:latin typeface="Arial"/>
              </a:rPr>
              <a:t>Module 1 — Install the assistant, persistently</a:t>
            </a:r>
          </a:p>
        </p:txBody>
      </p:sp>
      <p:sp>
        <p:nvSpPr>
          <p:cNvPr id="4" name="Rounded Rectangle 3"/>
          <p:cNvSpPr/>
          <p:nvPr/>
        </p:nvSpPr>
        <p:spPr>
          <a:xfrm>
            <a:off x="777240" y="1783080"/>
            <a:ext cx="10637215" cy="13716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182880" bIns="182880"/>
          <a:lstStyle/>
          <a:p>
            <a:pPr algn="l">
              <a:lnSpc>
                <a:spcPct val="125000"/>
              </a:lnSpc>
              <a:spcAft>
                <a:spcPts val="0"/>
              </a:spcAft>
            </a:pPr>
            <a:r>
              <a:rPr sz="1800" b="0" i="1">
                <a:solidFill>
                  <a:srgbClr val="BE0F05"/>
                </a:solidFill>
                <a:latin typeface="Arial"/>
              </a:rPr>
              <a:t>"You have a login to a machine you do not own, which is rebuilt without warning, and which holds the largest patent database in the world. How do you get an assistant onto it that is still there on Monday?"</a:t>
            </a:r>
          </a:p>
        </p:txBody>
      </p:sp>
      <p:sp>
        <p:nvSpPr>
          <p:cNvPr id="5" name="TextBox 4"/>
          <p:cNvSpPr txBox="1"/>
          <p:nvPr/>
        </p:nvSpPr>
        <p:spPr>
          <a:xfrm>
            <a:off x="777240" y="3429000"/>
            <a:ext cx="10637215" cy="274320"/>
          </a:xfrm>
          <a:prstGeom prst="rect">
            <a:avLst/>
          </a:prstGeom>
          <a:noFill/>
        </p:spPr>
        <p:txBody>
          <a:bodyPr wrap="square" anchor="t" lIns="0" rIns="0" tIns="0" bIns="0">
            <a:spAutoFit/>
          </a:bodyPr>
          <a:lstStyle/>
          <a:p>
            <a:pPr algn="l">
              <a:lnSpc>
                <a:spcPct val="125000"/>
              </a:lnSpc>
              <a:spcAft>
                <a:spcPts val="0"/>
              </a:spcAft>
            </a:pPr>
            <a:r>
              <a:rPr sz="1300" b="1" i="0">
                <a:solidFill>
                  <a:srgbClr val="BE0F05"/>
                </a:solidFill>
                <a:latin typeface="Arial"/>
              </a:rPr>
              <a:t>Why the obvious answer fails</a:t>
            </a:r>
          </a:p>
        </p:txBody>
      </p:sp>
      <p:sp>
        <p:nvSpPr>
          <p:cNvPr id="6" name="Oval 5"/>
          <p:cNvSpPr/>
          <p:nvPr/>
        </p:nvSpPr>
        <p:spPr>
          <a:xfrm>
            <a:off x="777240" y="398678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06424" y="3840480"/>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"I will just install it." The naive install is gone by Monday — nothing was deleted, it was overwritten.</a:t>
            </a:r>
          </a:p>
        </p:txBody>
      </p:sp>
      <p:sp>
        <p:nvSpPr>
          <p:cNvPr id="8" name="Oval 7"/>
          <p:cNvSpPr/>
          <p:nvPr/>
        </p:nvSpPr>
        <p:spPr>
          <a:xfrm>
            <a:off x="777240" y="455371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106424" y="4407408"/>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"Then I will learn SQL instead." That was the barrier for twenty years. It is the part that just stopped being hard.</a:t>
            </a:r>
          </a:p>
        </p:txBody>
      </p:sp>
      <p:sp>
        <p:nvSpPr>
          <p:cNvPr id="10" name="Oval 9"/>
          <p:cNvSpPr/>
          <p:nvPr/>
        </p:nvSpPr>
        <p:spPr>
          <a:xfrm>
            <a:off x="777240" y="5120640"/>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106424" y="4974336"/>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"The assistant will get it wrong." Sometimes. Which is why the SQL it wrote stays on the screen, and you read it.</a:t>
            </a:r>
          </a:p>
        </p:txBody>
      </p:sp>
      <p:sp>
        <p:nvSpPr>
          <p:cNvPr id="12" name="TextBox 11"/>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1_startwithtip/</a:t>
            </a:r>
          </a:p>
        </p:txBody>
      </p:sp>
      <p:sp>
        <p:nvSpPr>
          <p:cNvPr id="13" name="TextBox 12"/>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ARNE — THE CLAIM, THEN THE LADDER · MODULE 1</a:t>
            </a:r>
          </a:p>
        </p:txBody>
      </p:sp>
      <p:sp>
        <p:nvSpPr>
          <p:cNvPr id="3" name="TextBox 2"/>
          <p:cNvSpPr txBox="1"/>
          <p:nvPr/>
        </p:nvSpPr>
        <p:spPr>
          <a:xfrm>
            <a:off x="7299655" y="457200"/>
            <a:ext cx="411480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The claim · 15 min</a:t>
            </a:r>
          </a:p>
        </p:txBody>
      </p:sp>
      <p:sp>
        <p:nvSpPr>
          <p:cNvPr id="4" name="TextBox 3"/>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2600" b="1" i="0">
                <a:solidFill>
                  <a:srgbClr val="1A1A1A"/>
                </a:solidFill>
                <a:latin typeface="Arial"/>
              </a:rPr>
              <a:t>Install the assistant, persistently</a:t>
            </a:r>
          </a:p>
        </p:txBody>
      </p:sp>
      <p:sp>
        <p:nvSpPr>
          <p:cNvPr id="5" name="Rounded Rectangle 4"/>
          <p:cNvSpPr/>
          <p:nvPr/>
        </p:nvSpPr>
        <p:spPr>
          <a:xfrm>
            <a:off x="777240" y="1737360"/>
            <a:ext cx="6400800" cy="3977639"/>
          </a:xfrm>
          <a:prstGeom prst="roundRect">
            <a:avLst>
              <a:gd name="adj" fmla="val 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lnSpc>
                <a:spcPct val="125000"/>
              </a:lnSpc>
              <a:spcAft>
                <a:spcPts val="1000"/>
              </a:spcAft>
            </a:pPr>
            <a:r>
              <a:rPr sz="1100" b="1" i="0">
                <a:solidFill>
                  <a:srgbClr val="94A3B8"/>
                </a:solidFill>
                <a:latin typeface="Arial"/>
              </a:rPr>
              <a:t>SCREENSHOT</a:t>
            </a:r>
          </a:p>
          <a:p>
            <a:pPr algn="ctr">
              <a:lnSpc>
                <a:spcPct val="125000"/>
              </a:lnSpc>
              <a:spcAft>
                <a:spcPts val="1000"/>
              </a:spcAft>
            </a:pPr>
            <a:r>
              <a:rPr sz="1500" b="0" i="0">
                <a:solidFill>
                  <a:srgbClr val="1A1A1A"/>
                </a:solidFill>
                <a:latin typeface="Arial"/>
              </a:rPr>
              <a:t>Claude Code running in the TIP terminal — a plain-language question, the SQL it wrote, the result</a:t>
            </a:r>
          </a:p>
          <a:p>
            <a:pPr algn="ctr">
              <a:lnSpc>
                <a:spcPct val="125000"/>
              </a:lnSpc>
              <a:spcAft>
                <a:spcPts val="800"/>
              </a:spcAft>
            </a:pPr>
            <a:r>
              <a:rPr sz="1000" b="0" i="0">
                <a:solidFill>
                  <a:srgbClr val="64748B"/>
                </a:solidFill>
                <a:latin typeface="Arial"/>
              </a:rPr>
              <a:t>1_startwithtip/1_getting-started-with-tip.ipynb</a:t>
            </a:r>
          </a:p>
          <a:p>
            <a:pPr algn="ctr">
              <a:lnSpc>
                <a:spcPct val="125000"/>
              </a:lnSpc>
              <a:spcAft>
                <a:spcPts val="0"/>
              </a:spcAft>
            </a:pPr>
            <a:r>
              <a:rPr sz="1000" b="1" i="0">
                <a:solidFill>
                  <a:srgbClr val="BE0F05"/>
                </a:solidFill>
                <a:latin typeface="Arial"/>
              </a:rPr>
              <a:t>NEEDS A TIP RUN — notebook ships with cleared outputs</a:t>
            </a:r>
          </a:p>
        </p:txBody>
      </p:sp>
      <p:sp>
        <p:nvSpPr>
          <p:cNvPr id="6" name="Rounded Rectangle 5"/>
          <p:cNvSpPr/>
          <p:nvPr/>
        </p:nvSpPr>
        <p:spPr>
          <a:xfrm>
            <a:off x="7635240" y="173736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35240" y="178308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1</a:t>
            </a:r>
          </a:p>
        </p:txBody>
      </p:sp>
      <p:sp>
        <p:nvSpPr>
          <p:cNvPr id="8" name="TextBox 7"/>
          <p:cNvSpPr txBox="1"/>
          <p:nvPr/>
        </p:nvSpPr>
        <p:spPr>
          <a:xfrm>
            <a:off x="8092440" y="171907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Where your work survives</a:t>
            </a:r>
          </a:p>
          <a:p>
            <a:pPr algn="l">
              <a:lnSpc>
                <a:spcPct val="120000"/>
              </a:lnSpc>
              <a:spcAft>
                <a:spcPts val="300"/>
              </a:spcAft>
            </a:pPr>
            <a:r>
              <a:rPr sz="1100" b="0" i="0">
                <a:solidFill>
                  <a:srgbClr val="64748B"/>
                </a:solidFill>
                <a:latin typeface="Arial"/>
              </a:rPr>
              <a:t>which directory persists, which is rebuilt on every start — and why nothing on screen tells you</a:t>
            </a:r>
          </a:p>
          <a:p>
            <a:pPr algn="l">
              <a:lnSpc>
                <a:spcPct val="125000"/>
              </a:lnSpc>
              <a:spcAft>
                <a:spcPts val="0"/>
              </a:spcAft>
            </a:pPr>
            <a:r>
              <a:rPr sz="1000" b="1" i="0">
                <a:solidFill>
                  <a:srgbClr val="BE0F05"/>
                </a:solidFill>
                <a:latin typeface="Arial"/>
              </a:rPr>
              <a:t>5 min</a:t>
            </a:r>
          </a:p>
        </p:txBody>
      </p:sp>
      <p:sp>
        <p:nvSpPr>
          <p:cNvPr id="9" name="Rounded Rectangle 8"/>
          <p:cNvSpPr/>
          <p:nvPr/>
        </p:nvSpPr>
        <p:spPr>
          <a:xfrm>
            <a:off x="7635240" y="306324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35240" y="310896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2</a:t>
            </a:r>
          </a:p>
        </p:txBody>
      </p:sp>
      <p:sp>
        <p:nvSpPr>
          <p:cNvPr id="11" name="TextBox 10"/>
          <p:cNvSpPr txBox="1"/>
          <p:nvPr/>
        </p:nvSpPr>
        <p:spPr>
          <a:xfrm>
            <a:off x="8092440" y="304495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Install it so it persists</a:t>
            </a:r>
          </a:p>
          <a:p>
            <a:pPr algn="l">
              <a:lnSpc>
                <a:spcPct val="120000"/>
              </a:lnSpc>
              <a:spcAft>
                <a:spcPts val="300"/>
              </a:spcAft>
            </a:pPr>
            <a:r>
              <a:rPr sz="1100" b="0" i="0">
                <a:solidFill>
                  <a:srgbClr val="64748B"/>
                </a:solidFill>
                <a:latin typeface="Arial"/>
              </a:rPr>
              <a:t>notebook 1, sections 6–8: the install, the settings, the status line</a:t>
            </a:r>
          </a:p>
          <a:p>
            <a:pPr algn="l">
              <a:lnSpc>
                <a:spcPct val="125000"/>
              </a:lnSpc>
              <a:spcAft>
                <a:spcPts val="0"/>
              </a:spcAft>
            </a:pPr>
            <a:r>
              <a:rPr sz="1000" b="1" i="0">
                <a:solidFill>
                  <a:srgbClr val="BE0F05"/>
                </a:solidFill>
                <a:latin typeface="Arial"/>
              </a:rPr>
              <a:t>7 min</a:t>
            </a:r>
          </a:p>
        </p:txBody>
      </p:sp>
      <p:sp>
        <p:nvSpPr>
          <p:cNvPr id="12" name="Rounded Rectangle 11"/>
          <p:cNvSpPr/>
          <p:nvPr/>
        </p:nvSpPr>
        <p:spPr>
          <a:xfrm>
            <a:off x="7635240" y="438912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635240" y="443484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3</a:t>
            </a:r>
          </a:p>
        </p:txBody>
      </p:sp>
      <p:sp>
        <p:nvSpPr>
          <p:cNvPr id="14" name="TextBox 13"/>
          <p:cNvSpPr txBox="1"/>
          <p:nvPr/>
        </p:nvSpPr>
        <p:spPr>
          <a:xfrm>
            <a:off x="8092440" y="437083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Ask it for a query</a:t>
            </a:r>
          </a:p>
          <a:p>
            <a:pPr algn="l">
              <a:lnSpc>
                <a:spcPct val="120000"/>
              </a:lnSpc>
              <a:spcAft>
                <a:spcPts val="300"/>
              </a:spcAft>
            </a:pPr>
            <a:r>
              <a:rPr sz="1100" b="0" i="0">
                <a:solidFill>
                  <a:srgbClr val="64748B"/>
                </a:solidFill>
                <a:latin typeface="Arial"/>
              </a:rPr>
              <a:t>plain language in, SQL out, result table back — and you can read every line of it</a:t>
            </a:r>
          </a:p>
          <a:p>
            <a:pPr algn="l">
              <a:lnSpc>
                <a:spcPct val="125000"/>
              </a:lnSpc>
              <a:spcAft>
                <a:spcPts val="0"/>
              </a:spcAft>
            </a:pPr>
            <a:r>
              <a:rPr sz="1000" b="1" i="0">
                <a:solidFill>
                  <a:srgbClr val="BE0F05"/>
                </a:solidFill>
                <a:latin typeface="Arial"/>
              </a:rPr>
              <a:t>3 min</a:t>
            </a:r>
          </a:p>
        </p:txBody>
      </p:sp>
      <p:sp>
        <p:nvSpPr>
          <p:cNvPr id="15" name="TextBox 14"/>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1_startwithtip/</a:t>
            </a:r>
          </a:p>
        </p:txBody>
      </p:sp>
      <p:sp>
        <p:nvSpPr>
          <p:cNvPr id="16" name="TextBox 15"/>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ARNE — THE CLAIM, THEN THE LADDER · MODULE 1</a:t>
            </a:r>
          </a:p>
        </p:txBody>
      </p:sp>
      <p:sp>
        <p:nvSpPr>
          <p:cNvPr id="3" name="TextBox 2"/>
          <p:cNvSpPr txBox="1"/>
          <p:nvPr/>
        </p:nvSpPr>
        <p:spPr>
          <a:xfrm>
            <a:off x="7299655" y="457200"/>
            <a:ext cx="411480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Outcome</a:t>
            </a:r>
          </a:p>
        </p:txBody>
      </p:sp>
      <p:sp>
        <p:nvSpPr>
          <p:cNvPr id="4" name="TextBox 3"/>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2800" b="1" i="0">
                <a:solidFill>
                  <a:srgbClr val="1A1A1A"/>
                </a:solidFill>
                <a:latin typeface="Arial"/>
              </a:rPr>
              <a:t>What now exists</a:t>
            </a:r>
          </a:p>
        </p:txBody>
      </p:sp>
      <p:sp>
        <p:nvSpPr>
          <p:cNvPr id="5" name="Rounded Rectangle 4"/>
          <p:cNvSpPr/>
          <p:nvPr/>
        </p:nvSpPr>
        <p:spPr>
          <a:xfrm>
            <a:off x="777240" y="1783080"/>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An assistant that is still installed after the machine restarts</a:t>
            </a:r>
          </a:p>
        </p:txBody>
      </p:sp>
      <p:sp>
        <p:nvSpPr>
          <p:cNvPr id="6" name="Rounded Rectangle 5"/>
          <p:cNvSpPr/>
          <p:nvPr/>
        </p:nvSpPr>
        <p:spPr>
          <a:xfrm>
            <a:off x="777240" y="2624328"/>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One query you did not write — and can read</a:t>
            </a:r>
          </a:p>
        </p:txBody>
      </p:sp>
      <p:sp>
        <p:nvSpPr>
          <p:cNvPr id="7" name="Rounded Rectangle 6"/>
          <p:cNvSpPr/>
          <p:nvPr/>
        </p:nvSpPr>
        <p:spPr>
          <a:xfrm>
            <a:off x="777240" y="3465576"/>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The setup that makes it yours, not a demonstration</a:t>
            </a:r>
          </a:p>
        </p:txBody>
      </p:sp>
      <p:sp>
        <p:nvSpPr>
          <p:cNvPr id="8" name="TextBox 7"/>
          <p:cNvSpPr txBox="1"/>
          <p:nvPr/>
        </p:nvSpPr>
        <p:spPr>
          <a:xfrm>
            <a:off x="777240" y="4443984"/>
            <a:ext cx="10637215" cy="274320"/>
          </a:xfrm>
          <a:prstGeom prst="rect">
            <a:avLst/>
          </a:prstGeom>
          <a:noFill/>
        </p:spPr>
        <p:txBody>
          <a:bodyPr wrap="square" anchor="t" lIns="0" rIns="0" tIns="0" bIns="0">
            <a:spAutoFit/>
          </a:bodyPr>
          <a:lstStyle/>
          <a:p>
            <a:pPr algn="l">
              <a:lnSpc>
                <a:spcPct val="125000"/>
              </a:lnSpc>
              <a:spcAft>
                <a:spcPts val="0"/>
              </a:spcAft>
            </a:pPr>
            <a:r>
              <a:rPr sz="1200" b="1" i="0">
                <a:solidFill>
                  <a:srgbClr val="BE0F05"/>
                </a:solidFill>
                <a:latin typeface="Arial"/>
              </a:rPr>
              <a:t>The one sentence to remember</a:t>
            </a:r>
          </a:p>
        </p:txBody>
      </p:sp>
      <p:sp>
        <p:nvSpPr>
          <p:cNvPr id="9" name="Rounded Rectangle 8"/>
          <p:cNvSpPr/>
          <p:nvPr/>
        </p:nvSpPr>
        <p:spPr>
          <a:xfrm>
            <a:off x="777240" y="4855464"/>
            <a:ext cx="10637215" cy="105156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a:lstStyle/>
          <a:p>
            <a:pPr algn="l">
              <a:lnSpc>
                <a:spcPct val="125000"/>
              </a:lnSpc>
              <a:spcAft>
                <a:spcPts val="0"/>
              </a:spcAft>
            </a:pPr>
            <a:r>
              <a:rPr sz="1600" b="1" i="0">
                <a:solidFill>
                  <a:srgbClr val="BE0F05"/>
                </a:solidFill>
                <a:latin typeface="Arial"/>
              </a:rPr>
              <a:t>The barrier was never the database. It was the SQL — and that is precisely the part you can now hand over.</a:t>
            </a:r>
          </a:p>
        </p:txBody>
      </p:sp>
      <p:sp>
        <p:nvSpPr>
          <p:cNvPr id="10" name="TextBox 9"/>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1_startwithtip/</a:t>
            </a:r>
          </a:p>
        </p:txBody>
      </p:sp>
      <p:sp>
        <p:nvSpPr>
          <p:cNvPr id="11" name="TextBox 10"/>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ARNE — THE CLAIM, THEN THE LADDER · MODULE 2</a:t>
            </a:r>
          </a:p>
        </p:txBody>
      </p:sp>
      <p:sp>
        <p:nvSpPr>
          <p:cNvPr id="3" name="TextBox 2"/>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3000" b="1" i="0">
                <a:solidFill>
                  <a:srgbClr val="1A1A1A"/>
                </a:solidFill>
                <a:latin typeface="Arial"/>
              </a:rPr>
              <a:t>Module 2 — The Query Library</a:t>
            </a:r>
          </a:p>
        </p:txBody>
      </p:sp>
      <p:sp>
        <p:nvSpPr>
          <p:cNvPr id="4" name="Rounded Rectangle 3"/>
          <p:cNvSpPr/>
          <p:nvPr/>
        </p:nvSpPr>
        <p:spPr>
          <a:xfrm>
            <a:off x="777240" y="1783080"/>
            <a:ext cx="10637215" cy="13716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182880" bIns="182880"/>
          <a:lstStyle/>
          <a:p>
            <a:pPr algn="l">
              <a:lnSpc>
                <a:spcPct val="125000"/>
              </a:lnSpc>
              <a:spcAft>
                <a:spcPts val="0"/>
              </a:spcAft>
            </a:pPr>
            <a:r>
              <a:rPr sz="1800" b="0" i="1">
                <a:solidFill>
                  <a:srgbClr val="BE0F05"/>
                </a:solidFill>
                <a:latin typeface="Arial"/>
              </a:rPr>
              <a:t>"A client walks in: "Who in Europe is working on solid-state batteries?""</a:t>
            </a:r>
          </a:p>
        </p:txBody>
      </p:sp>
      <p:sp>
        <p:nvSpPr>
          <p:cNvPr id="5" name="TextBox 4"/>
          <p:cNvSpPr txBox="1"/>
          <p:nvPr/>
        </p:nvSpPr>
        <p:spPr>
          <a:xfrm>
            <a:off x="777240" y="3429000"/>
            <a:ext cx="10637215" cy="274320"/>
          </a:xfrm>
          <a:prstGeom prst="rect">
            <a:avLst/>
          </a:prstGeom>
          <a:noFill/>
        </p:spPr>
        <p:txBody>
          <a:bodyPr wrap="square" anchor="t" lIns="0" rIns="0" tIns="0" bIns="0">
            <a:spAutoFit/>
          </a:bodyPr>
          <a:lstStyle/>
          <a:p>
            <a:pPr algn="l">
              <a:lnSpc>
                <a:spcPct val="125000"/>
              </a:lnSpc>
              <a:spcAft>
                <a:spcPts val="0"/>
              </a:spcAft>
            </a:pPr>
            <a:r>
              <a:rPr sz="1300" b="1" i="0">
                <a:solidFill>
                  <a:srgbClr val="BE0F05"/>
                </a:solidFill>
                <a:latin typeface="Arial"/>
              </a:rPr>
              <a:t>Why the obvious answer fails</a:t>
            </a:r>
          </a:p>
        </p:txBody>
      </p:sp>
      <p:sp>
        <p:nvSpPr>
          <p:cNvPr id="6" name="Oval 5"/>
          <p:cNvSpPr/>
          <p:nvPr/>
        </p:nvSpPr>
        <p:spPr>
          <a:xfrm>
            <a:off x="777240" y="398678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06424" y="3840480"/>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The first answer is always a keyword search. It is not wrong — it is undefendable.</a:t>
            </a:r>
          </a:p>
        </p:txBody>
      </p:sp>
      <p:sp>
        <p:nvSpPr>
          <p:cNvPr id="8" name="Oval 7"/>
          <p:cNvSpPr/>
          <p:nvPr/>
        </p:nvSpPr>
        <p:spPr>
          <a:xfrm>
            <a:off x="777240" y="455371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106424" y="4407408"/>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Keywords miss everything phrased differently and catch everything that merely mentions the term.</a:t>
            </a:r>
          </a:p>
        </p:txBody>
      </p:sp>
      <p:sp>
        <p:nvSpPr>
          <p:cNvPr id="10" name="Oval 9"/>
          <p:cNvSpPr/>
          <p:nvPr/>
        </p:nvSpPr>
        <p:spPr>
          <a:xfrm>
            <a:off x="777240" y="5120640"/>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106424" y="4974336"/>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Neither problem is visible in the result. You get a list, and no way to prove it is complete.</a:t>
            </a:r>
          </a:p>
        </p:txBody>
      </p:sp>
      <p:sp>
        <p:nvSpPr>
          <p:cNvPr id="12" name="TextBox 11"/>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2_querylib/</a:t>
            </a:r>
          </a:p>
        </p:txBody>
      </p:sp>
      <p:sp>
        <p:nvSpPr>
          <p:cNvPr id="13" name="TextBox 12"/>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ARNE — THE CLAIM, THEN THE LADDER · MODULE 2</a:t>
            </a:r>
          </a:p>
        </p:txBody>
      </p:sp>
      <p:sp>
        <p:nvSpPr>
          <p:cNvPr id="3" name="TextBox 2"/>
          <p:cNvSpPr txBox="1"/>
          <p:nvPr/>
        </p:nvSpPr>
        <p:spPr>
          <a:xfrm>
            <a:off x="7299655" y="457200"/>
            <a:ext cx="411480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Rung 1 · 8 min</a:t>
            </a:r>
          </a:p>
        </p:txBody>
      </p:sp>
      <p:sp>
        <p:nvSpPr>
          <p:cNvPr id="4" name="TextBox 3"/>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2600" b="1" i="0">
                <a:solidFill>
                  <a:srgbClr val="1A1A1A"/>
                </a:solidFill>
                <a:latin typeface="Arial"/>
              </a:rPr>
              <a:t>The Query Library</a:t>
            </a:r>
          </a:p>
        </p:txBody>
      </p:sp>
      <p:sp>
        <p:nvSpPr>
          <p:cNvPr id="5" name="Rounded Rectangle 4"/>
          <p:cNvSpPr/>
          <p:nvPr/>
        </p:nvSpPr>
        <p:spPr>
          <a:xfrm>
            <a:off x="777240" y="1737360"/>
            <a:ext cx="6400800" cy="3977639"/>
          </a:xfrm>
          <a:prstGeom prst="roundRect">
            <a:avLst>
              <a:gd name="adj" fmla="val 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lnSpc>
                <a:spcPct val="125000"/>
              </a:lnSpc>
              <a:spcAft>
                <a:spcPts val="1000"/>
              </a:spcAft>
            </a:pPr>
            <a:r>
              <a:rPr sz="1100" b="1" i="0">
                <a:solidFill>
                  <a:srgbClr val="94A3B8"/>
                </a:solidFill>
                <a:latin typeface="Arial"/>
              </a:rPr>
              <a:t>SCREENSHOT</a:t>
            </a:r>
          </a:p>
          <a:p>
            <a:pPr algn="ctr">
              <a:lnSpc>
                <a:spcPct val="125000"/>
              </a:lnSpc>
              <a:spcAft>
                <a:spcPts val="1000"/>
              </a:spcAft>
            </a:pPr>
            <a:r>
              <a:rPr sz="1500" b="0" i="0">
                <a:solidFill>
                  <a:srgbClr val="1A1A1A"/>
                </a:solidFill>
                <a:latin typeface="Arial"/>
              </a:rPr>
              <a:t>The Query Browser with a query's SQL open</a:t>
            </a:r>
          </a:p>
          <a:p>
            <a:pPr algn="ctr">
              <a:lnSpc>
                <a:spcPct val="125000"/>
              </a:lnSpc>
              <a:spcAft>
                <a:spcPts val="800"/>
              </a:spcAft>
            </a:pPr>
            <a:r>
              <a:rPr sz="1000" b="0" i="0">
                <a:solidFill>
                  <a:srgbClr val="64748B"/>
                </a:solidFill>
                <a:latin typeface="Arial"/>
              </a:rPr>
              <a:t>2_querylib/TIP_for_PATLIBs_QueryLib.ipynb</a:t>
            </a:r>
          </a:p>
          <a:p>
            <a:pPr algn="ctr">
              <a:lnSpc>
                <a:spcPct val="125000"/>
              </a:lnSpc>
              <a:spcAft>
                <a:spcPts val="0"/>
              </a:spcAft>
            </a:pPr>
            <a:r>
              <a:rPr sz="1000" b="1" i="0">
                <a:solidFill>
                  <a:srgbClr val="BE0F05"/>
                </a:solidFill>
                <a:latin typeface="Arial"/>
              </a:rPr>
              <a:t>NEEDS A TIP RUN — notebook ships with cleared outputs</a:t>
            </a:r>
          </a:p>
        </p:txBody>
      </p:sp>
      <p:sp>
        <p:nvSpPr>
          <p:cNvPr id="6" name="Rounded Rectangle 5"/>
          <p:cNvSpPr/>
          <p:nvPr/>
        </p:nvSpPr>
        <p:spPr>
          <a:xfrm>
            <a:off x="7635240" y="173736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35240" y="178308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1</a:t>
            </a:r>
          </a:p>
        </p:txBody>
      </p:sp>
      <p:sp>
        <p:nvSpPr>
          <p:cNvPr id="8" name="TextBox 7"/>
          <p:cNvSpPr txBox="1"/>
          <p:nvPr/>
        </p:nvSpPr>
        <p:spPr>
          <a:xfrm>
            <a:off x="8092440" y="171907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Browse</a:t>
            </a:r>
          </a:p>
          <a:p>
            <a:pPr algn="l">
              <a:lnSpc>
                <a:spcPct val="120000"/>
              </a:lnSpc>
              <a:spcAft>
                <a:spcPts val="300"/>
              </a:spcAft>
            </a:pPr>
            <a:r>
              <a:rPr sz="1100" b="0" i="0">
                <a:solidFill>
                  <a:srgbClr val="64748B"/>
                </a:solidFill>
                <a:latin typeface="Arial"/>
              </a:rPr>
              <a:t>open one query's SQL — the decisions someone made for you</a:t>
            </a:r>
          </a:p>
          <a:p>
            <a:pPr algn="l">
              <a:lnSpc>
                <a:spcPct val="125000"/>
              </a:lnSpc>
              <a:spcAft>
                <a:spcPts val="0"/>
              </a:spcAft>
            </a:pPr>
            <a:r>
              <a:rPr sz="1000" b="1" i="0">
                <a:solidFill>
                  <a:srgbClr val="BE0F05"/>
                </a:solidFill>
                <a:latin typeface="Arial"/>
              </a:rPr>
              <a:t>3 min</a:t>
            </a:r>
          </a:p>
        </p:txBody>
      </p:sp>
      <p:sp>
        <p:nvSpPr>
          <p:cNvPr id="9" name="Rounded Rectangle 8"/>
          <p:cNvSpPr/>
          <p:nvPr/>
        </p:nvSpPr>
        <p:spPr>
          <a:xfrm>
            <a:off x="7635240" y="306324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35240" y="310896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2</a:t>
            </a:r>
          </a:p>
        </p:txBody>
      </p:sp>
      <p:sp>
        <p:nvSpPr>
          <p:cNvPr id="11" name="TextBox 10"/>
          <p:cNvSpPr txBox="1"/>
          <p:nvPr/>
        </p:nvSpPr>
        <p:spPr>
          <a:xfrm>
            <a:off x="8092440" y="304495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Adapt</a:t>
            </a:r>
          </a:p>
          <a:p>
            <a:pPr algn="l">
              <a:lnSpc>
                <a:spcPct val="120000"/>
              </a:lnSpc>
              <a:spcAft>
                <a:spcPts val="300"/>
              </a:spcAft>
            </a:pPr>
            <a:r>
              <a:rPr sz="1100" b="0" i="0">
                <a:solidFill>
                  <a:srgbClr val="64748B"/>
                </a:solidFill>
                <a:latin typeface="Arial"/>
              </a:rPr>
              <a:t>change country, window, field; run it; time it</a:t>
            </a:r>
          </a:p>
          <a:p>
            <a:pPr algn="l">
              <a:lnSpc>
                <a:spcPct val="125000"/>
              </a:lnSpc>
              <a:spcAft>
                <a:spcPts val="0"/>
              </a:spcAft>
            </a:pPr>
            <a:r>
              <a:rPr sz="1000" b="1" i="0">
                <a:solidFill>
                  <a:srgbClr val="BE0F05"/>
                </a:solidFill>
                <a:latin typeface="Arial"/>
              </a:rPr>
              <a:t>3 min</a:t>
            </a:r>
          </a:p>
        </p:txBody>
      </p:sp>
      <p:sp>
        <p:nvSpPr>
          <p:cNvPr id="12" name="Rounded Rectangle 11"/>
          <p:cNvSpPr/>
          <p:nvPr/>
        </p:nvSpPr>
        <p:spPr>
          <a:xfrm>
            <a:off x="7635240" y="438912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635240" y="443484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3</a:t>
            </a:r>
          </a:p>
        </p:txBody>
      </p:sp>
      <p:sp>
        <p:nvSpPr>
          <p:cNvPr id="14" name="TextBox 13"/>
          <p:cNvSpPr txBox="1"/>
          <p:nvPr/>
        </p:nvSpPr>
        <p:spPr>
          <a:xfrm>
            <a:off x="8092440" y="437083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Point and click</a:t>
            </a:r>
          </a:p>
          <a:p>
            <a:pPr algn="l">
              <a:lnSpc>
                <a:spcPct val="120000"/>
              </a:lnSpc>
              <a:spcAft>
                <a:spcPts val="300"/>
              </a:spcAft>
            </a:pPr>
            <a:r>
              <a:rPr sz="1100" b="0" i="0">
                <a:solidFill>
                  <a:srgbClr val="64748B"/>
                </a:solidFill>
                <a:latin typeface="Arial"/>
              </a:rPr>
              <a:t>the same data through the interactive demo</a:t>
            </a:r>
          </a:p>
          <a:p>
            <a:pPr algn="l">
              <a:lnSpc>
                <a:spcPct val="125000"/>
              </a:lnSpc>
              <a:spcAft>
                <a:spcPts val="0"/>
              </a:spcAft>
            </a:pPr>
            <a:r>
              <a:rPr sz="1000" b="1" i="0">
                <a:solidFill>
                  <a:srgbClr val="BE0F05"/>
                </a:solidFill>
                <a:latin typeface="Arial"/>
              </a:rPr>
              <a:t>2 min</a:t>
            </a:r>
          </a:p>
        </p:txBody>
      </p:sp>
      <p:sp>
        <p:nvSpPr>
          <p:cNvPr id="15" name="TextBox 14"/>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2_querylib/</a:t>
            </a:r>
          </a:p>
        </p:txBody>
      </p:sp>
      <p:sp>
        <p:nvSpPr>
          <p:cNvPr id="16" name="TextBox 15"/>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ARNE — THE CLAIM, THEN THE LADDER · MODULE 2</a:t>
            </a:r>
          </a:p>
        </p:txBody>
      </p:sp>
      <p:sp>
        <p:nvSpPr>
          <p:cNvPr id="3" name="TextBox 2"/>
          <p:cNvSpPr txBox="1"/>
          <p:nvPr/>
        </p:nvSpPr>
        <p:spPr>
          <a:xfrm>
            <a:off x="7299655" y="457200"/>
            <a:ext cx="411480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Outcome</a:t>
            </a:r>
          </a:p>
        </p:txBody>
      </p:sp>
      <p:sp>
        <p:nvSpPr>
          <p:cNvPr id="4" name="TextBox 3"/>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2800" b="1" i="0">
                <a:solidFill>
                  <a:srgbClr val="1A1A1A"/>
                </a:solidFill>
                <a:latin typeface="Arial"/>
              </a:rPr>
              <a:t>What now exists</a:t>
            </a:r>
          </a:p>
        </p:txBody>
      </p:sp>
      <p:sp>
        <p:nvSpPr>
          <p:cNvPr id="5" name="Rounded Rectangle 4"/>
          <p:cNvSpPr/>
          <p:nvPr/>
        </p:nvSpPr>
        <p:spPr>
          <a:xfrm>
            <a:off x="777240" y="1783080"/>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One query adapted to a question you are actually asked, with its result table</a:t>
            </a:r>
          </a:p>
        </p:txBody>
      </p:sp>
      <p:sp>
        <p:nvSpPr>
          <p:cNvPr id="6" name="Rounded Rectangle 5"/>
          <p:cNvSpPr/>
          <p:nvPr/>
        </p:nvSpPr>
        <p:spPr>
          <a:xfrm>
            <a:off x="777240" y="2624328"/>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A first feel for what a PATSTAT query costs in time</a:t>
            </a:r>
          </a:p>
        </p:txBody>
      </p:sp>
      <p:sp>
        <p:nvSpPr>
          <p:cNvPr id="7" name="TextBox 6"/>
          <p:cNvSpPr txBox="1"/>
          <p:nvPr/>
        </p:nvSpPr>
        <p:spPr>
          <a:xfrm>
            <a:off x="777240" y="3602736"/>
            <a:ext cx="10637215" cy="274320"/>
          </a:xfrm>
          <a:prstGeom prst="rect">
            <a:avLst/>
          </a:prstGeom>
          <a:noFill/>
        </p:spPr>
        <p:txBody>
          <a:bodyPr wrap="square" anchor="t" lIns="0" rIns="0" tIns="0" bIns="0">
            <a:spAutoFit/>
          </a:bodyPr>
          <a:lstStyle/>
          <a:p>
            <a:pPr algn="l">
              <a:lnSpc>
                <a:spcPct val="125000"/>
              </a:lnSpc>
              <a:spcAft>
                <a:spcPts val="0"/>
              </a:spcAft>
            </a:pPr>
            <a:r>
              <a:rPr sz="1200" b="1" i="0">
                <a:solidFill>
                  <a:srgbClr val="BE0F05"/>
                </a:solidFill>
                <a:latin typeface="Arial"/>
              </a:rPr>
              <a:t>The one sentence to remember</a:t>
            </a:r>
          </a:p>
        </p:txBody>
      </p:sp>
      <p:sp>
        <p:nvSpPr>
          <p:cNvPr id="8" name="Rounded Rectangle 7"/>
          <p:cNvSpPr/>
          <p:nvPr/>
        </p:nvSpPr>
        <p:spPr>
          <a:xfrm>
            <a:off x="777240" y="4014216"/>
            <a:ext cx="10637215" cy="105156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a:lstStyle/>
          <a:p>
            <a:pPr algn="l">
              <a:lnSpc>
                <a:spcPct val="125000"/>
              </a:lnSpc>
              <a:spcAft>
                <a:spcPts val="0"/>
              </a:spcAft>
            </a:pPr>
            <a:r>
              <a:rPr sz="1600" b="1" i="0">
                <a:solidFill>
                  <a:srgbClr val="BE0F05"/>
                </a:solidFill>
                <a:latin typeface="Arial"/>
              </a:rPr>
              <a:t>An analysis you cannot open up is one you cannot defend.</a:t>
            </a:r>
          </a:p>
        </p:txBody>
      </p:sp>
      <p:sp>
        <p:nvSpPr>
          <p:cNvPr id="9" name="TextBox 8"/>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2_querylib/</a:t>
            </a:r>
          </a:p>
        </p:txBody>
      </p:sp>
      <p:sp>
        <p:nvSpPr>
          <p:cNvPr id="10" name="TextBox 9"/>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ARNE — THE CLAIM, THEN THE LADDER · MODULE 3</a:t>
            </a:r>
          </a:p>
        </p:txBody>
      </p:sp>
      <p:sp>
        <p:nvSpPr>
          <p:cNvPr id="3" name="TextBox 2"/>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3000" b="1" i="0">
                <a:solidFill>
                  <a:srgbClr val="1A1A1A"/>
                </a:solidFill>
                <a:latin typeface="Arial"/>
              </a:rPr>
              <a:t>Module 3 — PATSTAT Explorer</a:t>
            </a:r>
          </a:p>
        </p:txBody>
      </p:sp>
      <p:sp>
        <p:nvSpPr>
          <p:cNvPr id="4" name="Rounded Rectangle 3"/>
          <p:cNvSpPr/>
          <p:nvPr/>
        </p:nvSpPr>
        <p:spPr>
          <a:xfrm>
            <a:off x="777240" y="1783080"/>
            <a:ext cx="10637215" cy="13716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182880" bIns="182880"/>
          <a:lstStyle/>
          <a:p>
            <a:pPr algn="l">
              <a:lnSpc>
                <a:spcPct val="125000"/>
              </a:lnSpc>
              <a:spcAft>
                <a:spcPts val="0"/>
              </a:spcAft>
            </a:pPr>
            <a:r>
              <a:rPr sz="1800" b="0" i="1">
                <a:solidFill>
                  <a:srgbClr val="BE0F05"/>
                </a:solidFill>
                <a:latin typeface="Arial"/>
              </a:rPr>
              <a:t>"A client asks how big Siemens Healthineers' patent portfolio is. You run a name search. You get 200 rows. Which one is the answer?"</a:t>
            </a:r>
          </a:p>
        </p:txBody>
      </p:sp>
      <p:sp>
        <p:nvSpPr>
          <p:cNvPr id="5" name="TextBox 4"/>
          <p:cNvSpPr txBox="1"/>
          <p:nvPr/>
        </p:nvSpPr>
        <p:spPr>
          <a:xfrm>
            <a:off x="777240" y="3429000"/>
            <a:ext cx="10637215" cy="274320"/>
          </a:xfrm>
          <a:prstGeom prst="rect">
            <a:avLst/>
          </a:prstGeom>
          <a:noFill/>
        </p:spPr>
        <p:txBody>
          <a:bodyPr wrap="square" anchor="t" lIns="0" rIns="0" tIns="0" bIns="0">
            <a:spAutoFit/>
          </a:bodyPr>
          <a:lstStyle/>
          <a:p>
            <a:pPr algn="l">
              <a:lnSpc>
                <a:spcPct val="125000"/>
              </a:lnSpc>
              <a:spcAft>
                <a:spcPts val="0"/>
              </a:spcAft>
            </a:pPr>
            <a:r>
              <a:rPr sz="1300" b="1" i="0">
                <a:solidFill>
                  <a:srgbClr val="BE0F05"/>
                </a:solidFill>
                <a:latin typeface="Arial"/>
              </a:rPr>
              <a:t>Why the obvious answer fails</a:t>
            </a:r>
          </a:p>
        </p:txBody>
      </p:sp>
      <p:sp>
        <p:nvSpPr>
          <p:cNvPr id="6" name="Oval 5"/>
          <p:cNvSpPr/>
          <p:nvPr/>
        </p:nvSpPr>
        <p:spPr>
          <a:xfrm>
            <a:off x="777240" y="398678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06424" y="3840480"/>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None of them. PATSTAT does not know companies — it knows names, as typed on each application.</a:t>
            </a:r>
          </a:p>
        </p:txBody>
      </p:sp>
      <p:sp>
        <p:nvSpPr>
          <p:cNvPr id="8" name="Oval 7"/>
          <p:cNvSpPr/>
          <p:nvPr/>
        </p:nvSpPr>
        <p:spPr>
          <a:xfrm>
            <a:off x="777240" y="455371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106424" y="4407408"/>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One entry per spelling, per country, per subsidiary, per typo. There is no record to look up.</a:t>
            </a:r>
          </a:p>
        </p:txBody>
      </p:sp>
      <p:sp>
        <p:nvSpPr>
          <p:cNvPr id="10" name="Oval 9"/>
          <p:cNvSpPr/>
          <p:nvPr/>
        </p:nvSpPr>
        <p:spPr>
          <a:xfrm>
            <a:off x="777240" y="5120640"/>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106424" y="4974336"/>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Take the biggest row and you have undercounted the group — as a clean, confident-looking number.</a:t>
            </a:r>
          </a:p>
        </p:txBody>
      </p:sp>
      <p:sp>
        <p:nvSpPr>
          <p:cNvPr id="12" name="TextBox 11"/>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3_patstat_explorer/</a:t>
            </a:r>
          </a:p>
        </p:txBody>
      </p:sp>
      <p:sp>
        <p:nvSpPr>
          <p:cNvPr id="13" name="TextBox 12"/>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ARNE — THE CLAIM, THEN THE LADDER · MODULE 3</a:t>
            </a:r>
          </a:p>
        </p:txBody>
      </p:sp>
      <p:sp>
        <p:nvSpPr>
          <p:cNvPr id="3" name="TextBox 2"/>
          <p:cNvSpPr txBox="1"/>
          <p:nvPr/>
        </p:nvSpPr>
        <p:spPr>
          <a:xfrm>
            <a:off x="7299655" y="457200"/>
            <a:ext cx="411480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Rung 2 · 10 min</a:t>
            </a:r>
          </a:p>
        </p:txBody>
      </p:sp>
      <p:sp>
        <p:nvSpPr>
          <p:cNvPr id="4" name="TextBox 3"/>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2600" b="1" i="0">
                <a:solidFill>
                  <a:srgbClr val="1A1A1A"/>
                </a:solidFill>
                <a:latin typeface="Arial"/>
              </a:rPr>
              <a:t>PATSTAT Explorer</a:t>
            </a:r>
          </a:p>
        </p:txBody>
      </p:sp>
      <p:pic>
        <p:nvPicPr>
          <p:cNvPr id="5" name="Picture 4" descr="03.png"/>
          <p:cNvPicPr>
            <a:picLocks noChangeAspect="1"/>
          </p:cNvPicPr>
          <p:nvPr/>
        </p:nvPicPr>
        <p:blipFill>
          <a:blip r:embed="rId2"/>
          <a:stretch>
            <a:fillRect/>
          </a:stretch>
        </p:blipFill>
        <p:spPr>
          <a:xfrm>
            <a:off x="777240" y="2491116"/>
            <a:ext cx="6400800" cy="2470126"/>
          </a:xfrm>
          <a:prstGeom prst="rect">
            <a:avLst/>
          </a:prstGeom>
        </p:spPr>
      </p:pic>
      <p:sp>
        <p:nvSpPr>
          <p:cNvPr id="6" name="Rounded Rectangle 5"/>
          <p:cNvSpPr/>
          <p:nvPr/>
        </p:nvSpPr>
        <p:spPr>
          <a:xfrm>
            <a:off x="7635240" y="173736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35240" y="178308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1</a:t>
            </a:r>
          </a:p>
        </p:txBody>
      </p:sp>
      <p:sp>
        <p:nvSpPr>
          <p:cNvPr id="8" name="TextBox 7"/>
          <p:cNvSpPr txBox="1"/>
          <p:nvPr/>
        </p:nvSpPr>
        <p:spPr>
          <a:xfrm>
            <a:off x="8092440" y="171907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Find the names</a:t>
            </a:r>
          </a:p>
          <a:p>
            <a:pPr algn="l">
              <a:lnSpc>
                <a:spcPct val="120000"/>
              </a:lnSpc>
              <a:spcAft>
                <a:spcPts val="300"/>
              </a:spcAft>
            </a:pPr>
            <a:r>
              <a:rPr sz="1100" b="0" i="0">
                <a:solidFill>
                  <a:srgbClr val="64748B"/>
                </a:solidFill>
                <a:latin typeface="Arial"/>
              </a:rPr>
              <a:t>up to 200 spellings, none of them the answer</a:t>
            </a:r>
          </a:p>
          <a:p>
            <a:pPr algn="l">
              <a:lnSpc>
                <a:spcPct val="125000"/>
              </a:lnSpc>
              <a:spcAft>
                <a:spcPts val="0"/>
              </a:spcAft>
            </a:pPr>
            <a:r>
              <a:rPr sz="1000" b="1" i="0">
                <a:solidFill>
                  <a:srgbClr val="BE0F05"/>
                </a:solidFill>
                <a:latin typeface="Arial"/>
              </a:rPr>
              <a:t>3 min</a:t>
            </a:r>
          </a:p>
        </p:txBody>
      </p:sp>
      <p:sp>
        <p:nvSpPr>
          <p:cNvPr id="9" name="Rounded Rectangle 8"/>
          <p:cNvSpPr/>
          <p:nvPr/>
        </p:nvSpPr>
        <p:spPr>
          <a:xfrm>
            <a:off x="7635240" y="306324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35240" y="310896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2</a:t>
            </a:r>
          </a:p>
        </p:txBody>
      </p:sp>
      <p:sp>
        <p:nvSpPr>
          <p:cNvPr id="11" name="TextBox 10"/>
          <p:cNvSpPr txBox="1"/>
          <p:nvPr/>
        </p:nvSpPr>
        <p:spPr>
          <a:xfrm>
            <a:off x="8092440" y="304495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Decide</a:t>
            </a:r>
          </a:p>
          <a:p>
            <a:pPr algn="l">
              <a:lnSpc>
                <a:spcPct val="120000"/>
              </a:lnSpc>
              <a:spcAft>
                <a:spcPts val="300"/>
              </a:spcAft>
            </a:pPr>
            <a:r>
              <a:rPr sz="1100" b="0" i="0">
                <a:solidFill>
                  <a:srgbClr val="64748B"/>
                </a:solidFill>
                <a:latin typeface="Arial"/>
              </a:rPr>
              <a:t>which belong together — the step no query can do for you</a:t>
            </a:r>
          </a:p>
          <a:p>
            <a:pPr algn="l">
              <a:lnSpc>
                <a:spcPct val="125000"/>
              </a:lnSpc>
              <a:spcAft>
                <a:spcPts val="0"/>
              </a:spcAft>
            </a:pPr>
            <a:r>
              <a:rPr sz="1000" b="1" i="0">
                <a:solidFill>
                  <a:srgbClr val="BE0F05"/>
                </a:solidFill>
                <a:latin typeface="Arial"/>
              </a:rPr>
              <a:t>4 min</a:t>
            </a:r>
          </a:p>
        </p:txBody>
      </p:sp>
      <p:sp>
        <p:nvSpPr>
          <p:cNvPr id="12" name="Rounded Rectangle 11"/>
          <p:cNvSpPr/>
          <p:nvPr/>
        </p:nvSpPr>
        <p:spPr>
          <a:xfrm>
            <a:off x="7635240" y="438912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635240" y="443484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3</a:t>
            </a:r>
          </a:p>
        </p:txBody>
      </p:sp>
      <p:sp>
        <p:nvSpPr>
          <p:cNvPr id="14" name="TextBox 13"/>
          <p:cNvSpPr txBox="1"/>
          <p:nvPr/>
        </p:nvSpPr>
        <p:spPr>
          <a:xfrm>
            <a:off x="8092440" y="437083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Count families</a:t>
            </a:r>
          </a:p>
          <a:p>
            <a:pPr algn="l">
              <a:lnSpc>
                <a:spcPct val="120000"/>
              </a:lnSpc>
              <a:spcAft>
                <a:spcPts val="300"/>
              </a:spcAft>
            </a:pPr>
            <a:r>
              <a:rPr sz="1100" b="0" i="0">
                <a:solidFill>
                  <a:srgbClr val="64748B"/>
                </a:solidFill>
                <a:latin typeface="Arial"/>
              </a:rPr>
              <a:t>not applications — a number below the naive sum</a:t>
            </a:r>
          </a:p>
          <a:p>
            <a:pPr algn="l">
              <a:lnSpc>
                <a:spcPct val="125000"/>
              </a:lnSpc>
              <a:spcAft>
                <a:spcPts val="0"/>
              </a:spcAft>
            </a:pPr>
            <a:r>
              <a:rPr sz="1000" b="1" i="0">
                <a:solidFill>
                  <a:srgbClr val="BE0F05"/>
                </a:solidFill>
                <a:latin typeface="Arial"/>
              </a:rPr>
              <a:t>3 min</a:t>
            </a:r>
          </a:p>
        </p:txBody>
      </p:sp>
      <p:sp>
        <p:nvSpPr>
          <p:cNvPr id="15" name="TextBox 14"/>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3_patstat_explorer/</a:t>
            </a:r>
          </a:p>
        </p:txBody>
      </p:sp>
      <p:sp>
        <p:nvSpPr>
          <p:cNvPr id="16" name="TextBox 15"/>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ARNE — THE CLAIM, THEN THE LADDER · MODULE 3</a:t>
            </a:r>
          </a:p>
        </p:txBody>
      </p:sp>
      <p:sp>
        <p:nvSpPr>
          <p:cNvPr id="3" name="TextBox 2"/>
          <p:cNvSpPr txBox="1"/>
          <p:nvPr/>
        </p:nvSpPr>
        <p:spPr>
          <a:xfrm>
            <a:off x="7299655" y="457200"/>
            <a:ext cx="411480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Outcome</a:t>
            </a:r>
          </a:p>
        </p:txBody>
      </p:sp>
      <p:sp>
        <p:nvSpPr>
          <p:cNvPr id="4" name="TextBox 3"/>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2800" b="1" i="0">
                <a:solidFill>
                  <a:srgbClr val="1A1A1A"/>
                </a:solidFill>
                <a:latin typeface="Arial"/>
              </a:rPr>
              <a:t>What now exists</a:t>
            </a:r>
          </a:p>
        </p:txBody>
      </p:sp>
      <p:sp>
        <p:nvSpPr>
          <p:cNvPr id="5" name="Rounded Rectangle 4"/>
          <p:cNvSpPr/>
          <p:nvPr/>
        </p:nvSpPr>
        <p:spPr>
          <a:xfrm>
            <a:off x="777240" y="1783080"/>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One consolidated applicant group — a named list of spellings you decided belong together</a:t>
            </a:r>
          </a:p>
        </p:txBody>
      </p:sp>
      <p:sp>
        <p:nvSpPr>
          <p:cNvPr id="6" name="Rounded Rectangle 5"/>
          <p:cNvSpPr/>
          <p:nvPr/>
        </p:nvSpPr>
        <p:spPr>
          <a:xfrm>
            <a:off x="777240" y="2624328"/>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The group's family count, filing offices and technology profile</a:t>
            </a:r>
          </a:p>
        </p:txBody>
      </p:sp>
      <p:sp>
        <p:nvSpPr>
          <p:cNvPr id="7" name="Rounded Rectangle 6"/>
          <p:cNvSpPr/>
          <p:nvPr/>
        </p:nvSpPr>
        <p:spPr>
          <a:xfrm>
            <a:off x="777240" y="3465576"/>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A written note of what your consolidation missed</a:t>
            </a:r>
          </a:p>
        </p:txBody>
      </p:sp>
      <p:sp>
        <p:nvSpPr>
          <p:cNvPr id="8" name="TextBox 7"/>
          <p:cNvSpPr txBox="1"/>
          <p:nvPr/>
        </p:nvSpPr>
        <p:spPr>
          <a:xfrm>
            <a:off x="777240" y="4443984"/>
            <a:ext cx="10637215" cy="274320"/>
          </a:xfrm>
          <a:prstGeom prst="rect">
            <a:avLst/>
          </a:prstGeom>
          <a:noFill/>
        </p:spPr>
        <p:txBody>
          <a:bodyPr wrap="square" anchor="t" lIns="0" rIns="0" tIns="0" bIns="0">
            <a:spAutoFit/>
          </a:bodyPr>
          <a:lstStyle/>
          <a:p>
            <a:pPr algn="l">
              <a:lnSpc>
                <a:spcPct val="125000"/>
              </a:lnSpc>
              <a:spcAft>
                <a:spcPts val="0"/>
              </a:spcAft>
            </a:pPr>
            <a:r>
              <a:rPr sz="1200" b="1" i="0">
                <a:solidFill>
                  <a:srgbClr val="BE0F05"/>
                </a:solidFill>
                <a:latin typeface="Arial"/>
              </a:rPr>
              <a:t>The one sentence to remember</a:t>
            </a:r>
          </a:p>
        </p:txBody>
      </p:sp>
      <p:sp>
        <p:nvSpPr>
          <p:cNvPr id="9" name="Rounded Rectangle 8"/>
          <p:cNvSpPr/>
          <p:nvPr/>
        </p:nvSpPr>
        <p:spPr>
          <a:xfrm>
            <a:off x="777240" y="4855464"/>
            <a:ext cx="10637215" cy="105156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a:lstStyle/>
          <a:p>
            <a:pPr algn="l">
              <a:lnSpc>
                <a:spcPct val="125000"/>
              </a:lnSpc>
              <a:spcAft>
                <a:spcPts val="0"/>
              </a:spcAft>
            </a:pPr>
            <a:r>
              <a:rPr sz="1600" b="1" i="0">
                <a:solidFill>
                  <a:srgbClr val="BE0F05"/>
                </a:solidFill>
                <a:latin typeface="Arial"/>
              </a:rPr>
              <a:t>Consolidation is a judgement, not a lookup. What makes the number defensible is that you wrote the decision down.</a:t>
            </a:r>
          </a:p>
        </p:txBody>
      </p:sp>
      <p:sp>
        <p:nvSpPr>
          <p:cNvPr id="10" name="TextBox 9"/>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3_patstat_explorer/</a:t>
            </a:r>
          </a:p>
        </p:txBody>
      </p:sp>
      <p:sp>
        <p:nvSpPr>
          <p:cNvPr id="11" name="TextBox 10"/>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ARNE — THE CLAIM, THEN THE LADDER · MODULE 4</a:t>
            </a:r>
          </a:p>
        </p:txBody>
      </p:sp>
      <p:sp>
        <p:nvSpPr>
          <p:cNvPr id="3" name="TextBox 2"/>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3000" b="1" i="0">
                <a:solidFill>
                  <a:srgbClr val="1A1A1A"/>
                </a:solidFill>
                <a:latin typeface="Arial"/>
              </a:rPr>
              <a:t>Module 4 — Regional Lead Generation</a:t>
            </a:r>
          </a:p>
        </p:txBody>
      </p:sp>
      <p:sp>
        <p:nvSpPr>
          <p:cNvPr id="4" name="Rounded Rectangle 3"/>
          <p:cNvSpPr/>
          <p:nvPr/>
        </p:nvSpPr>
        <p:spPr>
          <a:xfrm>
            <a:off x="777240" y="1783080"/>
            <a:ext cx="10637215" cy="13716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182880" bIns="182880"/>
          <a:lstStyle/>
          <a:p>
            <a:pPr algn="l">
              <a:lnSpc>
                <a:spcPct val="125000"/>
              </a:lnSpc>
              <a:spcAft>
                <a:spcPts val="0"/>
              </a:spcAft>
            </a:pPr>
            <a:r>
              <a:rPr sz="1800" b="0" i="1">
                <a:solidFill>
                  <a:srgbClr val="BE0F05"/>
                </a:solidFill>
                <a:latin typeface="Arial"/>
              </a:rPr>
              <a:t>"Your PATLIB is asked to justify its outreach budget. Which companies in your region should you actually be talking to — and why those?"</a:t>
            </a:r>
          </a:p>
        </p:txBody>
      </p:sp>
      <p:sp>
        <p:nvSpPr>
          <p:cNvPr id="5" name="TextBox 4"/>
          <p:cNvSpPr txBox="1"/>
          <p:nvPr/>
        </p:nvSpPr>
        <p:spPr>
          <a:xfrm>
            <a:off x="777240" y="3429000"/>
            <a:ext cx="10637215" cy="274320"/>
          </a:xfrm>
          <a:prstGeom prst="rect">
            <a:avLst/>
          </a:prstGeom>
          <a:noFill/>
        </p:spPr>
        <p:txBody>
          <a:bodyPr wrap="square" anchor="t" lIns="0" rIns="0" tIns="0" bIns="0">
            <a:spAutoFit/>
          </a:bodyPr>
          <a:lstStyle/>
          <a:p>
            <a:pPr algn="l">
              <a:lnSpc>
                <a:spcPct val="125000"/>
              </a:lnSpc>
              <a:spcAft>
                <a:spcPts val="0"/>
              </a:spcAft>
            </a:pPr>
            <a:r>
              <a:rPr sz="1300" b="1" i="0">
                <a:solidFill>
                  <a:srgbClr val="BE0F05"/>
                </a:solidFill>
                <a:latin typeface="Arial"/>
              </a:rPr>
              <a:t>Why the obvious answer fails</a:t>
            </a:r>
          </a:p>
        </p:txBody>
      </p:sp>
      <p:sp>
        <p:nvSpPr>
          <p:cNvPr id="6" name="Oval 5"/>
          <p:cNvSpPr/>
          <p:nvPr/>
        </p:nvSpPr>
        <p:spPr>
          <a:xfrm>
            <a:off x="777240" y="398678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06424" y="3840480"/>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Every PATLIB has a contact list. Almost none can say how it was built.</a:t>
            </a:r>
          </a:p>
        </p:txBody>
      </p:sp>
      <p:sp>
        <p:nvSpPr>
          <p:cNvPr id="8" name="Oval 7"/>
          <p:cNvSpPr/>
          <p:nvPr/>
        </p:nvSpPr>
        <p:spPr>
          <a:xfrm>
            <a:off x="777240" y="455371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106424" y="4407408"/>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Who walked in, who came to the last event, who somebody remembered.</a:t>
            </a:r>
          </a:p>
        </p:txBody>
      </p:sp>
      <p:sp>
        <p:nvSpPr>
          <p:cNvPr id="10" name="Oval 9"/>
          <p:cNvSpPr/>
          <p:nvPr/>
        </p:nvSpPr>
        <p:spPr>
          <a:xfrm>
            <a:off x="777240" y="5120640"/>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106424" y="4974336"/>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The question a ranked list has to survive is not 'who is on it' but 'who is missing'.</a:t>
            </a:r>
          </a:p>
        </p:txBody>
      </p:sp>
      <p:sp>
        <p:nvSpPr>
          <p:cNvPr id="12" name="TextBox 11"/>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4_lead_generation/</a:t>
            </a:r>
          </a:p>
        </p:txBody>
      </p:sp>
      <p:sp>
        <p:nvSpPr>
          <p:cNvPr id="13" name="TextBox 12"/>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ARNE — THE CLAIM, THEN THE LADDER · MODULE 4</a:t>
            </a:r>
          </a:p>
        </p:txBody>
      </p:sp>
      <p:sp>
        <p:nvSpPr>
          <p:cNvPr id="3" name="TextBox 2"/>
          <p:cNvSpPr txBox="1"/>
          <p:nvPr/>
        </p:nvSpPr>
        <p:spPr>
          <a:xfrm>
            <a:off x="7299655" y="457200"/>
            <a:ext cx="411480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Rung 3 · 15 min</a:t>
            </a:r>
          </a:p>
        </p:txBody>
      </p:sp>
      <p:sp>
        <p:nvSpPr>
          <p:cNvPr id="4" name="TextBox 3"/>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2600" b="1" i="0">
                <a:solidFill>
                  <a:srgbClr val="1A1A1A"/>
                </a:solidFill>
                <a:latin typeface="Arial"/>
              </a:rPr>
              <a:t>Regional Lead Generation</a:t>
            </a:r>
          </a:p>
        </p:txBody>
      </p:sp>
      <p:sp>
        <p:nvSpPr>
          <p:cNvPr id="5" name="Rounded Rectangle 4"/>
          <p:cNvSpPr/>
          <p:nvPr/>
        </p:nvSpPr>
        <p:spPr>
          <a:xfrm>
            <a:off x="777240" y="1737360"/>
            <a:ext cx="6400800" cy="3977639"/>
          </a:xfrm>
          <a:prstGeom prst="roundRect">
            <a:avLst>
              <a:gd name="adj" fmla="val 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lnSpc>
                <a:spcPct val="125000"/>
              </a:lnSpc>
              <a:spcAft>
                <a:spcPts val="1000"/>
              </a:spcAft>
            </a:pPr>
            <a:r>
              <a:rPr sz="1100" b="1" i="0">
                <a:solidFill>
                  <a:srgbClr val="94A3B8"/>
                </a:solidFill>
                <a:latin typeface="Arial"/>
              </a:rPr>
              <a:t>SCREENSHOT</a:t>
            </a:r>
          </a:p>
          <a:p>
            <a:pPr algn="ctr">
              <a:lnSpc>
                <a:spcPct val="125000"/>
              </a:lnSpc>
              <a:spcAft>
                <a:spcPts val="1000"/>
              </a:spcAft>
            </a:pPr>
            <a:r>
              <a:rPr sz="1500" b="0" i="0">
                <a:solidFill>
                  <a:srgbClr val="1A1A1A"/>
                </a:solidFill>
                <a:latin typeface="Arial"/>
              </a:rPr>
              <a:t>The lead-tier grid and the named shortlist for Alsace</a:t>
            </a:r>
          </a:p>
          <a:p>
            <a:pPr algn="ctr">
              <a:lnSpc>
                <a:spcPct val="125000"/>
              </a:lnSpc>
              <a:spcAft>
                <a:spcPts val="800"/>
              </a:spcAft>
            </a:pPr>
            <a:r>
              <a:rPr sz="1000" b="0" i="0">
                <a:solidFill>
                  <a:srgbClr val="64748B"/>
                </a:solidFill>
                <a:latin typeface="Arial"/>
              </a:rPr>
              <a:t>4_lead_generation/1_regional-leads.ipynb</a:t>
            </a:r>
          </a:p>
          <a:p>
            <a:pPr algn="ctr">
              <a:lnSpc>
                <a:spcPct val="125000"/>
              </a:lnSpc>
              <a:spcAft>
                <a:spcPts val="0"/>
              </a:spcAft>
            </a:pPr>
            <a:r>
              <a:rPr sz="1000" b="1" i="0">
                <a:solidFill>
                  <a:srgbClr val="BE0F05"/>
                </a:solidFill>
                <a:latin typeface="Arial"/>
              </a:rPr>
              <a:t>NEEDS A TIP RUN — notebook ships with cleared outputs</a:t>
            </a:r>
          </a:p>
        </p:txBody>
      </p:sp>
      <p:sp>
        <p:nvSpPr>
          <p:cNvPr id="6" name="Rounded Rectangle 5"/>
          <p:cNvSpPr/>
          <p:nvPr/>
        </p:nvSpPr>
        <p:spPr>
          <a:xfrm>
            <a:off x="7635240" y="173736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35240" y="178308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1</a:t>
            </a:r>
          </a:p>
        </p:txBody>
      </p:sp>
      <p:sp>
        <p:nvSpPr>
          <p:cNvPr id="8" name="TextBox 7"/>
          <p:cNvSpPr txBox="1"/>
          <p:nvPr/>
        </p:nvSpPr>
        <p:spPr>
          <a:xfrm>
            <a:off x="8092440" y="171907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Get the NUTS codes right</a:t>
            </a:r>
          </a:p>
          <a:p>
            <a:pPr algn="l">
              <a:lnSpc>
                <a:spcPct val="120000"/>
              </a:lnSpc>
              <a:spcAft>
                <a:spcPts val="300"/>
              </a:spcAft>
            </a:pPr>
            <a:r>
              <a:rPr sz="1100" b="0" i="0">
                <a:solidFill>
                  <a:srgbClr val="64748B"/>
                </a:solidFill>
                <a:latin typeface="Arial"/>
              </a:rPr>
              <a:t>both vintages — one alone loses a third of the data</a:t>
            </a:r>
          </a:p>
          <a:p>
            <a:pPr algn="l">
              <a:lnSpc>
                <a:spcPct val="125000"/>
              </a:lnSpc>
              <a:spcAft>
                <a:spcPts val="0"/>
              </a:spcAft>
            </a:pPr>
            <a:r>
              <a:rPr sz="1000" b="1" i="0">
                <a:solidFill>
                  <a:srgbClr val="BE0F05"/>
                </a:solidFill>
                <a:latin typeface="Arial"/>
              </a:rPr>
              <a:t>5 min</a:t>
            </a:r>
          </a:p>
        </p:txBody>
      </p:sp>
      <p:sp>
        <p:nvSpPr>
          <p:cNvPr id="9" name="Rounded Rectangle 8"/>
          <p:cNvSpPr/>
          <p:nvPr/>
        </p:nvSpPr>
        <p:spPr>
          <a:xfrm>
            <a:off x="7635240" y="306324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35240" y="310896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2</a:t>
            </a:r>
          </a:p>
        </p:txBody>
      </p:sp>
      <p:sp>
        <p:nvSpPr>
          <p:cNvPr id="11" name="TextBox 10"/>
          <p:cNvSpPr txBox="1"/>
          <p:nvPr/>
        </p:nvSpPr>
        <p:spPr>
          <a:xfrm>
            <a:off x="8092440" y="304495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Two axes</a:t>
            </a:r>
          </a:p>
          <a:p>
            <a:pPr algn="l">
              <a:lnSpc>
                <a:spcPct val="120000"/>
              </a:lnSpc>
              <a:spcAft>
                <a:spcPts val="300"/>
              </a:spcAft>
            </a:pPr>
            <a:r>
              <a:rPr sz="1100" b="0" i="0">
                <a:solidFill>
                  <a:srgbClr val="64748B"/>
                </a:solidFill>
                <a:latin typeface="Arial"/>
              </a:rPr>
              <a:t>portfolio depth × geographic reach</a:t>
            </a:r>
          </a:p>
          <a:p>
            <a:pPr algn="l">
              <a:lnSpc>
                <a:spcPct val="125000"/>
              </a:lnSpc>
              <a:spcAft>
                <a:spcPts val="0"/>
              </a:spcAft>
            </a:pPr>
            <a:r>
              <a:rPr sz="1000" b="1" i="0">
                <a:solidFill>
                  <a:srgbClr val="BE0F05"/>
                </a:solidFill>
                <a:latin typeface="Arial"/>
              </a:rPr>
              <a:t>6 min</a:t>
            </a:r>
          </a:p>
        </p:txBody>
      </p:sp>
      <p:sp>
        <p:nvSpPr>
          <p:cNvPr id="12" name="Rounded Rectangle 11"/>
          <p:cNvSpPr/>
          <p:nvPr/>
        </p:nvSpPr>
        <p:spPr>
          <a:xfrm>
            <a:off x="7635240" y="438912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635240" y="443484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3</a:t>
            </a:r>
          </a:p>
        </p:txBody>
      </p:sp>
      <p:sp>
        <p:nvSpPr>
          <p:cNvPr id="14" name="TextBox 13"/>
          <p:cNvSpPr txBox="1"/>
          <p:nvPr/>
        </p:nvSpPr>
        <p:spPr>
          <a:xfrm>
            <a:off x="8092440" y="437083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Segment</a:t>
            </a:r>
          </a:p>
          <a:p>
            <a:pPr algn="l">
              <a:lnSpc>
                <a:spcPct val="120000"/>
              </a:lnSpc>
              <a:spcAft>
                <a:spcPts val="300"/>
              </a:spcAft>
            </a:pPr>
            <a:r>
              <a:rPr sz="1100" b="0" i="0">
                <a:solidFill>
                  <a:srgbClr val="64748B"/>
                </a:solidFill>
                <a:latin typeface="Arial"/>
              </a:rPr>
              <a:t>the grid, and the named shortlist you act on</a:t>
            </a:r>
          </a:p>
          <a:p>
            <a:pPr algn="l">
              <a:lnSpc>
                <a:spcPct val="125000"/>
              </a:lnSpc>
              <a:spcAft>
                <a:spcPts val="0"/>
              </a:spcAft>
            </a:pPr>
            <a:r>
              <a:rPr sz="1000" b="1" i="0">
                <a:solidFill>
                  <a:srgbClr val="BE0F05"/>
                </a:solidFill>
                <a:latin typeface="Arial"/>
              </a:rPr>
              <a:t>4 min</a:t>
            </a:r>
          </a:p>
        </p:txBody>
      </p:sp>
      <p:sp>
        <p:nvSpPr>
          <p:cNvPr id="15" name="TextBox 14"/>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4_lead_generation/</a:t>
            </a:r>
          </a:p>
        </p:txBody>
      </p:sp>
      <p:sp>
        <p:nvSpPr>
          <p:cNvPr id="16" name="TextBox 15"/>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ARNE — THE CLAIM, THEN THE LADDER · MODULE 4</a:t>
            </a:r>
          </a:p>
        </p:txBody>
      </p:sp>
      <p:sp>
        <p:nvSpPr>
          <p:cNvPr id="3" name="TextBox 2"/>
          <p:cNvSpPr txBox="1"/>
          <p:nvPr/>
        </p:nvSpPr>
        <p:spPr>
          <a:xfrm>
            <a:off x="7299655" y="457200"/>
            <a:ext cx="411480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Outcome</a:t>
            </a:r>
          </a:p>
        </p:txBody>
      </p:sp>
      <p:sp>
        <p:nvSpPr>
          <p:cNvPr id="4" name="TextBox 3"/>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2800" b="1" i="0">
                <a:solidFill>
                  <a:srgbClr val="1A1A1A"/>
                </a:solidFill>
                <a:latin typeface="Arial"/>
              </a:rPr>
              <a:t>What now exists</a:t>
            </a:r>
          </a:p>
        </p:txBody>
      </p:sp>
      <p:sp>
        <p:nvSpPr>
          <p:cNvPr id="5" name="Rounded Rectangle 4"/>
          <p:cNvSpPr/>
          <p:nvPr/>
        </p:nvSpPr>
        <p:spPr>
          <a:xfrm>
            <a:off x="777240" y="1783080"/>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A named shortlist of companies in your region — family count, depth tier, reach tier, zones</a:t>
            </a:r>
          </a:p>
        </p:txBody>
      </p:sp>
      <p:sp>
        <p:nvSpPr>
          <p:cNvPr id="6" name="Rounded Rectangle 5"/>
          <p:cNvSpPr/>
          <p:nvPr/>
        </p:nvSpPr>
        <p:spPr>
          <a:xfrm>
            <a:off x="777240" y="2624328"/>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The grid showing how your region distributes across the tiers</a:t>
            </a:r>
          </a:p>
        </p:txBody>
      </p:sp>
      <p:sp>
        <p:nvSpPr>
          <p:cNvPr id="7" name="Rounded Rectangle 6"/>
          <p:cNvSpPr/>
          <p:nvPr/>
        </p:nvSpPr>
        <p:spPr>
          <a:xfrm>
            <a:off x="777240" y="3465576"/>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One defensible sentence about what the list does not contain</a:t>
            </a:r>
          </a:p>
        </p:txBody>
      </p:sp>
      <p:sp>
        <p:nvSpPr>
          <p:cNvPr id="8" name="TextBox 7"/>
          <p:cNvSpPr txBox="1"/>
          <p:nvPr/>
        </p:nvSpPr>
        <p:spPr>
          <a:xfrm>
            <a:off x="777240" y="4443984"/>
            <a:ext cx="10637215" cy="274320"/>
          </a:xfrm>
          <a:prstGeom prst="rect">
            <a:avLst/>
          </a:prstGeom>
          <a:noFill/>
        </p:spPr>
        <p:txBody>
          <a:bodyPr wrap="square" anchor="t" lIns="0" rIns="0" tIns="0" bIns="0">
            <a:spAutoFit/>
          </a:bodyPr>
          <a:lstStyle/>
          <a:p>
            <a:pPr algn="l">
              <a:lnSpc>
                <a:spcPct val="125000"/>
              </a:lnSpc>
              <a:spcAft>
                <a:spcPts val="0"/>
              </a:spcAft>
            </a:pPr>
            <a:r>
              <a:rPr sz="1200" b="1" i="0">
                <a:solidFill>
                  <a:srgbClr val="BE0F05"/>
                </a:solidFill>
                <a:latin typeface="Arial"/>
              </a:rPr>
              <a:t>The one sentence to remember</a:t>
            </a:r>
          </a:p>
        </p:txBody>
      </p:sp>
      <p:sp>
        <p:nvSpPr>
          <p:cNvPr id="9" name="Rounded Rectangle 8"/>
          <p:cNvSpPr/>
          <p:nvPr/>
        </p:nvSpPr>
        <p:spPr>
          <a:xfrm>
            <a:off x="777240" y="4855464"/>
            <a:ext cx="10637215" cy="105156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a:lstStyle/>
          <a:p>
            <a:pPr algn="l">
              <a:lnSpc>
                <a:spcPct val="125000"/>
              </a:lnSpc>
              <a:spcAft>
                <a:spcPts val="0"/>
              </a:spcAft>
            </a:pPr>
            <a:r>
              <a:rPr sz="1600" b="1" i="0">
                <a:solidFill>
                  <a:srgbClr val="BE0F05"/>
                </a:solidFill>
                <a:latin typeface="Arial"/>
              </a:rPr>
              <a:t>This is the EP/PCT-active subset of your region. Roughly 70% of national families never take that route — say so under the table.</a:t>
            </a:r>
          </a:p>
        </p:txBody>
      </p:sp>
      <p:sp>
        <p:nvSpPr>
          <p:cNvPr id="10" name="TextBox 9"/>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4_lead_generation/</a:t>
            </a:r>
          </a:p>
        </p:txBody>
      </p:sp>
      <p:sp>
        <p:nvSpPr>
          <p:cNvPr id="11" name="TextBox 10"/>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RICCARDO — TWO USE CASES · MODULE 5</a:t>
            </a:r>
          </a:p>
        </p:txBody>
      </p:sp>
      <p:sp>
        <p:nvSpPr>
          <p:cNvPr id="3" name="TextBox 2"/>
          <p:cNvSpPr txBox="1"/>
          <p:nvPr/>
        </p:nvSpPr>
        <p:spPr>
          <a:xfrm>
            <a:off x="7299655" y="457200"/>
            <a:ext cx="411480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Landscape analyses after Riccardo Priore, Centro PATLIB, AREA Science Park</a:t>
            </a:r>
          </a:p>
        </p:txBody>
      </p:sp>
      <p:sp>
        <p:nvSpPr>
          <p:cNvPr id="4" name="TextBox 3"/>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3000" b="1" i="0">
                <a:solidFill>
                  <a:srgbClr val="1A1A1A"/>
                </a:solidFill>
                <a:latin typeface="Arial"/>
              </a:rPr>
              <a:t>Module 5 — Patent Landscape Reports</a:t>
            </a:r>
          </a:p>
        </p:txBody>
      </p:sp>
      <p:sp>
        <p:nvSpPr>
          <p:cNvPr id="5" name="Rounded Rectangle 4"/>
          <p:cNvSpPr/>
          <p:nvPr/>
        </p:nvSpPr>
        <p:spPr>
          <a:xfrm>
            <a:off x="777240" y="1783080"/>
            <a:ext cx="10637215" cy="13716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182880" bIns="182880"/>
          <a:lstStyle/>
          <a:p>
            <a:pPr algn="l">
              <a:lnSpc>
                <a:spcPct val="125000"/>
              </a:lnSpc>
              <a:spcAft>
                <a:spcPts val="0"/>
              </a:spcAft>
            </a:pPr>
            <a:r>
              <a:rPr sz="1800" b="0" i="1">
                <a:solidFill>
                  <a:srgbClr val="BE0F05"/>
                </a:solidFill>
                <a:latin typeface="Arial"/>
              </a:rPr>
              <a:t>"A regional cluster manager asks for a picture of what is happening in antibiotic resistance. Where do you start?"</a:t>
            </a:r>
          </a:p>
        </p:txBody>
      </p:sp>
      <p:sp>
        <p:nvSpPr>
          <p:cNvPr id="6" name="TextBox 5"/>
          <p:cNvSpPr txBox="1"/>
          <p:nvPr/>
        </p:nvSpPr>
        <p:spPr>
          <a:xfrm>
            <a:off x="777240" y="3429000"/>
            <a:ext cx="10637215" cy="274320"/>
          </a:xfrm>
          <a:prstGeom prst="rect">
            <a:avLst/>
          </a:prstGeom>
          <a:noFill/>
        </p:spPr>
        <p:txBody>
          <a:bodyPr wrap="square" anchor="t" lIns="0" rIns="0" tIns="0" bIns="0">
            <a:spAutoFit/>
          </a:bodyPr>
          <a:lstStyle/>
          <a:p>
            <a:pPr algn="l">
              <a:lnSpc>
                <a:spcPct val="125000"/>
              </a:lnSpc>
              <a:spcAft>
                <a:spcPts val="0"/>
              </a:spcAft>
            </a:pPr>
            <a:r>
              <a:rPr sz="1300" b="1" i="0">
                <a:solidFill>
                  <a:srgbClr val="BE0F05"/>
                </a:solidFill>
                <a:latin typeface="Arial"/>
              </a:rPr>
              <a:t>Why the obvious answer fails</a:t>
            </a:r>
          </a:p>
        </p:txBody>
      </p:sp>
      <p:sp>
        <p:nvSpPr>
          <p:cNvPr id="7" name="Oval 6"/>
          <p:cNvSpPr/>
          <p:nvPr/>
        </p:nvSpPr>
        <p:spPr>
          <a:xfrm>
            <a:off x="777240" y="398678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06424" y="3840480"/>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"drug resistance" is dominated by cancer — an oncology landscape wearing the wrong label.</a:t>
            </a:r>
          </a:p>
        </p:txBody>
      </p:sp>
      <p:sp>
        <p:nvSpPr>
          <p:cNvPr id="9" name="Oval 8"/>
          <p:cNvSpPr/>
          <p:nvPr/>
        </p:nvSpPr>
        <p:spPr>
          <a:xfrm>
            <a:off x="777240" y="455371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106424" y="4407408"/>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Bare acronyms — MRSA, VRE, ESBL — are noisy and appear where the subject is not.</a:t>
            </a:r>
          </a:p>
        </p:txBody>
      </p:sp>
      <p:sp>
        <p:nvSpPr>
          <p:cNvPr id="11" name="Oval 10"/>
          <p:cNvSpPr/>
          <p:nvPr/>
        </p:nvSpPr>
        <p:spPr>
          <a:xfrm>
            <a:off x="777240" y="5120640"/>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106424" y="4974336"/>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Neither is visible in the result: a large corpus, looking healthy, about something else.</a:t>
            </a:r>
          </a:p>
        </p:txBody>
      </p:sp>
      <p:sp>
        <p:nvSpPr>
          <p:cNvPr id="13" name="TextBox 12"/>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5_patentreports/</a:t>
            </a:r>
          </a:p>
        </p:txBody>
      </p:sp>
      <p:sp>
        <p:nvSpPr>
          <p:cNvPr id="14" name="TextBox 13"/>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RICCARDO — TWO USE CASES · MODULE 5</a:t>
            </a:r>
          </a:p>
        </p:txBody>
      </p:sp>
      <p:sp>
        <p:nvSpPr>
          <p:cNvPr id="3" name="TextBox 2"/>
          <p:cNvSpPr txBox="1"/>
          <p:nvPr/>
        </p:nvSpPr>
        <p:spPr>
          <a:xfrm>
            <a:off x="7299655" y="457200"/>
            <a:ext cx="411480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Use case 1 · 10 min</a:t>
            </a:r>
          </a:p>
        </p:txBody>
      </p:sp>
      <p:sp>
        <p:nvSpPr>
          <p:cNvPr id="4" name="TextBox 3"/>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2600" b="1" i="0">
                <a:solidFill>
                  <a:srgbClr val="1A1A1A"/>
                </a:solidFill>
                <a:latin typeface="Arial"/>
              </a:rPr>
              <a:t>Patent Landscape Reports</a:t>
            </a:r>
          </a:p>
        </p:txBody>
      </p:sp>
      <p:pic>
        <p:nvPicPr>
          <p:cNvPr id="5" name="Picture 4" descr="05.png"/>
          <p:cNvPicPr>
            <a:picLocks noChangeAspect="1"/>
          </p:cNvPicPr>
          <p:nvPr/>
        </p:nvPicPr>
        <p:blipFill>
          <a:blip r:embed="rId2"/>
          <a:stretch>
            <a:fillRect/>
          </a:stretch>
        </p:blipFill>
        <p:spPr>
          <a:xfrm>
            <a:off x="777240" y="2546396"/>
            <a:ext cx="6400800" cy="2359567"/>
          </a:xfrm>
          <a:prstGeom prst="rect">
            <a:avLst/>
          </a:prstGeom>
        </p:spPr>
      </p:pic>
      <p:sp>
        <p:nvSpPr>
          <p:cNvPr id="6" name="Rounded Rectangle 5"/>
          <p:cNvSpPr/>
          <p:nvPr/>
        </p:nvSpPr>
        <p:spPr>
          <a:xfrm>
            <a:off x="7635240" y="173736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35240" y="178308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1</a:t>
            </a:r>
          </a:p>
        </p:txBody>
      </p:sp>
      <p:sp>
        <p:nvSpPr>
          <p:cNvPr id="8" name="TextBox 7"/>
          <p:cNvSpPr txBox="1"/>
          <p:nvPr/>
        </p:nvSpPr>
        <p:spPr>
          <a:xfrm>
            <a:off x="8092440" y="171907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Define the corpus</a:t>
            </a:r>
          </a:p>
          <a:p>
            <a:pPr algn="l">
              <a:lnSpc>
                <a:spcPct val="120000"/>
              </a:lnSpc>
              <a:spcAft>
                <a:spcPts val="300"/>
              </a:spcAft>
            </a:pPr>
            <a:r>
              <a:rPr sz="1100" b="0" i="0">
                <a:solidFill>
                  <a:srgbClr val="64748B"/>
                </a:solidFill>
                <a:latin typeface="Arial"/>
              </a:rPr>
              <a:t>keywords AND (IPC OR CPC) — recall from one half, precision from the other</a:t>
            </a:r>
          </a:p>
          <a:p>
            <a:pPr algn="l">
              <a:lnSpc>
                <a:spcPct val="125000"/>
              </a:lnSpc>
              <a:spcAft>
                <a:spcPts val="0"/>
              </a:spcAft>
            </a:pPr>
            <a:r>
              <a:rPr sz="1000" b="1" i="0">
                <a:solidFill>
                  <a:srgbClr val="BE0F05"/>
                </a:solidFill>
                <a:latin typeface="Arial"/>
              </a:rPr>
              <a:t>3 min</a:t>
            </a:r>
          </a:p>
        </p:txBody>
      </p:sp>
      <p:sp>
        <p:nvSpPr>
          <p:cNvPr id="9" name="Rounded Rectangle 8"/>
          <p:cNvSpPr/>
          <p:nvPr/>
        </p:nvSpPr>
        <p:spPr>
          <a:xfrm>
            <a:off x="7635240" y="306324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35240" y="310896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2</a:t>
            </a:r>
          </a:p>
        </p:txBody>
      </p:sp>
      <p:sp>
        <p:nvSpPr>
          <p:cNvPr id="11" name="TextBox 10"/>
          <p:cNvSpPr txBox="1"/>
          <p:nvPr/>
        </p:nvSpPr>
        <p:spPr>
          <a:xfrm>
            <a:off x="8092440" y="304495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Run the battery</a:t>
            </a:r>
          </a:p>
          <a:p>
            <a:pPr algn="l">
              <a:lnSpc>
                <a:spcPct val="120000"/>
              </a:lnSpc>
              <a:spcAft>
                <a:spcPts val="300"/>
              </a:spcAft>
            </a:pPr>
            <a:r>
              <a:rPr sz="1100" b="0" i="0">
                <a:solidFill>
                  <a:srgbClr val="64748B"/>
                </a:solidFill>
                <a:latin typeface="Arial"/>
              </a:rPr>
              <a:t>13 charts: who, where, when, how it connects</a:t>
            </a:r>
          </a:p>
          <a:p>
            <a:pPr algn="l">
              <a:lnSpc>
                <a:spcPct val="125000"/>
              </a:lnSpc>
              <a:spcAft>
                <a:spcPts val="0"/>
              </a:spcAft>
            </a:pPr>
            <a:r>
              <a:rPr sz="1000" b="1" i="0">
                <a:solidFill>
                  <a:srgbClr val="BE0F05"/>
                </a:solidFill>
                <a:latin typeface="Arial"/>
              </a:rPr>
              <a:t>4 min</a:t>
            </a:r>
          </a:p>
        </p:txBody>
      </p:sp>
      <p:sp>
        <p:nvSpPr>
          <p:cNvPr id="12" name="Rounded Rectangle 11"/>
          <p:cNvSpPr/>
          <p:nvPr/>
        </p:nvSpPr>
        <p:spPr>
          <a:xfrm>
            <a:off x="7635240" y="438912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635240" y="443484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3</a:t>
            </a:r>
          </a:p>
        </p:txBody>
      </p:sp>
      <p:sp>
        <p:nvSpPr>
          <p:cNvPr id="14" name="TextBox 13"/>
          <p:cNvSpPr txBox="1"/>
          <p:nvPr/>
        </p:nvSpPr>
        <p:spPr>
          <a:xfrm>
            <a:off x="8092440" y="437083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Assemble</a:t>
            </a:r>
          </a:p>
          <a:p>
            <a:pPr algn="l">
              <a:lnSpc>
                <a:spcPct val="120000"/>
              </a:lnSpc>
              <a:spcAft>
                <a:spcPts val="300"/>
              </a:spcAft>
            </a:pPr>
            <a:r>
              <a:rPr sz="1100" b="0" i="0">
                <a:solidFill>
                  <a:srgbClr val="64748B"/>
                </a:solidFill>
                <a:latin typeface="Arial"/>
              </a:rPr>
              <a:t>one self-contained HTML report + one workbook</a:t>
            </a:r>
          </a:p>
          <a:p>
            <a:pPr algn="l">
              <a:lnSpc>
                <a:spcPct val="125000"/>
              </a:lnSpc>
              <a:spcAft>
                <a:spcPts val="0"/>
              </a:spcAft>
            </a:pPr>
            <a:r>
              <a:rPr sz="1000" b="1" i="0">
                <a:solidFill>
                  <a:srgbClr val="BE0F05"/>
                </a:solidFill>
                <a:latin typeface="Arial"/>
              </a:rPr>
              <a:t>3 min</a:t>
            </a:r>
          </a:p>
        </p:txBody>
      </p:sp>
      <p:sp>
        <p:nvSpPr>
          <p:cNvPr id="15" name="TextBox 14"/>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5_patentreports/</a:t>
            </a:r>
          </a:p>
        </p:txBody>
      </p:sp>
      <p:sp>
        <p:nvSpPr>
          <p:cNvPr id="16" name="TextBox 15"/>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RICCARDO — TWO USE CASES · MODULE 5</a:t>
            </a:r>
          </a:p>
        </p:txBody>
      </p:sp>
      <p:sp>
        <p:nvSpPr>
          <p:cNvPr id="3" name="TextBox 2"/>
          <p:cNvSpPr txBox="1"/>
          <p:nvPr/>
        </p:nvSpPr>
        <p:spPr>
          <a:xfrm>
            <a:off x="7299655" y="457200"/>
            <a:ext cx="411480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Outcome</a:t>
            </a:r>
          </a:p>
        </p:txBody>
      </p:sp>
      <p:sp>
        <p:nvSpPr>
          <p:cNvPr id="4" name="TextBox 3"/>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2800" b="1" i="0">
                <a:solidFill>
                  <a:srgbClr val="1A1A1A"/>
                </a:solidFill>
                <a:latin typeface="Arial"/>
              </a:rPr>
              <a:t>What now exists</a:t>
            </a:r>
          </a:p>
        </p:txBody>
      </p:sp>
      <p:sp>
        <p:nvSpPr>
          <p:cNvPr id="5" name="Rounded Rectangle 4"/>
          <p:cNvSpPr/>
          <p:nvPr/>
        </p:nvSpPr>
        <p:spPr>
          <a:xfrm>
            <a:off x="777240" y="1783080"/>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One self-contained HTML report, 13 charts, no internet needed</a:t>
            </a:r>
          </a:p>
        </p:txBody>
      </p:sp>
      <p:sp>
        <p:nvSpPr>
          <p:cNvPr id="6" name="Rounded Rectangle 5"/>
          <p:cNvSpPr/>
          <p:nvPr/>
        </p:nvSpPr>
        <p:spPr>
          <a:xfrm>
            <a:off x="777240" y="2624328"/>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One workbook carrying the data behind every chart</a:t>
            </a:r>
          </a:p>
        </p:txBody>
      </p:sp>
      <p:sp>
        <p:nvSpPr>
          <p:cNvPr id="7" name="Rounded Rectangle 6"/>
          <p:cNvSpPr/>
          <p:nvPr/>
        </p:nvSpPr>
        <p:spPr>
          <a:xfrm>
            <a:off x="777240" y="3465576"/>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A written search strategy — including its exclusions</a:t>
            </a:r>
          </a:p>
        </p:txBody>
      </p:sp>
      <p:sp>
        <p:nvSpPr>
          <p:cNvPr id="8" name="TextBox 7"/>
          <p:cNvSpPr txBox="1"/>
          <p:nvPr/>
        </p:nvSpPr>
        <p:spPr>
          <a:xfrm>
            <a:off x="777240" y="4443984"/>
            <a:ext cx="10637215" cy="274320"/>
          </a:xfrm>
          <a:prstGeom prst="rect">
            <a:avLst/>
          </a:prstGeom>
          <a:noFill/>
        </p:spPr>
        <p:txBody>
          <a:bodyPr wrap="square" anchor="t" lIns="0" rIns="0" tIns="0" bIns="0">
            <a:spAutoFit/>
          </a:bodyPr>
          <a:lstStyle/>
          <a:p>
            <a:pPr algn="l">
              <a:lnSpc>
                <a:spcPct val="125000"/>
              </a:lnSpc>
              <a:spcAft>
                <a:spcPts val="0"/>
              </a:spcAft>
            </a:pPr>
            <a:r>
              <a:rPr sz="1200" b="1" i="0">
                <a:solidFill>
                  <a:srgbClr val="BE0F05"/>
                </a:solidFill>
                <a:latin typeface="Arial"/>
              </a:rPr>
              <a:t>The one sentence to remember</a:t>
            </a:r>
          </a:p>
        </p:txBody>
      </p:sp>
      <p:sp>
        <p:nvSpPr>
          <p:cNvPr id="9" name="Rounded Rectangle 8"/>
          <p:cNvSpPr/>
          <p:nvPr/>
        </p:nvSpPr>
        <p:spPr>
          <a:xfrm>
            <a:off x="777240" y="4855464"/>
            <a:ext cx="10637215" cy="105156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a:lstStyle/>
          <a:p>
            <a:pPr algn="l">
              <a:lnSpc>
                <a:spcPct val="125000"/>
              </a:lnSpc>
              <a:spcAft>
                <a:spcPts val="0"/>
              </a:spcAft>
            </a:pPr>
            <a:r>
              <a:rPr sz="1600" b="1" i="0">
                <a:solidFill>
                  <a:srgbClr val="BE0F05"/>
                </a:solidFill>
                <a:latin typeface="Arial"/>
              </a:rPr>
              <a:t>The analyses are generic. The corpus definition is the part that is yours, and the part you have to defend.</a:t>
            </a:r>
          </a:p>
        </p:txBody>
      </p:sp>
      <p:sp>
        <p:nvSpPr>
          <p:cNvPr id="10" name="TextBox 9"/>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5_patentreports/</a:t>
            </a:r>
          </a:p>
        </p:txBody>
      </p:sp>
      <p:sp>
        <p:nvSpPr>
          <p:cNvPr id="11" name="TextBox 10"/>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RICCARDO — TWO USE CASES · MODULE 6</a:t>
            </a:r>
          </a:p>
        </p:txBody>
      </p:sp>
      <p:sp>
        <p:nvSpPr>
          <p:cNvPr id="3" name="TextBox 2"/>
          <p:cNvSpPr txBox="1"/>
          <p:nvPr/>
        </p:nvSpPr>
        <p:spPr>
          <a:xfrm>
            <a:off x="7299655" y="457200"/>
            <a:ext cx="411480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IPScore is an EPO tool; this is the course's own implementation of the 3.01 model</a:t>
            </a:r>
          </a:p>
        </p:txBody>
      </p:sp>
      <p:sp>
        <p:nvSpPr>
          <p:cNvPr id="4" name="TextBox 3"/>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3000" b="1" i="0">
                <a:solidFill>
                  <a:srgbClr val="1A1A1A"/>
                </a:solidFill>
                <a:latin typeface="Arial"/>
              </a:rPr>
              <a:t>Module 6 — What is this patent worth?</a:t>
            </a:r>
          </a:p>
        </p:txBody>
      </p:sp>
      <p:sp>
        <p:nvSpPr>
          <p:cNvPr id="5" name="Rounded Rectangle 4"/>
          <p:cNvSpPr/>
          <p:nvPr/>
        </p:nvSpPr>
        <p:spPr>
          <a:xfrm>
            <a:off x="777240" y="1783080"/>
            <a:ext cx="10637215" cy="13716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182880" bIns="182880"/>
          <a:lstStyle/>
          <a:p>
            <a:pPr algn="l">
              <a:lnSpc>
                <a:spcPct val="125000"/>
              </a:lnSpc>
              <a:spcAft>
                <a:spcPts val="0"/>
              </a:spcAft>
            </a:pPr>
            <a:r>
              <a:rPr sz="1800" b="0" i="1">
                <a:solidFill>
                  <a:srgbClr val="BE0F05"/>
                </a:solidFill>
                <a:latin typeface="Arial"/>
              </a:rPr>
              <a:t>"A client puts a granted European patent on the table and asks what it is worth."</a:t>
            </a:r>
          </a:p>
        </p:txBody>
      </p:sp>
      <p:sp>
        <p:nvSpPr>
          <p:cNvPr id="6" name="TextBox 5"/>
          <p:cNvSpPr txBox="1"/>
          <p:nvPr/>
        </p:nvSpPr>
        <p:spPr>
          <a:xfrm>
            <a:off x="777240" y="3429000"/>
            <a:ext cx="10637215" cy="274320"/>
          </a:xfrm>
          <a:prstGeom prst="rect">
            <a:avLst/>
          </a:prstGeom>
          <a:noFill/>
        </p:spPr>
        <p:txBody>
          <a:bodyPr wrap="square" anchor="t" lIns="0" rIns="0" tIns="0" bIns="0">
            <a:spAutoFit/>
          </a:bodyPr>
          <a:lstStyle/>
          <a:p>
            <a:pPr algn="l">
              <a:lnSpc>
                <a:spcPct val="125000"/>
              </a:lnSpc>
              <a:spcAft>
                <a:spcPts val="0"/>
              </a:spcAft>
            </a:pPr>
            <a:r>
              <a:rPr sz="1300" b="1" i="0">
                <a:solidFill>
                  <a:srgbClr val="BE0F05"/>
                </a:solidFill>
                <a:latin typeface="Arial"/>
              </a:rPr>
              <a:t>Why the obvious answer fails</a:t>
            </a:r>
          </a:p>
        </p:txBody>
      </p:sp>
      <p:sp>
        <p:nvSpPr>
          <p:cNvPr id="7" name="Oval 6"/>
          <p:cNvSpPr/>
          <p:nvPr/>
        </p:nvSpPr>
        <p:spPr>
          <a:xfrm>
            <a:off x="777240" y="398678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06424" y="3840480"/>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Renewal costs, comparable licence rates, "it depends" — or that the question is unanswerable.</a:t>
            </a:r>
          </a:p>
        </p:txBody>
      </p:sp>
      <p:sp>
        <p:nvSpPr>
          <p:cNvPr id="9" name="Oval 8"/>
          <p:cNvSpPr/>
          <p:nvPr/>
        </p:nvSpPr>
        <p:spPr>
          <a:xfrm>
            <a:off x="777240" y="455371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106424" y="4407408"/>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IPScore answers it: 40 questions, seven figures from the accounts, a ten-year discounted cash flow.</a:t>
            </a:r>
          </a:p>
        </p:txBody>
      </p:sp>
      <p:sp>
        <p:nvSpPr>
          <p:cNvPr id="11" name="Oval 10"/>
          <p:cNvSpPr/>
          <p:nvPr/>
        </p:nvSpPr>
        <p:spPr>
          <a:xfrm>
            <a:off x="777240" y="5120640"/>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106424" y="4974336"/>
            <a:ext cx="10308031" cy="502920"/>
          </a:xfrm>
          <a:prstGeom prst="rect">
            <a:avLst/>
          </a:prstGeom>
          <a:noFill/>
        </p:spPr>
        <p:txBody>
          <a:bodyPr wrap="square" anchor="t" lIns="0" rIns="0" tIns="0" bIns="0">
            <a:spAutoFit/>
          </a:bodyPr>
          <a:lstStyle/>
          <a:p>
            <a:pPr algn="l">
              <a:lnSpc>
                <a:spcPct val="125000"/>
              </a:lnSpc>
              <a:spcAft>
                <a:spcPts val="0"/>
              </a:spcAft>
            </a:pPr>
            <a:r>
              <a:rPr sz="1400" b="0" i="0">
                <a:solidFill>
                  <a:srgbClr val="1A1A1A"/>
                </a:solidFill>
                <a:latin typeface="Arial"/>
              </a:rPr>
              <a:t>And then: all 40 answers come from a person. The engine is exact; its inputs are opinions.</a:t>
            </a:r>
          </a:p>
        </p:txBody>
      </p:sp>
      <p:sp>
        <p:nvSpPr>
          <p:cNvPr id="13" name="TextBox 12"/>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6_ipscore_rebuild/</a:t>
            </a:r>
          </a:p>
        </p:txBody>
      </p:sp>
      <p:sp>
        <p:nvSpPr>
          <p:cNvPr id="14" name="TextBox 13"/>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RICCARDO — TWO USE CASES · MODULE 6</a:t>
            </a:r>
          </a:p>
        </p:txBody>
      </p:sp>
      <p:sp>
        <p:nvSpPr>
          <p:cNvPr id="3" name="TextBox 2"/>
          <p:cNvSpPr txBox="1"/>
          <p:nvPr/>
        </p:nvSpPr>
        <p:spPr>
          <a:xfrm>
            <a:off x="7299655" y="457200"/>
            <a:ext cx="411480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Use case 2 · 10 min</a:t>
            </a:r>
          </a:p>
        </p:txBody>
      </p:sp>
      <p:sp>
        <p:nvSpPr>
          <p:cNvPr id="4" name="TextBox 3"/>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2600" b="1" i="0">
                <a:solidFill>
                  <a:srgbClr val="1A1A1A"/>
                </a:solidFill>
                <a:latin typeface="Arial"/>
              </a:rPr>
              <a:t>What is this patent worth?</a:t>
            </a:r>
          </a:p>
        </p:txBody>
      </p:sp>
      <p:pic>
        <p:nvPicPr>
          <p:cNvPr id="5" name="Picture 4" descr="06.png"/>
          <p:cNvPicPr>
            <a:picLocks noChangeAspect="1"/>
          </p:cNvPicPr>
          <p:nvPr/>
        </p:nvPicPr>
        <p:blipFill>
          <a:blip r:embed="rId2"/>
          <a:stretch>
            <a:fillRect/>
          </a:stretch>
        </p:blipFill>
        <p:spPr>
          <a:xfrm>
            <a:off x="777240" y="2367464"/>
            <a:ext cx="6400800" cy="2717430"/>
          </a:xfrm>
          <a:prstGeom prst="rect">
            <a:avLst/>
          </a:prstGeom>
        </p:spPr>
      </p:pic>
      <p:sp>
        <p:nvSpPr>
          <p:cNvPr id="6" name="Rounded Rectangle 5"/>
          <p:cNvSpPr/>
          <p:nvPr/>
        </p:nvSpPr>
        <p:spPr>
          <a:xfrm>
            <a:off x="7635240" y="173736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35240" y="178308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1</a:t>
            </a:r>
          </a:p>
        </p:txBody>
      </p:sp>
      <p:sp>
        <p:nvSpPr>
          <p:cNvPr id="8" name="TextBox 7"/>
          <p:cNvSpPr txBox="1"/>
          <p:nvPr/>
        </p:nvSpPr>
        <p:spPr>
          <a:xfrm>
            <a:off x="8092440" y="171907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The model</a:t>
            </a:r>
          </a:p>
          <a:p>
            <a:pPr algn="l">
              <a:lnSpc>
                <a:spcPct val="120000"/>
              </a:lnSpc>
              <a:spcAft>
                <a:spcPts val="300"/>
              </a:spcAft>
            </a:pPr>
            <a:r>
              <a:rPr sz="1100" b="0" i="0">
                <a:solidFill>
                  <a:srgbClr val="64748B"/>
                </a:solidFill>
                <a:latin typeface="Arial"/>
              </a:rPr>
              <a:t>40 questions — and only 8 of them touch the money</a:t>
            </a:r>
          </a:p>
          <a:p>
            <a:pPr algn="l">
              <a:lnSpc>
                <a:spcPct val="125000"/>
              </a:lnSpc>
              <a:spcAft>
                <a:spcPts val="0"/>
              </a:spcAft>
            </a:pPr>
            <a:r>
              <a:rPr sz="1000" b="1" i="0">
                <a:solidFill>
                  <a:srgbClr val="BE0F05"/>
                </a:solidFill>
                <a:latin typeface="Arial"/>
              </a:rPr>
              <a:t>3 min</a:t>
            </a:r>
          </a:p>
        </p:txBody>
      </p:sp>
      <p:sp>
        <p:nvSpPr>
          <p:cNvPr id="9" name="Rounded Rectangle 8"/>
          <p:cNvSpPr/>
          <p:nvPr/>
        </p:nvSpPr>
        <p:spPr>
          <a:xfrm>
            <a:off x="7635240" y="306324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35240" y="310896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2</a:t>
            </a:r>
          </a:p>
        </p:txBody>
      </p:sp>
      <p:sp>
        <p:nvSpPr>
          <p:cNvPr id="11" name="TextBox 10"/>
          <p:cNvSpPr txBox="1"/>
          <p:nvPr/>
        </p:nvSpPr>
        <p:spPr>
          <a:xfrm>
            <a:off x="8092440" y="304495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The finished report</a:t>
            </a:r>
          </a:p>
          <a:p>
            <a:pPr algn="l">
              <a:lnSpc>
                <a:spcPct val="120000"/>
              </a:lnSpc>
              <a:spcAft>
                <a:spcPts val="300"/>
              </a:spcAft>
            </a:pPr>
            <a:r>
              <a:rPr sz="1100" b="0" i="0">
                <a:solidFill>
                  <a:srgbClr val="64748B"/>
                </a:solidFill>
                <a:latin typeface="Arial"/>
              </a:rPr>
              <a:t>NPV 1,248,870 EUR · 139/200 points · 2 measured, 6 informed, 32 judgement</a:t>
            </a:r>
          </a:p>
          <a:p>
            <a:pPr algn="l">
              <a:lnSpc>
                <a:spcPct val="125000"/>
              </a:lnSpc>
              <a:spcAft>
                <a:spcPts val="0"/>
              </a:spcAft>
            </a:pPr>
            <a:r>
              <a:rPr sz="1000" b="1" i="0">
                <a:solidFill>
                  <a:srgbClr val="BE0F05"/>
                </a:solidFill>
                <a:latin typeface="Arial"/>
              </a:rPr>
              <a:t>4 min</a:t>
            </a:r>
          </a:p>
        </p:txBody>
      </p:sp>
      <p:sp>
        <p:nvSpPr>
          <p:cNvPr id="12" name="Rounded Rectangle 11"/>
          <p:cNvSpPr/>
          <p:nvPr/>
        </p:nvSpPr>
        <p:spPr>
          <a:xfrm>
            <a:off x="7635240" y="4389120"/>
            <a:ext cx="310896" cy="310896"/>
          </a:xfrm>
          <a:prstGeom prst="roundRect">
            <a:avLst>
              <a:gd name="adj" fmla="val 20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635240" y="4434840"/>
            <a:ext cx="310896" cy="274320"/>
          </a:xfrm>
          <a:prstGeom prst="rect">
            <a:avLst/>
          </a:prstGeom>
          <a:noFill/>
        </p:spPr>
        <p:txBody>
          <a:bodyPr wrap="square" anchor="t" lIns="0" rIns="0" tIns="0" bIns="0">
            <a:spAutoFit/>
          </a:bodyPr>
          <a:lstStyle/>
          <a:p>
            <a:pPr algn="ctr">
              <a:lnSpc>
                <a:spcPct val="125000"/>
              </a:lnSpc>
              <a:spcAft>
                <a:spcPts val="0"/>
              </a:spcAft>
            </a:pPr>
            <a:r>
              <a:rPr sz="1200" b="1" i="0">
                <a:solidFill>
                  <a:srgbClr val="FFFFFF"/>
                </a:solidFill>
                <a:latin typeface="Arial"/>
              </a:rPr>
              <a:t>3</a:t>
            </a:r>
          </a:p>
        </p:txBody>
      </p:sp>
      <p:sp>
        <p:nvSpPr>
          <p:cNvPr id="14" name="TextBox 13"/>
          <p:cNvSpPr txBox="1"/>
          <p:nvPr/>
        </p:nvSpPr>
        <p:spPr>
          <a:xfrm>
            <a:off x="8092440" y="4370832"/>
            <a:ext cx="3322015" cy="1097280"/>
          </a:xfrm>
          <a:prstGeom prst="rect">
            <a:avLst/>
          </a:prstGeom>
          <a:noFill/>
        </p:spPr>
        <p:txBody>
          <a:bodyPr wrap="square" anchor="t" lIns="0" rIns="0" tIns="0" bIns="0">
            <a:spAutoFit/>
          </a:bodyPr>
          <a:lstStyle/>
          <a:p>
            <a:pPr algn="l">
              <a:lnSpc>
                <a:spcPct val="125000"/>
              </a:lnSpc>
              <a:spcAft>
                <a:spcPts val="300"/>
              </a:spcAft>
            </a:pPr>
            <a:r>
              <a:rPr sz="1500" b="1" i="0">
                <a:solidFill>
                  <a:srgbClr val="1A1A1A"/>
                </a:solidFill>
                <a:latin typeface="Arial"/>
              </a:rPr>
              <a:t>The lever</a:t>
            </a:r>
          </a:p>
          <a:p>
            <a:pPr algn="l">
              <a:lnSpc>
                <a:spcPct val="120000"/>
              </a:lnSpc>
              <a:spcAft>
                <a:spcPts val="300"/>
              </a:spcAft>
            </a:pPr>
            <a:r>
              <a:rPr sz="1100" b="0" i="0">
                <a:solidFill>
                  <a:srgbClr val="64748B"/>
                </a:solidFill>
                <a:latin typeface="Arial"/>
              </a:rPr>
              <a:t>widest ≠ worth pulling: C3 has an upside of exactly zero</a:t>
            </a:r>
          </a:p>
          <a:p>
            <a:pPr algn="l">
              <a:lnSpc>
                <a:spcPct val="125000"/>
              </a:lnSpc>
              <a:spcAft>
                <a:spcPts val="0"/>
              </a:spcAft>
            </a:pPr>
            <a:r>
              <a:rPr sz="1000" b="1" i="0">
                <a:solidFill>
                  <a:srgbClr val="BE0F05"/>
                </a:solidFill>
                <a:latin typeface="Arial"/>
              </a:rPr>
              <a:t>3 min</a:t>
            </a:r>
          </a:p>
        </p:txBody>
      </p:sp>
      <p:sp>
        <p:nvSpPr>
          <p:cNvPr id="15" name="TextBox 14"/>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6_ipscore_rebuild/</a:t>
            </a:r>
          </a:p>
        </p:txBody>
      </p:sp>
      <p:sp>
        <p:nvSpPr>
          <p:cNvPr id="16" name="TextBox 15"/>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RICCARDO — TWO USE CASES · MODULE 6</a:t>
            </a:r>
          </a:p>
        </p:txBody>
      </p:sp>
      <p:sp>
        <p:nvSpPr>
          <p:cNvPr id="3" name="TextBox 2"/>
          <p:cNvSpPr txBox="1"/>
          <p:nvPr/>
        </p:nvSpPr>
        <p:spPr>
          <a:xfrm>
            <a:off x="7299655" y="457200"/>
            <a:ext cx="411480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Outcome</a:t>
            </a:r>
          </a:p>
        </p:txBody>
      </p:sp>
      <p:sp>
        <p:nvSpPr>
          <p:cNvPr id="4" name="TextBox 3"/>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2800" b="1" i="0">
                <a:solidFill>
                  <a:srgbClr val="1A1A1A"/>
                </a:solidFill>
                <a:latin typeface="Arial"/>
              </a:rPr>
              <a:t>What now exists</a:t>
            </a:r>
          </a:p>
        </p:txBody>
      </p:sp>
      <p:sp>
        <p:nvSpPr>
          <p:cNvPr id="5" name="Rounded Rectangle 4"/>
          <p:cNvSpPr/>
          <p:nvPr/>
        </p:nvSpPr>
        <p:spPr>
          <a:xfrm>
            <a:off x="777240" y="1783080"/>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A verified implementation of the EPO IPScore model, seen from the inside</a:t>
            </a:r>
          </a:p>
        </p:txBody>
      </p:sp>
      <p:sp>
        <p:nvSpPr>
          <p:cNvPr id="6" name="Rounded Rectangle 5"/>
          <p:cNvSpPr/>
          <p:nvPr/>
        </p:nvSpPr>
        <p:spPr>
          <a:xfrm>
            <a:off x="777240" y="2624328"/>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One completed valuation of a real patent — NPV and profile</a:t>
            </a:r>
          </a:p>
        </p:txBody>
      </p:sp>
      <p:sp>
        <p:nvSpPr>
          <p:cNvPr id="7" name="Rounded Rectangle 6"/>
          <p:cNvSpPr/>
          <p:nvPr/>
        </p:nvSpPr>
        <p:spPr>
          <a:xfrm>
            <a:off x="777240" y="3465576"/>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0000"/>
              </a:lnSpc>
              <a:spcAft>
                <a:spcPts val="0"/>
              </a:spcAft>
            </a:pPr>
            <a:r>
              <a:rPr sz="1400" b="0" i="0">
                <a:solidFill>
                  <a:srgbClr val="1A1A1A"/>
                </a:solidFill>
                <a:latin typeface="Arial"/>
              </a:rPr>
              <a:t>A statement of how much of that number is evidence</a:t>
            </a:r>
          </a:p>
        </p:txBody>
      </p:sp>
      <p:sp>
        <p:nvSpPr>
          <p:cNvPr id="8" name="TextBox 7"/>
          <p:cNvSpPr txBox="1"/>
          <p:nvPr/>
        </p:nvSpPr>
        <p:spPr>
          <a:xfrm>
            <a:off x="777240" y="4443984"/>
            <a:ext cx="10637215" cy="274320"/>
          </a:xfrm>
          <a:prstGeom prst="rect">
            <a:avLst/>
          </a:prstGeom>
          <a:noFill/>
        </p:spPr>
        <p:txBody>
          <a:bodyPr wrap="square" anchor="t" lIns="0" rIns="0" tIns="0" bIns="0">
            <a:spAutoFit/>
          </a:bodyPr>
          <a:lstStyle/>
          <a:p>
            <a:pPr algn="l">
              <a:lnSpc>
                <a:spcPct val="125000"/>
              </a:lnSpc>
              <a:spcAft>
                <a:spcPts val="0"/>
              </a:spcAft>
            </a:pPr>
            <a:r>
              <a:rPr sz="1200" b="1" i="0">
                <a:solidFill>
                  <a:srgbClr val="BE0F05"/>
                </a:solidFill>
                <a:latin typeface="Arial"/>
              </a:rPr>
              <a:t>The one sentence to remember</a:t>
            </a:r>
          </a:p>
        </p:txBody>
      </p:sp>
      <p:sp>
        <p:nvSpPr>
          <p:cNvPr id="9" name="Rounded Rectangle 8"/>
          <p:cNvSpPr/>
          <p:nvPr/>
        </p:nvSpPr>
        <p:spPr>
          <a:xfrm>
            <a:off x="777240" y="4855464"/>
            <a:ext cx="10637215" cy="105156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a:lstStyle/>
          <a:p>
            <a:pPr algn="l">
              <a:lnSpc>
                <a:spcPct val="125000"/>
              </a:lnSpc>
              <a:spcAft>
                <a:spcPts val="0"/>
              </a:spcAft>
            </a:pPr>
            <a:r>
              <a:rPr sz="1600" b="1" i="0">
                <a:solidFill>
                  <a:srgbClr val="BE0F05"/>
                </a:solidFill>
                <a:latin typeface="Arial"/>
              </a:rPr>
              <a:t>None of the 11 questions PATSTAT can check is one of the 8 that carry money. What a database can check and what a valuation depends on barely overlap.</a:t>
            </a:r>
          </a:p>
        </p:txBody>
      </p:sp>
      <p:sp>
        <p:nvSpPr>
          <p:cNvPr id="10" name="TextBox 9"/>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6_ipscore_rebuild/</a:t>
            </a:r>
          </a:p>
        </p:txBody>
      </p:sp>
      <p:sp>
        <p:nvSpPr>
          <p:cNvPr id="11" name="TextBox 10"/>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822960"/>
            <a:ext cx="10637215" cy="914400"/>
          </a:xfrm>
          <a:prstGeom prst="rect">
            <a:avLst/>
          </a:prstGeom>
          <a:noFill/>
        </p:spPr>
        <p:txBody>
          <a:bodyPr wrap="square" anchor="t" lIns="0" rIns="0" tIns="0" bIns="0">
            <a:spAutoFit/>
          </a:bodyPr>
          <a:lstStyle/>
          <a:p>
            <a:pPr algn="l">
              <a:lnSpc>
                <a:spcPct val="110000"/>
              </a:lnSpc>
              <a:spcAft>
                <a:spcPts val="0"/>
              </a:spcAft>
            </a:pPr>
            <a:r>
              <a:rPr sz="3400" b="1" i="0">
                <a:solidFill>
                  <a:srgbClr val="1A1A1A"/>
                </a:solidFill>
                <a:latin typeface="Arial"/>
              </a:rPr>
              <a:t>What you leave with</a:t>
            </a:r>
          </a:p>
        </p:txBody>
      </p:sp>
      <p:sp>
        <p:nvSpPr>
          <p:cNvPr id="4" name="Oval 3"/>
          <p:cNvSpPr/>
          <p:nvPr/>
        </p:nvSpPr>
        <p:spPr>
          <a:xfrm>
            <a:off x="777240" y="2194560"/>
            <a:ext cx="109728" cy="109728"/>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61288" y="2011680"/>
            <a:ext cx="10253167" cy="640080"/>
          </a:xfrm>
          <a:prstGeom prst="rect">
            <a:avLst/>
          </a:prstGeom>
          <a:noFill/>
        </p:spPr>
        <p:txBody>
          <a:bodyPr wrap="square" anchor="t" lIns="0" rIns="0" tIns="0" bIns="0">
            <a:spAutoFit/>
          </a:bodyPr>
          <a:lstStyle/>
          <a:p>
            <a:pPr algn="l">
              <a:lnSpc>
                <a:spcPct val="125000"/>
              </a:lnSpc>
              <a:spcAft>
                <a:spcPts val="0"/>
              </a:spcAft>
            </a:pPr>
            <a:r>
              <a:rPr sz="1700" b="0" i="0">
                <a:solidFill>
                  <a:srgbClr val="1A1A1A"/>
                </a:solidFill>
                <a:latin typeface="Arial"/>
              </a:rPr>
              <a:t>An assistant on TIP that survives the restart — and writes the SQL you were told you had to learn</a:t>
            </a:r>
          </a:p>
        </p:txBody>
      </p:sp>
      <p:sp>
        <p:nvSpPr>
          <p:cNvPr id="6" name="Oval 5"/>
          <p:cNvSpPr/>
          <p:nvPr/>
        </p:nvSpPr>
        <p:spPr>
          <a:xfrm>
            <a:off x="777240" y="3063240"/>
            <a:ext cx="109728" cy="109728"/>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61288" y="2880360"/>
            <a:ext cx="10253167" cy="640080"/>
          </a:xfrm>
          <a:prstGeom prst="rect">
            <a:avLst/>
          </a:prstGeom>
          <a:noFill/>
        </p:spPr>
        <p:txBody>
          <a:bodyPr wrap="square" anchor="t" lIns="0" rIns="0" tIns="0" bIns="0">
            <a:spAutoFit/>
          </a:bodyPr>
          <a:lstStyle/>
          <a:p>
            <a:pPr algn="l">
              <a:lnSpc>
                <a:spcPct val="125000"/>
              </a:lnSpc>
              <a:spcAft>
                <a:spcPts val="0"/>
              </a:spcAft>
            </a:pPr>
            <a:r>
              <a:rPr sz="1700" b="0" i="0">
                <a:solidFill>
                  <a:srgbClr val="1A1A1A"/>
                </a:solidFill>
                <a:latin typeface="Arial"/>
              </a:rPr>
              <a:t>Three worked examples, in rising order of ambition: a ready question · the same query as an app · a named shortlist for your own region</a:t>
            </a:r>
          </a:p>
        </p:txBody>
      </p:sp>
      <p:sp>
        <p:nvSpPr>
          <p:cNvPr id="8" name="Oval 7"/>
          <p:cNvSpPr/>
          <p:nvPr/>
        </p:nvSpPr>
        <p:spPr>
          <a:xfrm>
            <a:off x="777240" y="3931920"/>
            <a:ext cx="109728" cy="109728"/>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161288" y="3749040"/>
            <a:ext cx="10253167" cy="640080"/>
          </a:xfrm>
          <a:prstGeom prst="rect">
            <a:avLst/>
          </a:prstGeom>
          <a:noFill/>
        </p:spPr>
        <p:txBody>
          <a:bodyPr wrap="square" anchor="t" lIns="0" rIns="0" tIns="0" bIns="0">
            <a:spAutoFit/>
          </a:bodyPr>
          <a:lstStyle/>
          <a:p>
            <a:pPr algn="l">
              <a:lnSpc>
                <a:spcPct val="125000"/>
              </a:lnSpc>
              <a:spcAft>
                <a:spcPts val="0"/>
              </a:spcAft>
            </a:pPr>
            <a:r>
              <a:rPr sz="1700" b="0" i="0">
                <a:solidFill>
                  <a:srgbClr val="1A1A1A"/>
                </a:solidFill>
                <a:latin typeface="Arial"/>
              </a:rPr>
              <a:t>Two use cases built the same way — a landscape report, and a patent valuation</a:t>
            </a:r>
          </a:p>
        </p:txBody>
      </p:sp>
      <p:sp>
        <p:nvSpPr>
          <p:cNvPr id="10" name="Oval 9"/>
          <p:cNvSpPr/>
          <p:nvPr/>
        </p:nvSpPr>
        <p:spPr>
          <a:xfrm>
            <a:off x="777240" y="4800600"/>
            <a:ext cx="109728" cy="109728"/>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161288" y="4617720"/>
            <a:ext cx="10253167" cy="640080"/>
          </a:xfrm>
          <a:prstGeom prst="rect">
            <a:avLst/>
          </a:prstGeom>
          <a:noFill/>
        </p:spPr>
        <p:txBody>
          <a:bodyPr wrap="square" anchor="t" lIns="0" rIns="0" tIns="0" bIns="0">
            <a:spAutoFit/>
          </a:bodyPr>
          <a:lstStyle/>
          <a:p>
            <a:pPr algn="l">
              <a:lnSpc>
                <a:spcPct val="125000"/>
              </a:lnSpc>
              <a:spcAft>
                <a:spcPts val="0"/>
              </a:spcAft>
            </a:pPr>
            <a:r>
              <a:rPr sz="1700" b="0" i="0">
                <a:solidFill>
                  <a:srgbClr val="1A1A1A"/>
                </a:solidFill>
                <a:latin typeface="Arial"/>
              </a:rPr>
              <a:t>And, in every one of them, the part no assistant does for you: deciding what to ask, and judging whether the answer holds</a:t>
            </a:r>
          </a:p>
        </p:txBody>
      </p:sp>
      <p:sp>
        <p:nvSpPr>
          <p:cNvPr id="12" name="Rounded Rectangle 11"/>
          <p:cNvSpPr/>
          <p:nvPr/>
        </p:nvSpPr>
        <p:spPr>
          <a:xfrm>
            <a:off x="777240" y="4937760"/>
            <a:ext cx="10637215" cy="1005840"/>
          </a:xfrm>
          <a:prstGeom prst="roundRect">
            <a:avLst>
              <a:gd name="adj" fmla="val 5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a:lstStyle/>
          <a:p>
            <a:pPr algn="l">
              <a:lnSpc>
                <a:spcPct val="125000"/>
              </a:lnSpc>
              <a:spcAft>
                <a:spcPts val="300"/>
              </a:spcAft>
            </a:pPr>
            <a:r>
              <a:rPr sz="1400" b="1" i="0">
                <a:solidFill>
                  <a:srgbClr val="BE0F05"/>
                </a:solidFill>
                <a:latin typeface="Arial"/>
              </a:rPr>
              <a:t>Seven A4 handouts — the full 45-minute version of every block you just saw — in 9_documentation/course/</a:t>
            </a:r>
          </a:p>
          <a:p>
            <a:pPr algn="l">
              <a:lnSpc>
                <a:spcPct val="125000"/>
              </a:lnSpc>
              <a:spcAft>
                <a:spcPts val="0"/>
              </a:spcAft>
            </a:pPr>
            <a:r>
              <a:rPr sz="1200" b="0" i="0">
                <a:solidFill>
                  <a:srgbClr val="64748B"/>
                </a:solidFill>
                <a:latin typeface="Arial"/>
              </a:rPr>
              <a:t>github.com/mtcberlin/epo-tip4patlibs</a:t>
            </a:r>
          </a:p>
        </p:txBody>
      </p:sp>
      <p:sp>
        <p:nvSpPr>
          <p:cNvPr id="13" name="TextBox 12"/>
          <p:cNvSpPr txBox="1"/>
          <p:nvPr/>
        </p:nvSpPr>
        <p:spPr>
          <a:xfrm>
            <a:off x="777240" y="6291072"/>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Arne Krüger · mtc.berlin  ·  Riccardo Priore · AREA Science Park</a:t>
            </a:r>
          </a:p>
        </p:txBody>
      </p:sp>
      <p:sp>
        <p:nvSpPr>
          <p:cNvPr id="14" name="TextBox 13"/>
          <p:cNvSpPr txBox="1"/>
          <p:nvPr/>
        </p:nvSpPr>
        <p:spPr>
          <a:xfrm>
            <a:off x="8671255" y="6291072"/>
            <a:ext cx="274320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TIP4PATLIBS · 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