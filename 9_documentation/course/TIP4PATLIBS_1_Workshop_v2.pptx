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6" r:id="rId2"/>
    <p:sldId id="257" r:id="rId3"/>
    <p:sldId id="259" r:id="rId4"/>
    <p:sldId id="260" r:id="rId5"/>
    <p:sldId id="262" r:id="rId6"/>
    <p:sldId id="263" r:id="rId7"/>
    <p:sldId id="265" r:id="rId8"/>
    <p:sldId id="266" r:id="rId9"/>
    <p:sldId id="268" r:id="rId10"/>
    <p:sldId id="269" r:id="rId11"/>
    <p:sldId id="256" r:id="rId12"/>
    <p:sldId id="271" r:id="rId13"/>
    <p:sldId id="272" r:id="rId14"/>
    <p:sldId id="277" r:id="rId15"/>
    <p:sldId id="274" r:id="rId16"/>
    <p:sldId id="27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312"/>
    <p:restoredTop sz="94643"/>
  </p:normalViewPr>
  <p:slideViewPr>
    <p:cSldViewPr snapToGrid="0" snapToObjects="1">
      <p:cViewPr varScale="1">
        <p:scale>
          <a:sx n="83" d="100"/>
          <a:sy n="83" d="100"/>
        </p:scale>
        <p:origin x="224" y="88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9AA9BC-CFF7-C546-8513-767236230983}"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0E053B-B2B0-C746-9850-8C4E4572EFA6}" type="slidenum">
              <a:rPr lang="en-US" smtClean="0"/>
              <a:t>‹#›</a:t>
            </a:fld>
            <a:endParaRPr lang="en-US"/>
          </a:p>
        </p:txBody>
      </p:sp>
    </p:spTree>
    <p:extLst>
      <p:ext uri="{BB962C8B-B14F-4D97-AF65-F5344CB8AC3E}">
        <p14:creationId xmlns:p14="http://schemas.microsoft.com/office/powerpoint/2010/main" val="2206987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0E053B-B2B0-C746-9850-8C4E4572EFA6}" type="slidenum">
              <a:rPr lang="en-US" smtClean="0"/>
              <a:t>1</a:t>
            </a:fld>
            <a:endParaRPr lang="en-US"/>
          </a:p>
        </p:txBody>
      </p:sp>
    </p:spTree>
    <p:extLst>
      <p:ext uri="{BB962C8B-B14F-4D97-AF65-F5344CB8AC3E}">
        <p14:creationId xmlns:p14="http://schemas.microsoft.com/office/powerpoint/2010/main" val="42409891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 — Apertura</a:t>
            </a:r>
          </a:p>
          <a:p>
            <a:endParaRPr/>
          </a:p>
          <a:p>
            <a:r>
              <a:t>Questo deck spiega la catena completa dei 4 notebook di IPScore (cartella 8_ipscore_rebuild/), il "secondo blocco" del Modulo 8 che nella tua parte principale avevi lasciato fuori (lì presentavi solo il notebook 1 e la lettura del report finito).</a:t>
            </a:r>
          </a:p>
          <a:p>
            <a:endParaRPr/>
          </a:p>
          <a:p>
            <a:r>
              <a:t>Idea guida da comunicare subito: i 4 notebook non sono 4 esercizi separati, sono un'unica catena in cui ognuno passa qualcosa al successivo:</a:t>
            </a:r>
          </a:p>
          <a:p>
            <a:r>
              <a:t>1) the_model — costruisce e verifica il motore di calcolo</a:t>
            </a:r>
          </a:p>
          <a:p>
            <a:r>
              <a:t>2) evidence_from_patstat — sostituisce alcune ipotesi con fatti verificati (unico notebook che richiede TIP/PATSTAT)</a:t>
            </a:r>
          </a:p>
          <a:p>
            <a:r>
              <a:t>3) valuation_and_scenarios — classifica quali risposte vale la pena discutere con il cliente</a:t>
            </a:r>
          </a:p>
          <a:p>
            <a:r>
              <a:t>4) assemble_tool — assembla tutto in un report unico</a:t>
            </a:r>
          </a:p>
          <a:p>
            <a:endParaRPr/>
          </a:p>
          <a:p>
            <a:r>
              <a:t>Nota per te: qui si parla del modello "EPO IPScore 3.01", motore e materiale del corso di Arne Krüger; l'analisi di scenario (notebook 3) è ispirata al "NPV Target Planner" di Riccardo Priore — quindi stessa attribuzione doppia che avevi già visto nel Modulo 6 (Priore) e nel Modulo 8 (Krüger).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87E84-B9E2-966D-2574-BA664C7368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002841-968A-8EDC-1C21-9522A5A26B25}"/>
              </a:ext>
            </a:extLst>
          </p:cNvPr>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a:extLst>
              <a:ext uri="{FF2B5EF4-FFF2-40B4-BE49-F238E27FC236}">
                <a16:creationId xmlns:a16="http://schemas.microsoft.com/office/drawing/2014/main" id="{B6148B3D-1190-0906-0541-BE2E920A9256}"/>
              </a:ext>
            </a:extLst>
          </p:cNvPr>
          <p:cNvSpPr txBox="1"/>
          <p:nvPr/>
        </p:nvSpPr>
        <p:spPr>
          <a:xfrm>
            <a:off x="777240" y="566928"/>
            <a:ext cx="10637215" cy="1239250"/>
          </a:xfrm>
          <a:prstGeom prst="rect">
            <a:avLst/>
          </a:prstGeom>
          <a:noFill/>
        </p:spPr>
        <p:txBody>
          <a:bodyPr wrap="square" lIns="0" tIns="0" rIns="0" bIns="0" anchor="t">
            <a:spAutoFit/>
          </a:bodyPr>
          <a:lstStyle/>
          <a:p>
            <a:pPr algn="l">
              <a:lnSpc>
                <a:spcPct val="100000"/>
              </a:lnSpc>
              <a:spcAft>
                <a:spcPts val="400"/>
              </a:spcAft>
            </a:pPr>
            <a:r>
              <a:rPr sz="4200" b="1" i="0" dirty="0">
                <a:solidFill>
                  <a:srgbClr val="BE0F05"/>
                </a:solidFill>
                <a:latin typeface="Arial"/>
              </a:rPr>
              <a:t>TIP4PATLIBS</a:t>
            </a:r>
          </a:p>
          <a:p>
            <a:pPr algn="l">
              <a:lnSpc>
                <a:spcPct val="125000"/>
              </a:lnSpc>
              <a:spcAft>
                <a:spcPts val="200"/>
              </a:spcAft>
            </a:pPr>
            <a:r>
              <a:rPr sz="1600" b="0" i="0" dirty="0">
                <a:solidFill>
                  <a:srgbClr val="1A1A1A"/>
                </a:solidFill>
                <a:latin typeface="Arial"/>
              </a:rPr>
              <a:t>Install an assistant. Then ask better questions.</a:t>
            </a:r>
          </a:p>
          <a:p>
            <a:pPr algn="l">
              <a:lnSpc>
                <a:spcPct val="125000"/>
              </a:lnSpc>
              <a:spcAft>
                <a:spcPts val="600"/>
              </a:spcAft>
            </a:pPr>
            <a:r>
              <a:rPr sz="1200" b="0" i="0" dirty="0">
                <a:solidFill>
                  <a:srgbClr val="64748B"/>
                </a:solidFill>
                <a:latin typeface="Arial"/>
              </a:rPr>
              <a:t>PATLIB Workshop · Warsaw · </a:t>
            </a:r>
            <a:r>
              <a:rPr lang="de-DE" sz="1200" b="0" i="0" dirty="0">
                <a:solidFill>
                  <a:srgbClr val="64748B"/>
                </a:solidFill>
                <a:latin typeface="Arial"/>
              </a:rPr>
              <a:t>16./</a:t>
            </a:r>
            <a:r>
              <a:rPr sz="1200" b="0" i="0" dirty="0">
                <a:solidFill>
                  <a:srgbClr val="64748B"/>
                </a:solidFill>
                <a:latin typeface="Arial"/>
              </a:rPr>
              <a:t>17</a:t>
            </a:r>
            <a:r>
              <a:rPr lang="de-DE" sz="1200" b="0" i="0" dirty="0">
                <a:solidFill>
                  <a:srgbClr val="64748B"/>
                </a:solidFill>
                <a:latin typeface="Arial"/>
              </a:rPr>
              <a:t>.</a:t>
            </a:r>
            <a:r>
              <a:rPr sz="1200" b="0" i="0" dirty="0">
                <a:solidFill>
                  <a:srgbClr val="64748B"/>
                </a:solidFill>
                <a:latin typeface="Arial"/>
              </a:rPr>
              <a:t> September 2026   ·   Arne Krüger · </a:t>
            </a:r>
            <a:r>
              <a:rPr sz="1200" b="0" i="0" dirty="0" err="1">
                <a:solidFill>
                  <a:srgbClr val="64748B"/>
                </a:solidFill>
                <a:latin typeface="Arial"/>
              </a:rPr>
              <a:t>mtc.berlin</a:t>
            </a:r>
            <a:r>
              <a:rPr sz="1200" b="0" i="0" dirty="0">
                <a:solidFill>
                  <a:srgbClr val="64748B"/>
                </a:solidFill>
                <a:latin typeface="Arial"/>
              </a:rPr>
              <a:t>  ·  Riccardo Priore · AREA Science Park</a:t>
            </a:r>
          </a:p>
        </p:txBody>
      </p:sp>
      <p:sp>
        <p:nvSpPr>
          <p:cNvPr id="4" name="Rounded Rectangle 3">
            <a:extLst>
              <a:ext uri="{FF2B5EF4-FFF2-40B4-BE49-F238E27FC236}">
                <a16:creationId xmlns:a16="http://schemas.microsoft.com/office/drawing/2014/main" id="{24264EEE-98EE-5000-3259-DEE2B67776A0}"/>
              </a:ext>
            </a:extLst>
          </p:cNvPr>
          <p:cNvSpPr/>
          <p:nvPr/>
        </p:nvSpPr>
        <p:spPr>
          <a:xfrm>
            <a:off x="777239" y="2006059"/>
            <a:ext cx="10637215" cy="513018"/>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256032" tIns="146304" rIns="256032" bIns="146304" rtlCol="0" anchor="ctr"/>
          <a:lstStyle/>
          <a:p>
            <a:pPr algn="l">
              <a:lnSpc>
                <a:spcPct val="130000"/>
              </a:lnSpc>
              <a:spcAft>
                <a:spcPts val="0"/>
              </a:spcAft>
            </a:pPr>
            <a:r>
              <a:rPr sz="1600" b="0" i="1" dirty="0">
                <a:solidFill>
                  <a:srgbClr val="1A1A1A"/>
                </a:solidFill>
                <a:latin typeface="Arial"/>
              </a:rPr>
              <a:t>You do not have to learn SQL. You have to install something that writes it — and then decide what to ask.</a:t>
            </a:r>
          </a:p>
        </p:txBody>
      </p:sp>
      <p:sp>
        <p:nvSpPr>
          <p:cNvPr id="7" name="Rounded Rectangle 6">
            <a:extLst>
              <a:ext uri="{FF2B5EF4-FFF2-40B4-BE49-F238E27FC236}">
                <a16:creationId xmlns:a16="http://schemas.microsoft.com/office/drawing/2014/main" id="{2E8CACCE-FA12-0302-35C6-A2BB36DCC6CA}"/>
              </a:ext>
            </a:extLst>
          </p:cNvPr>
          <p:cNvSpPr/>
          <p:nvPr/>
        </p:nvSpPr>
        <p:spPr>
          <a:xfrm>
            <a:off x="768317" y="2683763"/>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a:extLst>
              <a:ext uri="{FF2B5EF4-FFF2-40B4-BE49-F238E27FC236}">
                <a16:creationId xmlns:a16="http://schemas.microsoft.com/office/drawing/2014/main" id="{86E90BF4-C1E4-3D18-17A7-CD5A10EF40FD}"/>
              </a:ext>
            </a:extLst>
          </p:cNvPr>
          <p:cNvSpPr txBox="1"/>
          <p:nvPr/>
        </p:nvSpPr>
        <p:spPr>
          <a:xfrm>
            <a:off x="951198" y="2789718"/>
            <a:ext cx="4359012" cy="436338"/>
          </a:xfrm>
          <a:prstGeom prst="rect">
            <a:avLst/>
          </a:prstGeom>
          <a:noFill/>
        </p:spPr>
        <p:txBody>
          <a:bodyPr wrap="square" lIns="0" tIns="0" rIns="0" bIns="0" anchor="t">
            <a:spAutoFit/>
          </a:bodyPr>
          <a:lstStyle/>
          <a:p>
            <a:pPr algn="l">
              <a:lnSpc>
                <a:spcPct val="125000"/>
              </a:lnSpc>
              <a:spcAft>
                <a:spcPts val="100"/>
              </a:spcAft>
            </a:pPr>
            <a:r>
              <a:rPr lang="de-DE" sz="1300" b="1" i="0" dirty="0">
                <a:solidFill>
                  <a:srgbClr val="1A1A1A"/>
                </a:solidFill>
                <a:latin typeface="Arial"/>
              </a:rPr>
              <a:t>1 </a:t>
            </a:r>
            <a:r>
              <a:rPr sz="1300" b="1" i="0" dirty="0">
                <a:solidFill>
                  <a:srgbClr val="1A1A1A"/>
                </a:solidFill>
                <a:latin typeface="Arial"/>
              </a:rPr>
              <a:t>Install </a:t>
            </a:r>
            <a:r>
              <a:rPr lang="de-DE" sz="1300" b="1" i="0" dirty="0">
                <a:solidFill>
                  <a:srgbClr val="1A1A1A"/>
                </a:solidFill>
                <a:latin typeface="Arial"/>
              </a:rPr>
              <a:t>an</a:t>
            </a:r>
            <a:r>
              <a:rPr sz="1300" b="1" i="0" dirty="0">
                <a:solidFill>
                  <a:srgbClr val="1A1A1A"/>
                </a:solidFill>
                <a:latin typeface="Arial"/>
              </a:rPr>
              <a:t> </a:t>
            </a:r>
            <a:r>
              <a:rPr lang="de-DE" sz="1300" b="1" i="0" dirty="0">
                <a:solidFill>
                  <a:srgbClr val="1A1A1A"/>
                </a:solidFill>
                <a:latin typeface="Arial"/>
              </a:rPr>
              <a:t>AI </a:t>
            </a:r>
            <a:r>
              <a:rPr sz="1300" b="1" i="0" dirty="0">
                <a:solidFill>
                  <a:srgbClr val="1A1A1A"/>
                </a:solidFill>
                <a:latin typeface="Arial"/>
              </a:rPr>
              <a:t>assistant, persistently</a:t>
            </a:r>
            <a:r>
              <a:rPr lang="de-DE" sz="1300" b="1" i="0" dirty="0">
                <a:solidFill>
                  <a:srgbClr val="1A1A1A"/>
                </a:solidFill>
                <a:latin typeface="Arial"/>
              </a:rPr>
              <a:t>. </a:t>
            </a:r>
            <a:r>
              <a:rPr lang="de-DE" sz="1300" b="1" dirty="0">
                <a:solidFill>
                  <a:srgbClr val="1A1A1A"/>
                </a:solidFill>
                <a:latin typeface="Arial"/>
              </a:rPr>
              <a:t>- </a:t>
            </a:r>
            <a:r>
              <a:rPr lang="de-DE" sz="1300" b="1" i="0" dirty="0">
                <a:solidFill>
                  <a:srgbClr val="1A1A1A"/>
                </a:solidFill>
                <a:latin typeface="Arial"/>
              </a:rPr>
              <a:t>START WITH TIP</a:t>
            </a:r>
            <a:endParaRPr sz="1300" b="1" i="0" dirty="0">
              <a:solidFill>
                <a:srgbClr val="1A1A1A"/>
              </a:solidFill>
              <a:latin typeface="Arial"/>
            </a:endParaRPr>
          </a:p>
          <a:p>
            <a:pPr algn="l">
              <a:lnSpc>
                <a:spcPct val="125000"/>
              </a:lnSpc>
              <a:spcAft>
                <a:spcPts val="0"/>
              </a:spcAft>
            </a:pPr>
            <a:r>
              <a:rPr sz="1000" b="0" i="0" dirty="0">
                <a:solidFill>
                  <a:srgbClr val="64748B"/>
                </a:solidFill>
                <a:latin typeface="Arial"/>
              </a:rPr>
              <a:t>it writes the SQL and the notebooks — you decide what to ask</a:t>
            </a:r>
          </a:p>
        </p:txBody>
      </p:sp>
      <p:sp>
        <p:nvSpPr>
          <p:cNvPr id="10" name="TextBox 9">
            <a:extLst>
              <a:ext uri="{FF2B5EF4-FFF2-40B4-BE49-F238E27FC236}">
                <a16:creationId xmlns:a16="http://schemas.microsoft.com/office/drawing/2014/main" id="{7CFC4C5E-70D3-F760-3E80-D572146674AD}"/>
              </a:ext>
            </a:extLst>
          </p:cNvPr>
          <p:cNvSpPr txBox="1"/>
          <p:nvPr/>
        </p:nvSpPr>
        <p:spPr>
          <a:xfrm>
            <a:off x="-423746" y="3570543"/>
            <a:ext cx="4206240" cy="277512"/>
          </a:xfrm>
          <a:prstGeom prst="rect">
            <a:avLst/>
          </a:prstGeom>
          <a:noFill/>
        </p:spPr>
        <p:txBody>
          <a:bodyPr wrap="square" lIns="0" tIns="0" rIns="0" bIns="0" anchor="t">
            <a:spAutoFit/>
          </a:bodyPr>
          <a:lstStyle/>
          <a:p>
            <a:pPr algn="ctr">
              <a:lnSpc>
                <a:spcPct val="125000"/>
              </a:lnSpc>
              <a:spcAft>
                <a:spcPts val="0"/>
              </a:spcAft>
            </a:pPr>
            <a:r>
              <a:rPr sz="1600" b="1" i="0" dirty="0">
                <a:solidFill>
                  <a:srgbClr val="BE0F05"/>
                </a:solidFill>
                <a:latin typeface="Arial"/>
              </a:rPr>
              <a:t>THREE EXAMPLES</a:t>
            </a:r>
          </a:p>
        </p:txBody>
      </p:sp>
      <p:sp>
        <p:nvSpPr>
          <p:cNvPr id="11" name="Rounded Rectangle 10">
            <a:extLst>
              <a:ext uri="{FF2B5EF4-FFF2-40B4-BE49-F238E27FC236}">
                <a16:creationId xmlns:a16="http://schemas.microsoft.com/office/drawing/2014/main" id="{8BAD2A71-C0B5-BA8E-4404-C17608661C1E}"/>
              </a:ext>
            </a:extLst>
          </p:cNvPr>
          <p:cNvSpPr/>
          <p:nvPr/>
        </p:nvSpPr>
        <p:spPr>
          <a:xfrm>
            <a:off x="768317" y="4039891"/>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a:extLst>
              <a:ext uri="{FF2B5EF4-FFF2-40B4-BE49-F238E27FC236}">
                <a16:creationId xmlns:a16="http://schemas.microsoft.com/office/drawing/2014/main" id="{3E3F4725-EB9C-2CE2-041B-ED9A32787C6E}"/>
              </a:ext>
            </a:extLst>
          </p:cNvPr>
          <p:cNvSpPr txBox="1"/>
          <p:nvPr/>
        </p:nvSpPr>
        <p:spPr>
          <a:xfrm>
            <a:off x="951196" y="4140475"/>
            <a:ext cx="4080231" cy="453714"/>
          </a:xfrm>
          <a:prstGeom prst="rect">
            <a:avLst/>
          </a:prstGeom>
          <a:noFill/>
        </p:spPr>
        <p:txBody>
          <a:bodyPr wrap="square" lIns="0" tIns="0" rIns="0" bIns="0" anchor="t">
            <a:spAutoFit/>
          </a:bodyPr>
          <a:lstStyle/>
          <a:p>
            <a:pPr algn="l">
              <a:lnSpc>
                <a:spcPct val="125000"/>
              </a:lnSpc>
              <a:spcAft>
                <a:spcPts val="100"/>
              </a:spcAft>
            </a:pPr>
            <a:r>
              <a:rPr lang="de-DE" sz="1300" b="1" dirty="0">
                <a:solidFill>
                  <a:srgbClr val="1A1A1A"/>
                </a:solidFill>
                <a:latin typeface="Arial"/>
              </a:rPr>
              <a:t>2</a:t>
            </a:r>
            <a:r>
              <a:rPr sz="1300" b="1" i="0" dirty="0">
                <a:solidFill>
                  <a:srgbClr val="1A1A1A"/>
                </a:solidFill>
                <a:latin typeface="Arial"/>
              </a:rPr>
              <a:t>   A question already asked</a:t>
            </a:r>
            <a:r>
              <a:rPr lang="de-DE" sz="1300" b="1" i="0" dirty="0">
                <a:solidFill>
                  <a:srgbClr val="1A1A1A"/>
                </a:solidFill>
                <a:latin typeface="Arial"/>
              </a:rPr>
              <a:t> – QUERY LIBRARY </a:t>
            </a:r>
            <a:endParaRPr sz="1300" b="1" i="0" dirty="0">
              <a:solidFill>
                <a:srgbClr val="1A1A1A"/>
              </a:solidFill>
              <a:latin typeface="Arial"/>
            </a:endParaRPr>
          </a:p>
          <a:p>
            <a:pPr algn="l">
              <a:lnSpc>
                <a:spcPct val="125000"/>
              </a:lnSpc>
              <a:spcAft>
                <a:spcPts val="0"/>
              </a:spcAft>
            </a:pPr>
            <a:r>
              <a:rPr lang="de-DE" sz="1100" b="0" i="0" dirty="0">
                <a:solidFill>
                  <a:srgbClr val="64748B"/>
                </a:solidFill>
                <a:latin typeface="Arial"/>
              </a:rPr>
              <a:t>Learning SQL </a:t>
            </a:r>
            <a:r>
              <a:rPr lang="de-DE" sz="1100" b="0" i="0" dirty="0" err="1">
                <a:solidFill>
                  <a:srgbClr val="64748B"/>
                </a:solidFill>
                <a:latin typeface="Arial"/>
              </a:rPr>
              <a:t>with</a:t>
            </a:r>
            <a:r>
              <a:rPr lang="de-DE" sz="1100" b="0" i="0" dirty="0">
                <a:solidFill>
                  <a:srgbClr val="64748B"/>
                </a:solidFill>
                <a:latin typeface="Arial"/>
              </a:rPr>
              <a:t> a </a:t>
            </a:r>
            <a:r>
              <a:rPr sz="1100" b="0" i="0" dirty="0">
                <a:solidFill>
                  <a:srgbClr val="64748B"/>
                </a:solidFill>
                <a:latin typeface="Arial"/>
              </a:rPr>
              <a:t>query library</a:t>
            </a:r>
            <a:r>
              <a:rPr lang="de-DE" sz="1100" b="0" i="0" dirty="0">
                <a:solidFill>
                  <a:srgbClr val="64748B"/>
                </a:solidFill>
                <a:latin typeface="Arial"/>
              </a:rPr>
              <a:t> and </a:t>
            </a:r>
            <a:r>
              <a:rPr lang="de-DE" sz="1100" b="0" i="0" dirty="0" err="1">
                <a:solidFill>
                  <a:srgbClr val="64748B"/>
                </a:solidFill>
                <a:latin typeface="Arial"/>
              </a:rPr>
              <a:t>buld</a:t>
            </a:r>
            <a:r>
              <a:rPr lang="de-DE" sz="1100" b="0" i="0" dirty="0">
                <a:solidFill>
                  <a:srgbClr val="64748B"/>
                </a:solidFill>
                <a:latin typeface="Arial"/>
              </a:rPr>
              <a:t> </a:t>
            </a:r>
            <a:r>
              <a:rPr lang="de-DE" sz="1100" b="0" i="0" dirty="0" err="1">
                <a:solidFill>
                  <a:srgbClr val="64748B"/>
                </a:solidFill>
                <a:latin typeface="Arial"/>
              </a:rPr>
              <a:t>interactive</a:t>
            </a:r>
            <a:r>
              <a:rPr lang="de-DE" sz="1100" b="0" i="0" dirty="0">
                <a:solidFill>
                  <a:srgbClr val="64748B"/>
                </a:solidFill>
                <a:latin typeface="Arial"/>
              </a:rPr>
              <a:t> </a:t>
            </a:r>
            <a:r>
              <a:rPr lang="de-DE" sz="1100" dirty="0" err="1">
                <a:solidFill>
                  <a:srgbClr val="64748B"/>
                </a:solidFill>
                <a:latin typeface="Arial"/>
              </a:rPr>
              <a:t>q</a:t>
            </a:r>
            <a:r>
              <a:rPr lang="de-DE" sz="1100" b="0" i="0" dirty="0" err="1">
                <a:solidFill>
                  <a:srgbClr val="64748B"/>
                </a:solidFill>
                <a:latin typeface="Arial"/>
              </a:rPr>
              <a:t>ueries</a:t>
            </a:r>
            <a:endParaRPr sz="1100" b="0" i="0" dirty="0">
              <a:solidFill>
                <a:srgbClr val="64748B"/>
              </a:solidFill>
              <a:latin typeface="Arial"/>
            </a:endParaRPr>
          </a:p>
        </p:txBody>
      </p:sp>
      <p:sp>
        <p:nvSpPr>
          <p:cNvPr id="13" name="Rounded Rectangle 12">
            <a:extLst>
              <a:ext uri="{FF2B5EF4-FFF2-40B4-BE49-F238E27FC236}">
                <a16:creationId xmlns:a16="http://schemas.microsoft.com/office/drawing/2014/main" id="{9310E4A7-0216-02F3-BABE-B5494406AAA1}"/>
              </a:ext>
            </a:extLst>
          </p:cNvPr>
          <p:cNvSpPr/>
          <p:nvPr/>
        </p:nvSpPr>
        <p:spPr>
          <a:xfrm>
            <a:off x="777239" y="4835419"/>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a:extLst>
              <a:ext uri="{FF2B5EF4-FFF2-40B4-BE49-F238E27FC236}">
                <a16:creationId xmlns:a16="http://schemas.microsoft.com/office/drawing/2014/main" id="{076D3441-066C-8312-1B3B-84B4805ED762}"/>
              </a:ext>
            </a:extLst>
          </p:cNvPr>
          <p:cNvSpPr txBox="1"/>
          <p:nvPr/>
        </p:nvSpPr>
        <p:spPr>
          <a:xfrm>
            <a:off x="960119" y="4936003"/>
            <a:ext cx="4272030" cy="453714"/>
          </a:xfrm>
          <a:prstGeom prst="rect">
            <a:avLst/>
          </a:prstGeom>
          <a:noFill/>
        </p:spPr>
        <p:txBody>
          <a:bodyPr wrap="square" lIns="0" tIns="0" rIns="0" bIns="0" anchor="t">
            <a:spAutoFit/>
          </a:bodyPr>
          <a:lstStyle/>
          <a:p>
            <a:pPr algn="l">
              <a:lnSpc>
                <a:spcPct val="125000"/>
              </a:lnSpc>
              <a:spcAft>
                <a:spcPts val="100"/>
              </a:spcAft>
            </a:pPr>
            <a:r>
              <a:rPr lang="de-DE" sz="1300" b="1" dirty="0">
                <a:solidFill>
                  <a:srgbClr val="1A1A1A"/>
                </a:solidFill>
                <a:latin typeface="Arial"/>
              </a:rPr>
              <a:t>3</a:t>
            </a:r>
            <a:r>
              <a:rPr sz="1300" b="1" i="0" dirty="0">
                <a:solidFill>
                  <a:srgbClr val="1A1A1A"/>
                </a:solidFill>
                <a:latin typeface="Arial"/>
              </a:rPr>
              <a:t>   The same query, as an app</a:t>
            </a:r>
            <a:r>
              <a:rPr lang="de-DE" sz="1300" b="1" i="0" dirty="0">
                <a:solidFill>
                  <a:srgbClr val="1A1A1A"/>
                </a:solidFill>
                <a:latin typeface="Arial"/>
              </a:rPr>
              <a:t> – PATSTAT EXPLORER </a:t>
            </a:r>
            <a:endParaRPr sz="1300" b="1" i="0" dirty="0">
              <a:solidFill>
                <a:srgbClr val="1A1A1A"/>
              </a:solidFill>
              <a:latin typeface="Arial"/>
            </a:endParaRPr>
          </a:p>
          <a:p>
            <a:pPr algn="l">
              <a:lnSpc>
                <a:spcPct val="125000"/>
              </a:lnSpc>
              <a:spcAft>
                <a:spcPts val="0"/>
              </a:spcAft>
            </a:pPr>
            <a:r>
              <a:rPr sz="1100" b="0" i="0" dirty="0">
                <a:solidFill>
                  <a:srgbClr val="64748B"/>
                </a:solidFill>
                <a:latin typeface="Arial"/>
              </a:rPr>
              <a:t>PATSTAT Explorer</a:t>
            </a:r>
          </a:p>
        </p:txBody>
      </p:sp>
      <p:sp>
        <p:nvSpPr>
          <p:cNvPr id="15" name="Rounded Rectangle 14">
            <a:extLst>
              <a:ext uri="{FF2B5EF4-FFF2-40B4-BE49-F238E27FC236}">
                <a16:creationId xmlns:a16="http://schemas.microsoft.com/office/drawing/2014/main" id="{F1A9D358-F847-F365-6317-2ABE1722CA11}"/>
              </a:ext>
            </a:extLst>
          </p:cNvPr>
          <p:cNvSpPr/>
          <p:nvPr/>
        </p:nvSpPr>
        <p:spPr>
          <a:xfrm>
            <a:off x="777239" y="5697212"/>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6" name="TextBox 15">
            <a:extLst>
              <a:ext uri="{FF2B5EF4-FFF2-40B4-BE49-F238E27FC236}">
                <a16:creationId xmlns:a16="http://schemas.microsoft.com/office/drawing/2014/main" id="{47762742-C1FA-7155-F3B2-B39E7E952699}"/>
              </a:ext>
            </a:extLst>
          </p:cNvPr>
          <p:cNvSpPr txBox="1"/>
          <p:nvPr/>
        </p:nvSpPr>
        <p:spPr>
          <a:xfrm>
            <a:off x="960118" y="5797796"/>
            <a:ext cx="4359011" cy="453714"/>
          </a:xfrm>
          <a:prstGeom prst="rect">
            <a:avLst/>
          </a:prstGeom>
          <a:noFill/>
        </p:spPr>
        <p:txBody>
          <a:bodyPr wrap="square" lIns="0" tIns="0" rIns="0" bIns="0" anchor="t">
            <a:spAutoFit/>
          </a:bodyPr>
          <a:lstStyle/>
          <a:p>
            <a:pPr algn="l">
              <a:lnSpc>
                <a:spcPct val="125000"/>
              </a:lnSpc>
              <a:spcAft>
                <a:spcPts val="100"/>
              </a:spcAft>
            </a:pPr>
            <a:r>
              <a:rPr lang="de-DE" sz="1300" b="1" i="0" dirty="0">
                <a:solidFill>
                  <a:srgbClr val="1A1A1A"/>
                </a:solidFill>
                <a:latin typeface="Arial"/>
              </a:rPr>
              <a:t>4</a:t>
            </a:r>
            <a:r>
              <a:rPr sz="1300" b="1" i="0" dirty="0">
                <a:solidFill>
                  <a:srgbClr val="1A1A1A"/>
                </a:solidFill>
                <a:latin typeface="Arial"/>
              </a:rPr>
              <a:t>   Your region, your client list</a:t>
            </a:r>
            <a:r>
              <a:rPr lang="de-DE" sz="1300" b="1" i="0" dirty="0">
                <a:solidFill>
                  <a:srgbClr val="1A1A1A"/>
                </a:solidFill>
                <a:latin typeface="Arial"/>
              </a:rPr>
              <a:t> – REGIONAL ANALYSIS</a:t>
            </a:r>
            <a:endParaRPr sz="1300" b="1" i="0" dirty="0">
              <a:solidFill>
                <a:srgbClr val="1A1A1A"/>
              </a:solidFill>
              <a:latin typeface="Arial"/>
            </a:endParaRPr>
          </a:p>
          <a:p>
            <a:pPr algn="l">
              <a:lnSpc>
                <a:spcPct val="125000"/>
              </a:lnSpc>
              <a:spcAft>
                <a:spcPts val="0"/>
              </a:spcAft>
            </a:pPr>
            <a:r>
              <a:rPr sz="1100" b="0" i="0" dirty="0">
                <a:solidFill>
                  <a:srgbClr val="64748B"/>
                </a:solidFill>
                <a:latin typeface="Arial"/>
              </a:rPr>
              <a:t>regional leads — FR and DE</a:t>
            </a:r>
          </a:p>
        </p:txBody>
      </p:sp>
      <p:sp>
        <p:nvSpPr>
          <p:cNvPr id="20" name="TextBox 19">
            <a:extLst>
              <a:ext uri="{FF2B5EF4-FFF2-40B4-BE49-F238E27FC236}">
                <a16:creationId xmlns:a16="http://schemas.microsoft.com/office/drawing/2014/main" id="{BE1B1EFE-3DCB-C0BA-0846-600916188D3B}"/>
              </a:ext>
            </a:extLst>
          </p:cNvPr>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 / 20</a:t>
            </a:r>
          </a:p>
        </p:txBody>
      </p:sp>
      <p:sp>
        <p:nvSpPr>
          <p:cNvPr id="19" name="Rounded Rectangle 18">
            <a:extLst>
              <a:ext uri="{FF2B5EF4-FFF2-40B4-BE49-F238E27FC236}">
                <a16:creationId xmlns:a16="http://schemas.microsoft.com/office/drawing/2014/main" id="{23B4E7B6-EB42-D7D2-4F22-688309FDAB14}"/>
              </a:ext>
            </a:extLst>
          </p:cNvPr>
          <p:cNvSpPr/>
          <p:nvPr/>
        </p:nvSpPr>
        <p:spPr>
          <a:xfrm>
            <a:off x="6711610" y="4057602"/>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1" name="TextBox 20">
            <a:extLst>
              <a:ext uri="{FF2B5EF4-FFF2-40B4-BE49-F238E27FC236}">
                <a16:creationId xmlns:a16="http://schemas.microsoft.com/office/drawing/2014/main" id="{879D97AF-4C4F-B0E8-421F-BE7C89B59CD2}"/>
              </a:ext>
            </a:extLst>
          </p:cNvPr>
          <p:cNvSpPr txBox="1"/>
          <p:nvPr/>
        </p:nvSpPr>
        <p:spPr>
          <a:xfrm>
            <a:off x="6894489" y="4158186"/>
            <a:ext cx="4519965" cy="453714"/>
          </a:xfrm>
          <a:prstGeom prst="rect">
            <a:avLst/>
          </a:prstGeom>
          <a:noFill/>
        </p:spPr>
        <p:txBody>
          <a:bodyPr wrap="square" lIns="0" tIns="0" rIns="0" bIns="0" anchor="t">
            <a:spAutoFit/>
          </a:bodyPr>
          <a:lstStyle/>
          <a:p>
            <a:pPr algn="l">
              <a:lnSpc>
                <a:spcPct val="125000"/>
              </a:lnSpc>
              <a:spcAft>
                <a:spcPts val="100"/>
              </a:spcAft>
            </a:pPr>
            <a:r>
              <a:rPr lang="de-DE" sz="1300" b="1" dirty="0">
                <a:solidFill>
                  <a:srgbClr val="1A1A1A"/>
                </a:solidFill>
                <a:latin typeface="Arial"/>
              </a:rPr>
              <a:t>5</a:t>
            </a:r>
            <a:r>
              <a:rPr sz="1300" b="1" i="0" dirty="0">
                <a:solidFill>
                  <a:srgbClr val="1A1A1A"/>
                </a:solidFill>
                <a:latin typeface="Arial"/>
              </a:rPr>
              <a:t>   A </a:t>
            </a:r>
            <a:r>
              <a:rPr lang="de-DE" sz="1300" b="1" i="0" dirty="0">
                <a:solidFill>
                  <a:srgbClr val="1A1A1A"/>
                </a:solidFill>
                <a:latin typeface="Arial"/>
              </a:rPr>
              <a:t>sophisticated </a:t>
            </a:r>
            <a:r>
              <a:rPr lang="de-DE" sz="1300" b="1" i="0" dirty="0" err="1">
                <a:solidFill>
                  <a:srgbClr val="1A1A1A"/>
                </a:solidFill>
                <a:latin typeface="Arial"/>
              </a:rPr>
              <a:t>analysis</a:t>
            </a:r>
            <a:r>
              <a:rPr lang="de-DE" sz="1300" b="1" i="0" dirty="0">
                <a:solidFill>
                  <a:srgbClr val="1A1A1A"/>
                </a:solidFill>
                <a:latin typeface="Arial"/>
              </a:rPr>
              <a:t> – ANTIBIOTICS SEARCH</a:t>
            </a:r>
            <a:endParaRPr sz="1300" b="1" i="0" dirty="0">
              <a:solidFill>
                <a:srgbClr val="1A1A1A"/>
              </a:solidFill>
              <a:latin typeface="Arial"/>
            </a:endParaRPr>
          </a:p>
          <a:p>
            <a:pPr algn="l">
              <a:lnSpc>
                <a:spcPct val="125000"/>
              </a:lnSpc>
              <a:spcAft>
                <a:spcPts val="0"/>
              </a:spcAft>
            </a:pPr>
            <a:r>
              <a:rPr lang="de-DE" sz="1100" b="0" i="0" dirty="0" err="1">
                <a:solidFill>
                  <a:srgbClr val="64748B"/>
                </a:solidFill>
                <a:latin typeface="Arial"/>
              </a:rPr>
              <a:t>Mutistep</a:t>
            </a:r>
            <a:r>
              <a:rPr lang="de-DE" sz="1100" b="0" i="0" dirty="0">
                <a:solidFill>
                  <a:srgbClr val="64748B"/>
                </a:solidFill>
                <a:latin typeface="Arial"/>
              </a:rPr>
              <a:t> </a:t>
            </a:r>
            <a:r>
              <a:rPr lang="de-DE" sz="1100" b="0" i="0" dirty="0" err="1">
                <a:solidFill>
                  <a:srgbClr val="64748B"/>
                </a:solidFill>
                <a:latin typeface="Arial"/>
              </a:rPr>
              <a:t>analysis</a:t>
            </a:r>
            <a:r>
              <a:rPr lang="de-DE" sz="1100" b="0" i="0" dirty="0">
                <a:solidFill>
                  <a:srgbClr val="64748B"/>
                </a:solidFill>
                <a:latin typeface="Arial"/>
              </a:rPr>
              <a:t> and </a:t>
            </a:r>
            <a:r>
              <a:rPr lang="de-DE" sz="1100" b="0" i="0" dirty="0" err="1">
                <a:solidFill>
                  <a:srgbClr val="64748B"/>
                </a:solidFill>
                <a:latin typeface="Arial"/>
              </a:rPr>
              <a:t>visualisation</a:t>
            </a:r>
            <a:r>
              <a:rPr lang="de-DE" sz="1100" b="0" i="0" dirty="0">
                <a:solidFill>
                  <a:srgbClr val="64748B"/>
                </a:solidFill>
                <a:latin typeface="Arial"/>
              </a:rPr>
              <a:t> of a real </a:t>
            </a:r>
            <a:r>
              <a:rPr lang="de-DE" sz="1100" b="0" i="0" dirty="0" err="1">
                <a:solidFill>
                  <a:srgbClr val="64748B"/>
                </a:solidFill>
                <a:latin typeface="Arial"/>
              </a:rPr>
              <a:t>use</a:t>
            </a:r>
            <a:r>
              <a:rPr lang="de-DE" sz="1100" b="0" i="0" dirty="0">
                <a:solidFill>
                  <a:srgbClr val="64748B"/>
                </a:solidFill>
                <a:latin typeface="Arial"/>
              </a:rPr>
              <a:t> </a:t>
            </a:r>
            <a:r>
              <a:rPr lang="de-DE" sz="1100" b="0" i="0" dirty="0" err="1">
                <a:solidFill>
                  <a:srgbClr val="64748B"/>
                </a:solidFill>
                <a:latin typeface="Arial"/>
              </a:rPr>
              <a:t>case</a:t>
            </a:r>
            <a:endParaRPr sz="1100" b="0" i="0" dirty="0">
              <a:solidFill>
                <a:srgbClr val="64748B"/>
              </a:solidFill>
              <a:latin typeface="Arial"/>
            </a:endParaRPr>
          </a:p>
        </p:txBody>
      </p:sp>
      <p:sp>
        <p:nvSpPr>
          <p:cNvPr id="22" name="TextBox 21">
            <a:extLst>
              <a:ext uri="{FF2B5EF4-FFF2-40B4-BE49-F238E27FC236}">
                <a16:creationId xmlns:a16="http://schemas.microsoft.com/office/drawing/2014/main" id="{71198F71-6B9E-7B69-F2EF-6DCFB7CD8AC7}"/>
              </a:ext>
            </a:extLst>
          </p:cNvPr>
          <p:cNvSpPr txBox="1"/>
          <p:nvPr/>
        </p:nvSpPr>
        <p:spPr>
          <a:xfrm>
            <a:off x="5480083" y="3527177"/>
            <a:ext cx="4206240" cy="277512"/>
          </a:xfrm>
          <a:prstGeom prst="rect">
            <a:avLst/>
          </a:prstGeom>
          <a:noFill/>
        </p:spPr>
        <p:txBody>
          <a:bodyPr wrap="square" lIns="0" tIns="0" rIns="0" bIns="0" anchor="t">
            <a:spAutoFit/>
          </a:bodyPr>
          <a:lstStyle/>
          <a:p>
            <a:pPr algn="ctr">
              <a:lnSpc>
                <a:spcPct val="125000"/>
              </a:lnSpc>
              <a:spcAft>
                <a:spcPts val="0"/>
              </a:spcAft>
            </a:pPr>
            <a:r>
              <a:rPr lang="de-DE" sz="1600" b="1" i="0" dirty="0">
                <a:solidFill>
                  <a:srgbClr val="BE0F05"/>
                </a:solidFill>
                <a:latin typeface="Arial"/>
              </a:rPr>
              <a:t>TWO USE CASES</a:t>
            </a:r>
            <a:endParaRPr sz="1600" b="1" i="0" dirty="0">
              <a:solidFill>
                <a:srgbClr val="BE0F05"/>
              </a:solidFill>
              <a:latin typeface="Arial"/>
            </a:endParaRPr>
          </a:p>
        </p:txBody>
      </p:sp>
      <p:sp>
        <p:nvSpPr>
          <p:cNvPr id="23" name="Rounded Rectangle 22">
            <a:extLst>
              <a:ext uri="{FF2B5EF4-FFF2-40B4-BE49-F238E27FC236}">
                <a16:creationId xmlns:a16="http://schemas.microsoft.com/office/drawing/2014/main" id="{11CBFA64-0265-6F52-D498-F99207789785}"/>
              </a:ext>
            </a:extLst>
          </p:cNvPr>
          <p:cNvSpPr/>
          <p:nvPr/>
        </p:nvSpPr>
        <p:spPr>
          <a:xfrm>
            <a:off x="6711610" y="4890170"/>
            <a:ext cx="4702844" cy="694944"/>
          </a:xfrm>
          <a:prstGeom prst="roundRect">
            <a:avLst>
              <a:gd name="adj" fmla="val 12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4" name="TextBox 23">
            <a:extLst>
              <a:ext uri="{FF2B5EF4-FFF2-40B4-BE49-F238E27FC236}">
                <a16:creationId xmlns:a16="http://schemas.microsoft.com/office/drawing/2014/main" id="{F04A7DA2-66E0-FDA6-657C-9D8867918121}"/>
              </a:ext>
            </a:extLst>
          </p:cNvPr>
          <p:cNvSpPr txBox="1"/>
          <p:nvPr/>
        </p:nvSpPr>
        <p:spPr>
          <a:xfrm>
            <a:off x="6894489" y="4990754"/>
            <a:ext cx="4519965" cy="440890"/>
          </a:xfrm>
          <a:prstGeom prst="rect">
            <a:avLst/>
          </a:prstGeom>
          <a:noFill/>
        </p:spPr>
        <p:txBody>
          <a:bodyPr wrap="square" lIns="0" tIns="0" rIns="0" bIns="0" anchor="t">
            <a:spAutoFit/>
          </a:bodyPr>
          <a:lstStyle/>
          <a:p>
            <a:pPr algn="l">
              <a:lnSpc>
                <a:spcPct val="125000"/>
              </a:lnSpc>
              <a:spcAft>
                <a:spcPts val="100"/>
              </a:spcAft>
            </a:pPr>
            <a:r>
              <a:rPr lang="de-DE" sz="1300" b="1" i="0" dirty="0">
                <a:solidFill>
                  <a:srgbClr val="1A1A1A"/>
                </a:solidFill>
                <a:latin typeface="Arial"/>
              </a:rPr>
              <a:t>6</a:t>
            </a:r>
            <a:r>
              <a:rPr sz="1300" b="1" i="0" dirty="0">
                <a:solidFill>
                  <a:srgbClr val="1A1A1A"/>
                </a:solidFill>
                <a:latin typeface="Arial"/>
              </a:rPr>
              <a:t>  </a:t>
            </a:r>
            <a:r>
              <a:rPr lang="de-DE" sz="1300" b="1" i="0" dirty="0" err="1">
                <a:solidFill>
                  <a:srgbClr val="1A1A1A"/>
                </a:solidFill>
                <a:latin typeface="Arial"/>
              </a:rPr>
              <a:t>Our</a:t>
            </a:r>
            <a:r>
              <a:rPr lang="de-DE" sz="1300" b="1" i="0" dirty="0">
                <a:solidFill>
                  <a:srgbClr val="1A1A1A"/>
                </a:solidFill>
                <a:latin typeface="Arial"/>
              </a:rPr>
              <a:t> </a:t>
            </a:r>
            <a:r>
              <a:rPr lang="de-DE" sz="1300" b="1" i="0" dirty="0" err="1">
                <a:solidFill>
                  <a:srgbClr val="1A1A1A"/>
                </a:solidFill>
                <a:latin typeface="Arial"/>
              </a:rPr>
              <a:t>approach</a:t>
            </a:r>
            <a:r>
              <a:rPr lang="de-DE" sz="1300" b="1" i="0" dirty="0">
                <a:solidFill>
                  <a:srgbClr val="1A1A1A"/>
                </a:solidFill>
                <a:latin typeface="Arial"/>
              </a:rPr>
              <a:t> of a </a:t>
            </a:r>
            <a:r>
              <a:rPr lang="de-DE" sz="1300" b="1" i="0" dirty="0" err="1">
                <a:solidFill>
                  <a:srgbClr val="1A1A1A"/>
                </a:solidFill>
                <a:latin typeface="Arial"/>
              </a:rPr>
              <a:t>rebuild</a:t>
            </a:r>
            <a:r>
              <a:rPr lang="de-DE" sz="1300" b="1" i="0" dirty="0">
                <a:solidFill>
                  <a:srgbClr val="1A1A1A"/>
                </a:solidFill>
                <a:latin typeface="Arial"/>
              </a:rPr>
              <a:t> - IP SCORE WITH </a:t>
            </a:r>
            <a:r>
              <a:rPr lang="de-DE" sz="1300" b="1" dirty="0">
                <a:solidFill>
                  <a:srgbClr val="1A1A1A"/>
                </a:solidFill>
                <a:latin typeface="Arial"/>
              </a:rPr>
              <a:t>TIP </a:t>
            </a:r>
            <a:br>
              <a:rPr lang="de-DE" sz="1300" b="1" dirty="0">
                <a:solidFill>
                  <a:srgbClr val="1A1A1A"/>
                </a:solidFill>
                <a:latin typeface="Arial"/>
              </a:rPr>
            </a:br>
            <a:r>
              <a:rPr lang="de-DE" sz="1100" b="0" i="0" dirty="0">
                <a:solidFill>
                  <a:srgbClr val="64748B"/>
                </a:solidFill>
                <a:latin typeface="Arial"/>
              </a:rPr>
              <a:t>Full </a:t>
            </a:r>
            <a:r>
              <a:rPr lang="de-DE" sz="1100" b="0" i="0" dirty="0" err="1">
                <a:solidFill>
                  <a:srgbClr val="64748B"/>
                </a:solidFill>
                <a:latin typeface="Arial"/>
              </a:rPr>
              <a:t>rebuild</a:t>
            </a:r>
            <a:r>
              <a:rPr lang="de-DE" sz="1100" b="0" i="0" dirty="0">
                <a:solidFill>
                  <a:srgbClr val="64748B"/>
                </a:solidFill>
                <a:latin typeface="Arial"/>
              </a:rPr>
              <a:t> of the </a:t>
            </a:r>
            <a:r>
              <a:rPr lang="de-DE" sz="1100" b="0" i="0" dirty="0" err="1">
                <a:solidFill>
                  <a:srgbClr val="64748B"/>
                </a:solidFill>
                <a:latin typeface="Arial"/>
              </a:rPr>
              <a:t>questions</a:t>
            </a:r>
            <a:r>
              <a:rPr lang="de-DE" sz="1100" b="0" i="0" dirty="0">
                <a:solidFill>
                  <a:srgbClr val="64748B"/>
                </a:solidFill>
                <a:latin typeface="Arial"/>
              </a:rPr>
              <a:t> and </a:t>
            </a:r>
            <a:r>
              <a:rPr lang="de-DE" sz="1100" dirty="0" err="1">
                <a:solidFill>
                  <a:srgbClr val="64748B"/>
                </a:solidFill>
                <a:latin typeface="Arial"/>
              </a:rPr>
              <a:t>calculation</a:t>
            </a:r>
            <a:r>
              <a:rPr lang="de-DE" sz="1100" dirty="0">
                <a:solidFill>
                  <a:srgbClr val="64748B"/>
                </a:solidFill>
                <a:latin typeface="Arial"/>
              </a:rPr>
              <a:t> of the original IP SCORE</a:t>
            </a:r>
            <a:endParaRPr sz="1100" b="0" i="0" dirty="0">
              <a:solidFill>
                <a:srgbClr val="64748B"/>
              </a:solidFill>
              <a:latin typeface="Arial"/>
            </a:endParaRPr>
          </a:p>
        </p:txBody>
      </p:sp>
    </p:spTree>
    <p:extLst>
      <p:ext uri="{BB962C8B-B14F-4D97-AF65-F5344CB8AC3E}">
        <p14:creationId xmlns:p14="http://schemas.microsoft.com/office/powerpoint/2010/main" val="409691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1</a:t>
            </a:r>
          </a:p>
        </p:txBody>
      </p:sp>
      <p:sp>
        <p:nvSpPr>
          <p:cNvPr id="3" name="TextBox 2"/>
          <p:cNvSpPr txBox="1"/>
          <p:nvPr/>
        </p:nvSpPr>
        <p:spPr>
          <a:xfrm>
            <a:off x="777240" y="868680"/>
            <a:ext cx="10637215" cy="468398"/>
          </a:xfrm>
          <a:prstGeom prst="rect">
            <a:avLst/>
          </a:prstGeom>
          <a:noFill/>
        </p:spPr>
        <p:txBody>
          <a:bodyPr wrap="square" lIns="0" tIns="0" rIns="0" bIns="0" anchor="t">
            <a:spAutoFit/>
          </a:bodyPr>
          <a:lstStyle/>
          <a:p>
            <a:pPr algn="l">
              <a:lnSpc>
                <a:spcPct val="110000"/>
              </a:lnSpc>
              <a:spcAft>
                <a:spcPts val="0"/>
              </a:spcAft>
            </a:pPr>
            <a:r>
              <a:rPr sz="3000" b="1" i="0" dirty="0">
                <a:solidFill>
                  <a:srgbClr val="1A1A1A"/>
                </a:solidFill>
                <a:latin typeface="Arial"/>
              </a:rPr>
              <a:t>Module 1 — Install the </a:t>
            </a:r>
            <a:r>
              <a:rPr lang="de-DE" sz="3000" b="1" i="0" dirty="0">
                <a:solidFill>
                  <a:srgbClr val="1A1A1A"/>
                </a:solidFill>
                <a:latin typeface="Arial"/>
              </a:rPr>
              <a:t>AI </a:t>
            </a:r>
            <a:r>
              <a:rPr sz="3000" b="1" i="0" dirty="0">
                <a:solidFill>
                  <a:srgbClr val="1A1A1A"/>
                </a:solidFill>
                <a:latin typeface="Arial"/>
              </a:rPr>
              <a:t>assistant, persistently</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dirty="0">
                <a:solidFill>
                  <a:srgbClr val="BE0F05"/>
                </a:solidFill>
                <a:latin typeface="Arial"/>
              </a:rPr>
              <a:t>"You have a login to a machine you do not own, which is rebuilt without warning, and which holds the largest patent database in the world. How do you get an assistant onto it that is still there on </a:t>
            </a:r>
            <a:r>
              <a:rPr lang="de-DE" sz="1800" b="0" i="1" dirty="0" err="1">
                <a:solidFill>
                  <a:srgbClr val="BE0F05"/>
                </a:solidFill>
                <a:latin typeface="Arial"/>
              </a:rPr>
              <a:t>next</a:t>
            </a:r>
            <a:r>
              <a:rPr lang="de-DE" sz="1800" b="0" i="1" dirty="0">
                <a:solidFill>
                  <a:srgbClr val="BE0F05"/>
                </a:solidFill>
                <a:latin typeface="Arial"/>
              </a:rPr>
              <a:t> </a:t>
            </a:r>
            <a:r>
              <a:rPr lang="de-DE" sz="1800" b="0" i="1" dirty="0" err="1">
                <a:solidFill>
                  <a:srgbClr val="BE0F05"/>
                </a:solidFill>
                <a:latin typeface="Arial"/>
              </a:rPr>
              <a:t>session</a:t>
            </a:r>
            <a:r>
              <a:rPr lang="de-DE" sz="1800" b="0" i="1" dirty="0">
                <a:solidFill>
                  <a:srgbClr val="BE0F05"/>
                </a:solidFill>
                <a:latin typeface="Arial"/>
              </a:rPr>
              <a:t> </a:t>
            </a:r>
            <a:r>
              <a:rPr lang="de-DE" sz="1800" b="0" i="1" dirty="0" err="1">
                <a:solidFill>
                  <a:srgbClr val="BE0F05"/>
                </a:solidFill>
                <a:latin typeface="Arial"/>
              </a:rPr>
              <a:t>start</a:t>
            </a:r>
            <a:r>
              <a:rPr sz="1800" b="0" i="1" dirty="0">
                <a:solidFill>
                  <a:srgbClr val="BE0F05"/>
                </a:solidFill>
                <a:latin typeface="Arial"/>
              </a:rPr>
              <a:t>?"</a:t>
            </a:r>
          </a:p>
        </p:txBody>
      </p:sp>
      <p:sp>
        <p:nvSpPr>
          <p:cNvPr id="5" name="TextBox 4"/>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106424" y="3840480"/>
            <a:ext cx="10308031" cy="242823"/>
          </a:xfrm>
          <a:prstGeom prst="rect">
            <a:avLst/>
          </a:prstGeom>
          <a:noFill/>
        </p:spPr>
        <p:txBody>
          <a:bodyPr wrap="square" lIns="0" tIns="0" rIns="0" bIns="0" anchor="t">
            <a:spAutoFit/>
          </a:bodyPr>
          <a:lstStyle/>
          <a:p>
            <a:pPr algn="l">
              <a:lnSpc>
                <a:spcPct val="125000"/>
              </a:lnSpc>
              <a:spcAft>
                <a:spcPts val="0"/>
              </a:spcAft>
            </a:pPr>
            <a:r>
              <a:rPr sz="1400" b="0" i="0" dirty="0">
                <a:solidFill>
                  <a:srgbClr val="1A1A1A"/>
                </a:solidFill>
                <a:latin typeface="Arial"/>
              </a:rPr>
              <a:t>"I will just install it." The </a:t>
            </a:r>
            <a:r>
              <a:rPr lang="de-DE" sz="1400" dirty="0">
                <a:solidFill>
                  <a:srgbClr val="1A1A1A"/>
                </a:solidFill>
                <a:latin typeface="Arial"/>
              </a:rPr>
              <a:t>usual </a:t>
            </a:r>
            <a:r>
              <a:rPr sz="1400" b="0" i="0" dirty="0">
                <a:solidFill>
                  <a:srgbClr val="1A1A1A"/>
                </a:solidFill>
                <a:latin typeface="Arial"/>
              </a:rPr>
              <a:t>install </a:t>
            </a:r>
            <a:r>
              <a:rPr lang="de-DE" sz="1400" b="0" i="0" dirty="0">
                <a:solidFill>
                  <a:srgbClr val="1A1A1A"/>
                </a:solidFill>
                <a:latin typeface="Arial"/>
              </a:rPr>
              <a:t>and </a:t>
            </a:r>
            <a:r>
              <a:rPr lang="de-DE" sz="1400" b="0" i="0" dirty="0" err="1">
                <a:solidFill>
                  <a:srgbClr val="1A1A1A"/>
                </a:solidFill>
                <a:latin typeface="Arial"/>
              </a:rPr>
              <a:t>config</a:t>
            </a:r>
            <a:r>
              <a:rPr lang="de-DE" sz="1400" b="0" i="0" dirty="0">
                <a:solidFill>
                  <a:srgbClr val="1A1A1A"/>
                </a:solidFill>
                <a:latin typeface="Arial"/>
              </a:rPr>
              <a:t> </a:t>
            </a:r>
            <a:r>
              <a:rPr sz="1400" b="0" i="0" dirty="0">
                <a:solidFill>
                  <a:srgbClr val="1A1A1A"/>
                </a:solidFill>
                <a:latin typeface="Arial"/>
              </a:rPr>
              <a:t>is gone by Monday — nothing deleted, </a:t>
            </a:r>
            <a:r>
              <a:rPr lang="de-DE" sz="1400" b="0" i="0" dirty="0" err="1">
                <a:solidFill>
                  <a:srgbClr val="1A1A1A"/>
                </a:solidFill>
                <a:latin typeface="Arial"/>
              </a:rPr>
              <a:t>simply</a:t>
            </a:r>
            <a:r>
              <a:rPr lang="de-DE" sz="1400" b="0" i="0" dirty="0">
                <a:solidFill>
                  <a:srgbClr val="1A1A1A"/>
                </a:solidFill>
                <a:latin typeface="Arial"/>
              </a:rPr>
              <a:t> </a:t>
            </a:r>
            <a:r>
              <a:rPr sz="1400" b="0" i="0" dirty="0">
                <a:solidFill>
                  <a:srgbClr val="1A1A1A"/>
                </a:solidFill>
                <a:latin typeface="Arial"/>
              </a:rPr>
              <a:t>overwritten.</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106424" y="4407408"/>
            <a:ext cx="10308031" cy="242823"/>
          </a:xfrm>
          <a:prstGeom prst="rect">
            <a:avLst/>
          </a:prstGeom>
          <a:noFill/>
        </p:spPr>
        <p:txBody>
          <a:bodyPr wrap="square" lIns="0" tIns="0" rIns="0" bIns="0" anchor="t">
            <a:spAutoFit/>
          </a:bodyPr>
          <a:lstStyle/>
          <a:p>
            <a:pPr algn="l">
              <a:lnSpc>
                <a:spcPct val="125000"/>
              </a:lnSpc>
              <a:spcAft>
                <a:spcPts val="0"/>
              </a:spcAft>
            </a:pPr>
            <a:r>
              <a:rPr sz="1400" b="0" i="0" dirty="0">
                <a:solidFill>
                  <a:srgbClr val="1A1A1A"/>
                </a:solidFill>
                <a:latin typeface="Arial"/>
              </a:rPr>
              <a:t>"Then I will learn SQL </a:t>
            </a:r>
            <a:r>
              <a:rPr lang="de-DE" sz="1400" b="0" i="0" dirty="0">
                <a:solidFill>
                  <a:srgbClr val="1A1A1A"/>
                </a:solidFill>
                <a:latin typeface="Arial"/>
              </a:rPr>
              <a:t>and PATSTAT </a:t>
            </a:r>
            <a:r>
              <a:rPr lang="de-DE" sz="1400" b="0" i="0" dirty="0" err="1">
                <a:solidFill>
                  <a:srgbClr val="1A1A1A"/>
                </a:solidFill>
                <a:latin typeface="Arial"/>
              </a:rPr>
              <a:t>details</a:t>
            </a:r>
            <a:r>
              <a:rPr sz="1400" b="0" i="0" dirty="0">
                <a:solidFill>
                  <a:srgbClr val="1A1A1A"/>
                </a:solidFill>
                <a:latin typeface="Arial"/>
              </a:rPr>
              <a:t>." That was the barrier for twenty years. </a:t>
            </a:r>
            <a:r>
              <a:rPr lang="de-DE" sz="1400" b="0" i="0" dirty="0">
                <a:solidFill>
                  <a:srgbClr val="1A1A1A"/>
                </a:solidFill>
                <a:latin typeface="Arial"/>
              </a:rPr>
              <a:t>But </a:t>
            </a:r>
            <a:r>
              <a:rPr sz="1400" b="0" i="0" dirty="0" err="1">
                <a:solidFill>
                  <a:srgbClr val="1A1A1A"/>
                </a:solidFill>
                <a:latin typeface="Arial"/>
              </a:rPr>
              <a:t>th</a:t>
            </a:r>
            <a:r>
              <a:rPr lang="de-DE" sz="1400" b="0" i="0" dirty="0" err="1">
                <a:solidFill>
                  <a:srgbClr val="1A1A1A"/>
                </a:solidFill>
                <a:latin typeface="Arial"/>
              </a:rPr>
              <a:t>is</a:t>
            </a:r>
            <a:r>
              <a:rPr lang="de-DE" sz="1400" b="0" i="0" dirty="0">
                <a:solidFill>
                  <a:srgbClr val="1A1A1A"/>
                </a:solidFill>
                <a:latin typeface="Arial"/>
              </a:rPr>
              <a:t> </a:t>
            </a:r>
            <a:r>
              <a:rPr sz="1400" b="0" i="0" dirty="0">
                <a:solidFill>
                  <a:srgbClr val="1A1A1A"/>
                </a:solidFill>
                <a:latin typeface="Arial"/>
              </a:rPr>
              <a:t>part stopped being hard.</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106424" y="4997196"/>
            <a:ext cx="10308031" cy="242823"/>
          </a:xfrm>
          <a:prstGeom prst="rect">
            <a:avLst/>
          </a:prstGeom>
          <a:noFill/>
        </p:spPr>
        <p:txBody>
          <a:bodyPr wrap="square" lIns="0" tIns="0" rIns="0" bIns="0" anchor="t">
            <a:spAutoFit/>
          </a:bodyPr>
          <a:lstStyle/>
          <a:p>
            <a:pPr algn="l">
              <a:lnSpc>
                <a:spcPct val="125000"/>
              </a:lnSpc>
              <a:spcAft>
                <a:spcPts val="0"/>
              </a:spcAft>
            </a:pPr>
            <a:r>
              <a:rPr sz="1400" b="0" i="0" dirty="0">
                <a:solidFill>
                  <a:srgbClr val="1A1A1A"/>
                </a:solidFill>
                <a:latin typeface="Arial"/>
              </a:rPr>
              <a:t>"The assistant will get it wrong." Sometimes. Which is why the SQL it wrote </a:t>
            </a:r>
            <a:r>
              <a:rPr lang="de-DE" sz="1400" b="0" i="0" dirty="0" err="1">
                <a:solidFill>
                  <a:srgbClr val="1A1A1A"/>
                </a:solidFill>
                <a:latin typeface="Arial"/>
              </a:rPr>
              <a:t>is</a:t>
            </a:r>
            <a:r>
              <a:rPr lang="de-DE" sz="1400" b="0" i="0" dirty="0">
                <a:solidFill>
                  <a:srgbClr val="1A1A1A"/>
                </a:solidFill>
                <a:latin typeface="Arial"/>
              </a:rPr>
              <a:t> </a:t>
            </a:r>
            <a:r>
              <a:rPr lang="de-DE" sz="1400" b="0" i="0" dirty="0" err="1">
                <a:solidFill>
                  <a:srgbClr val="1A1A1A"/>
                </a:solidFill>
                <a:latin typeface="Arial"/>
              </a:rPr>
              <a:t>shown</a:t>
            </a:r>
            <a:r>
              <a:rPr lang="de-DE" sz="1400" b="0" i="0" dirty="0">
                <a:solidFill>
                  <a:srgbClr val="1A1A1A"/>
                </a:solidFill>
                <a:latin typeface="Arial"/>
              </a:rPr>
              <a:t> </a:t>
            </a:r>
            <a:r>
              <a:rPr sz="1400" b="0" i="0" dirty="0">
                <a:solidFill>
                  <a:srgbClr val="1A1A1A"/>
                </a:solidFill>
                <a:latin typeface="Arial"/>
              </a:rPr>
              <a:t>on the screen, and you read it.</a:t>
            </a:r>
          </a:p>
        </p:txBody>
      </p:sp>
      <p:sp>
        <p:nvSpPr>
          <p:cNvPr id="12" name="TextBox 11"/>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1_startwithtip/</a:t>
            </a:r>
          </a:p>
        </p:txBody>
      </p:sp>
      <p:sp>
        <p:nvSpPr>
          <p:cNvPr id="13" name="TextBox 12"/>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2 /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1</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dirty="0">
                <a:solidFill>
                  <a:srgbClr val="1A1A1A"/>
                </a:solidFill>
                <a:latin typeface="Arial"/>
              </a:rPr>
              <a:t>An </a:t>
            </a:r>
            <a:r>
              <a:rPr lang="de-DE" sz="1400" b="0" i="0" dirty="0">
                <a:solidFill>
                  <a:srgbClr val="1A1A1A"/>
                </a:solidFill>
                <a:latin typeface="Arial"/>
              </a:rPr>
              <a:t>AI </a:t>
            </a:r>
            <a:r>
              <a:rPr sz="1400" b="0" i="0" dirty="0">
                <a:solidFill>
                  <a:srgbClr val="1A1A1A"/>
                </a:solidFill>
                <a:latin typeface="Arial"/>
              </a:rPr>
              <a:t>assistant that is still installed after the machine restarts</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dirty="0">
                <a:solidFill>
                  <a:srgbClr val="1A1A1A"/>
                </a:solidFill>
                <a:latin typeface="Arial"/>
              </a:rPr>
              <a:t>One </a:t>
            </a:r>
            <a:r>
              <a:rPr lang="de-DE" sz="1400" b="0" i="0" dirty="0">
                <a:solidFill>
                  <a:srgbClr val="1A1A1A"/>
                </a:solidFill>
                <a:latin typeface="Arial"/>
              </a:rPr>
              <a:t>sample </a:t>
            </a:r>
            <a:r>
              <a:rPr sz="1400" b="0" i="0" dirty="0">
                <a:solidFill>
                  <a:srgbClr val="1A1A1A"/>
                </a:solidFill>
                <a:latin typeface="Arial"/>
              </a:rPr>
              <a:t>query you did not write — and can read</a:t>
            </a:r>
            <a:r>
              <a:rPr lang="de-DE" sz="1400" b="0" i="0" dirty="0">
                <a:solidFill>
                  <a:srgbClr val="1A1A1A"/>
                </a:solidFill>
                <a:latin typeface="Arial"/>
              </a:rPr>
              <a:t> and </a:t>
            </a:r>
            <a:r>
              <a:rPr lang="de-DE" sz="1400" b="0" i="0" dirty="0" err="1">
                <a:solidFill>
                  <a:srgbClr val="1A1A1A"/>
                </a:solidFill>
                <a:latin typeface="Arial"/>
              </a:rPr>
              <a:t>execute</a:t>
            </a:r>
            <a:endParaRPr sz="1400" b="0" i="0" dirty="0">
              <a:solidFill>
                <a:srgbClr val="1A1A1A"/>
              </a:solidFill>
              <a:latin typeface="Arial"/>
            </a:endParaRP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lang="de-DE" sz="1400" b="0" i="0" dirty="0">
                <a:solidFill>
                  <a:srgbClr val="1A1A1A"/>
                </a:solidFill>
                <a:latin typeface="Arial"/>
              </a:rPr>
              <a:t>With </a:t>
            </a:r>
            <a:r>
              <a:rPr lang="de-DE" sz="1400" dirty="0">
                <a:solidFill>
                  <a:srgbClr val="1A1A1A"/>
                </a:solidFill>
                <a:latin typeface="Arial"/>
              </a:rPr>
              <a:t>t</a:t>
            </a:r>
            <a:r>
              <a:rPr sz="1400" b="0" i="0" dirty="0">
                <a:solidFill>
                  <a:srgbClr val="1A1A1A"/>
                </a:solidFill>
                <a:latin typeface="Arial"/>
              </a:rPr>
              <a:t>h</a:t>
            </a:r>
            <a:r>
              <a:rPr lang="de-DE" sz="1400" b="0" i="0" dirty="0" err="1">
                <a:solidFill>
                  <a:srgbClr val="1A1A1A"/>
                </a:solidFill>
                <a:latin typeface="Arial"/>
              </a:rPr>
              <a:t>is</a:t>
            </a:r>
            <a:r>
              <a:rPr lang="de-DE" sz="1400" b="0" i="0" dirty="0">
                <a:solidFill>
                  <a:srgbClr val="1A1A1A"/>
                </a:solidFill>
                <a:latin typeface="Arial"/>
              </a:rPr>
              <a:t> </a:t>
            </a:r>
            <a:r>
              <a:rPr sz="1400" b="0" i="0" dirty="0">
                <a:solidFill>
                  <a:srgbClr val="1A1A1A"/>
                </a:solidFill>
                <a:latin typeface="Arial"/>
              </a:rPr>
              <a:t>setup </a:t>
            </a:r>
            <a:r>
              <a:rPr lang="de-DE" sz="1400" b="0" i="0" dirty="0" err="1">
                <a:solidFill>
                  <a:srgbClr val="1A1A1A"/>
                </a:solidFill>
                <a:latin typeface="Arial"/>
              </a:rPr>
              <a:t>you</a:t>
            </a:r>
            <a:r>
              <a:rPr lang="de-DE" sz="1400" b="0" i="0" dirty="0">
                <a:solidFill>
                  <a:srgbClr val="1A1A1A"/>
                </a:solidFill>
                <a:latin typeface="Arial"/>
              </a:rPr>
              <a:t> </a:t>
            </a:r>
            <a:r>
              <a:rPr lang="de-DE" sz="1400" b="0" i="0" dirty="0" err="1">
                <a:solidFill>
                  <a:srgbClr val="1A1A1A"/>
                </a:solidFill>
                <a:latin typeface="Arial"/>
              </a:rPr>
              <a:t>could</a:t>
            </a:r>
            <a:r>
              <a:rPr lang="de-DE" sz="1400" b="0" i="0" dirty="0">
                <a:solidFill>
                  <a:srgbClr val="1A1A1A"/>
                </a:solidFill>
                <a:latin typeface="Arial"/>
              </a:rPr>
              <a:t> </a:t>
            </a:r>
            <a:r>
              <a:rPr sz="1400" b="0" i="0" dirty="0">
                <a:solidFill>
                  <a:srgbClr val="1A1A1A"/>
                </a:solidFill>
                <a:latin typeface="Arial"/>
              </a:rPr>
              <a:t>makes it yours</a:t>
            </a:r>
          </a:p>
        </p:txBody>
      </p:sp>
      <p:sp>
        <p:nvSpPr>
          <p:cNvPr id="8" name="TextBox 7"/>
          <p:cNvSpPr txBox="1"/>
          <p:nvPr/>
        </p:nvSpPr>
        <p:spPr>
          <a:xfrm>
            <a:off x="777240" y="4443984"/>
            <a:ext cx="10637215" cy="274320"/>
          </a:xfrm>
          <a:prstGeom prst="rect">
            <a:avLst/>
          </a:prstGeom>
          <a:noFill/>
        </p:spPr>
        <p:txBody>
          <a:bodyPr wrap="square" lIns="0" tIns="0" rIns="0" bIns="0" anchor="t">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sz="2000" b="1" i="0" dirty="0">
                <a:solidFill>
                  <a:srgbClr val="BE0F05"/>
                </a:solidFill>
                <a:latin typeface="Arial"/>
              </a:rPr>
              <a:t>The barrier was never the database. It was the SQL </a:t>
            </a:r>
            <a:r>
              <a:rPr lang="de-DE" sz="2000" b="1" i="0" dirty="0">
                <a:solidFill>
                  <a:srgbClr val="BE0F05"/>
                </a:solidFill>
                <a:latin typeface="Arial"/>
              </a:rPr>
              <a:t>and PATSTAT </a:t>
            </a:r>
            <a:r>
              <a:rPr lang="de-DE" sz="2000" b="1" i="0" dirty="0" err="1">
                <a:solidFill>
                  <a:srgbClr val="BE0F05"/>
                </a:solidFill>
                <a:latin typeface="Arial"/>
              </a:rPr>
              <a:t>knowledge</a:t>
            </a:r>
            <a:r>
              <a:rPr lang="de-DE" sz="2000" b="1" i="0" dirty="0">
                <a:solidFill>
                  <a:srgbClr val="BE0F05"/>
                </a:solidFill>
                <a:latin typeface="Arial"/>
              </a:rPr>
              <a:t> </a:t>
            </a:r>
            <a:r>
              <a:rPr sz="2000" b="1" i="0" dirty="0">
                <a:solidFill>
                  <a:srgbClr val="BE0F05"/>
                </a:solidFill>
                <a:latin typeface="Arial"/>
              </a:rPr>
              <a:t>—that is the part you can now hand over</a:t>
            </a:r>
            <a:r>
              <a:rPr lang="de-DE" sz="2000" b="1" i="0" dirty="0">
                <a:solidFill>
                  <a:srgbClr val="BE0F05"/>
                </a:solidFill>
                <a:latin typeface="Arial"/>
              </a:rPr>
              <a:t> to an AI </a:t>
            </a:r>
            <a:r>
              <a:rPr lang="de-DE" sz="2000" b="1" i="0" dirty="0" err="1">
                <a:solidFill>
                  <a:srgbClr val="BE0F05"/>
                </a:solidFill>
                <a:latin typeface="Arial"/>
              </a:rPr>
              <a:t>assistent</a:t>
            </a:r>
            <a:r>
              <a:rPr lang="de-DE" sz="2000" b="1" i="0" dirty="0">
                <a:solidFill>
                  <a:srgbClr val="BE0F05"/>
                </a:solidFill>
                <a:latin typeface="Arial"/>
              </a:rPr>
              <a:t>. </a:t>
            </a:r>
            <a:endParaRPr sz="2000" b="1" i="0" dirty="0">
              <a:solidFill>
                <a:srgbClr val="BE0F05"/>
              </a:solidFill>
              <a:latin typeface="Arial"/>
            </a:endParaRPr>
          </a:p>
        </p:txBody>
      </p:sp>
      <p:sp>
        <p:nvSpPr>
          <p:cNvPr id="10" name="TextBox 9"/>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1_startwithtip/</a:t>
            </a:r>
          </a:p>
        </p:txBody>
      </p:sp>
      <p:sp>
        <p:nvSpPr>
          <p:cNvPr id="11" name="TextBox 10"/>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4 / 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2</a:t>
            </a:r>
          </a:p>
        </p:txBody>
      </p:sp>
      <p:sp>
        <p:nvSpPr>
          <p:cNvPr id="3" name="TextBox 2"/>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000" b="1" i="0">
                <a:solidFill>
                  <a:srgbClr val="1A1A1A"/>
                </a:solidFill>
                <a:latin typeface="Arial"/>
              </a:rPr>
              <a:t>Module 2 — The Query Library</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a:solidFill>
                  <a:srgbClr val="BE0F05"/>
                </a:solidFill>
                <a:latin typeface="Arial"/>
              </a:rPr>
              <a:t>"A client walks in: "Who in Europe is working on solid-state batteries?""</a:t>
            </a:r>
          </a:p>
        </p:txBody>
      </p:sp>
      <p:sp>
        <p:nvSpPr>
          <p:cNvPr id="5" name="TextBox 4"/>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106423" y="3899916"/>
            <a:ext cx="10308031" cy="242823"/>
          </a:xfrm>
          <a:prstGeom prst="rect">
            <a:avLst/>
          </a:prstGeom>
          <a:noFill/>
        </p:spPr>
        <p:txBody>
          <a:bodyPr wrap="square" lIns="0" tIns="0" rIns="0" bIns="0" anchor="t">
            <a:spAutoFit/>
          </a:bodyPr>
          <a:lstStyle/>
          <a:p>
            <a:pPr algn="l">
              <a:lnSpc>
                <a:spcPct val="125000"/>
              </a:lnSpc>
              <a:spcAft>
                <a:spcPts val="0"/>
              </a:spcAft>
            </a:pPr>
            <a:r>
              <a:rPr sz="1400" b="0" i="0" dirty="0">
                <a:solidFill>
                  <a:srgbClr val="1A1A1A"/>
                </a:solidFill>
                <a:latin typeface="Arial"/>
              </a:rPr>
              <a:t>The first answer </a:t>
            </a:r>
            <a:r>
              <a:rPr lang="de-DE" sz="1400" b="0" i="0" dirty="0">
                <a:solidFill>
                  <a:srgbClr val="1A1A1A"/>
                </a:solidFill>
                <a:latin typeface="Arial"/>
              </a:rPr>
              <a:t>was </a:t>
            </a:r>
            <a:r>
              <a:rPr sz="1400" b="0" i="0" dirty="0">
                <a:solidFill>
                  <a:srgbClr val="1A1A1A"/>
                </a:solidFill>
                <a:latin typeface="Arial"/>
              </a:rPr>
              <a:t>always a keyword search. It is not wrong</a:t>
            </a:r>
            <a:r>
              <a:rPr lang="de-DE" sz="1400" b="0" i="0" dirty="0">
                <a:solidFill>
                  <a:srgbClr val="1A1A1A"/>
                </a:solidFill>
                <a:latin typeface="Arial"/>
              </a:rPr>
              <a:t>, but </a:t>
            </a:r>
            <a:r>
              <a:rPr lang="de-DE" sz="1400" b="0" i="0" dirty="0" err="1">
                <a:solidFill>
                  <a:srgbClr val="1A1A1A"/>
                </a:solidFill>
                <a:latin typeface="Arial"/>
              </a:rPr>
              <a:t>you</a:t>
            </a:r>
            <a:r>
              <a:rPr lang="de-DE" sz="1400" b="0" i="0" dirty="0">
                <a:solidFill>
                  <a:srgbClr val="1A1A1A"/>
                </a:solidFill>
                <a:latin typeface="Arial"/>
              </a:rPr>
              <a:t> </a:t>
            </a:r>
            <a:r>
              <a:rPr lang="de-DE" sz="1400" b="0" i="0" dirty="0" err="1">
                <a:solidFill>
                  <a:srgbClr val="1A1A1A"/>
                </a:solidFill>
                <a:latin typeface="Arial"/>
              </a:rPr>
              <a:t>can</a:t>
            </a:r>
            <a:r>
              <a:rPr lang="de-DE" sz="1400" b="0" i="0" dirty="0">
                <a:solidFill>
                  <a:srgbClr val="1A1A1A"/>
                </a:solidFill>
                <a:latin typeface="Arial"/>
              </a:rPr>
              <a:t> </a:t>
            </a:r>
            <a:r>
              <a:rPr lang="de-DE" sz="1400" b="0" i="0" dirty="0" err="1">
                <a:solidFill>
                  <a:srgbClr val="1A1A1A"/>
                </a:solidFill>
                <a:latin typeface="Arial"/>
              </a:rPr>
              <a:t>be</a:t>
            </a:r>
            <a:r>
              <a:rPr lang="de-DE" sz="1400" b="0" i="0" dirty="0">
                <a:solidFill>
                  <a:srgbClr val="1A1A1A"/>
                </a:solidFill>
                <a:latin typeface="Arial"/>
              </a:rPr>
              <a:t> </a:t>
            </a:r>
            <a:r>
              <a:rPr lang="de-DE" sz="1400" b="0" i="0" dirty="0" err="1">
                <a:solidFill>
                  <a:srgbClr val="1A1A1A"/>
                </a:solidFill>
                <a:latin typeface="Arial"/>
              </a:rPr>
              <a:t>more</a:t>
            </a:r>
            <a:r>
              <a:rPr lang="de-DE" sz="1400" b="0" i="0" dirty="0">
                <a:solidFill>
                  <a:srgbClr val="1A1A1A"/>
                </a:solidFill>
                <a:latin typeface="Arial"/>
              </a:rPr>
              <a:t> effektive.</a:t>
            </a:r>
            <a:endParaRPr sz="1400" b="0" i="0" dirty="0">
              <a:solidFill>
                <a:srgbClr val="1A1A1A"/>
              </a:solidFill>
              <a:latin typeface="Arial"/>
            </a:endParaRP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106424" y="4407408"/>
            <a:ext cx="10308031" cy="502920"/>
          </a:xfrm>
          <a:prstGeom prst="rect">
            <a:avLst/>
          </a:prstGeom>
          <a:noFill/>
        </p:spPr>
        <p:txBody>
          <a:bodyPr wrap="square" lIns="0" tIns="0" rIns="0" bIns="0" anchor="t">
            <a:spAutoFit/>
          </a:bodyPr>
          <a:lstStyle/>
          <a:p>
            <a:pPr algn="l">
              <a:lnSpc>
                <a:spcPct val="125000"/>
              </a:lnSpc>
              <a:spcAft>
                <a:spcPts val="0"/>
              </a:spcAft>
            </a:pPr>
            <a:r>
              <a:rPr sz="1400" b="0" i="0" dirty="0">
                <a:solidFill>
                  <a:srgbClr val="1A1A1A"/>
                </a:solidFill>
                <a:latin typeface="Arial"/>
              </a:rPr>
              <a:t>Keywords miss everything phrased differently and catch everything that merely mentions the term.</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106423" y="4997196"/>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Neither problem is visible in the result. You get a list, and no way to prove it is complete.</a:t>
            </a:r>
          </a:p>
        </p:txBody>
      </p:sp>
      <p:sp>
        <p:nvSpPr>
          <p:cNvPr id="12" name="TextBox 11"/>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2_querylib/</a:t>
            </a:r>
          </a:p>
        </p:txBody>
      </p:sp>
      <p:sp>
        <p:nvSpPr>
          <p:cNvPr id="13" name="TextBox 12"/>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5 / 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2</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One query adapted to a question you are actually asked, with its result table</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dirty="0">
                <a:solidFill>
                  <a:srgbClr val="1A1A1A"/>
                </a:solidFill>
                <a:latin typeface="Arial"/>
              </a:rPr>
              <a:t>A first feel for what a PATSTAT query costs in time</a:t>
            </a:r>
          </a:p>
        </p:txBody>
      </p:sp>
      <p:sp>
        <p:nvSpPr>
          <p:cNvPr id="7" name="TextBox 6"/>
          <p:cNvSpPr txBox="1"/>
          <p:nvPr/>
        </p:nvSpPr>
        <p:spPr>
          <a:xfrm>
            <a:off x="777240" y="4325112"/>
            <a:ext cx="10637215" cy="274320"/>
          </a:xfrm>
          <a:prstGeom prst="rect">
            <a:avLst/>
          </a:prstGeom>
          <a:noFill/>
        </p:spPr>
        <p:txBody>
          <a:bodyPr wrap="square" lIns="0" tIns="0" rIns="0" bIns="0" anchor="t">
            <a:spAutoFit/>
          </a:bodyPr>
          <a:lstStyle/>
          <a:p>
            <a:pPr algn="l">
              <a:lnSpc>
                <a:spcPct val="125000"/>
              </a:lnSpc>
              <a:spcAft>
                <a:spcPts val="0"/>
              </a:spcAft>
            </a:pPr>
            <a:r>
              <a:rPr sz="1200" b="1" i="0" dirty="0">
                <a:solidFill>
                  <a:srgbClr val="BE0F05"/>
                </a:solidFill>
                <a:latin typeface="Arial"/>
              </a:rPr>
              <a:t>The one sentence to remember</a:t>
            </a:r>
          </a:p>
        </p:txBody>
      </p:sp>
      <p:sp>
        <p:nvSpPr>
          <p:cNvPr id="8" name="Rounded Rectangle 7"/>
          <p:cNvSpPr/>
          <p:nvPr/>
        </p:nvSpPr>
        <p:spPr>
          <a:xfrm>
            <a:off x="777240" y="4736592"/>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sz="2000" b="1" i="0" dirty="0">
                <a:solidFill>
                  <a:srgbClr val="BE0F05"/>
                </a:solidFill>
                <a:latin typeface="Arial"/>
              </a:rPr>
              <a:t>An analysis you cannot </a:t>
            </a:r>
            <a:r>
              <a:rPr lang="de-DE" sz="2000" b="1" i="0" dirty="0" err="1">
                <a:solidFill>
                  <a:srgbClr val="BE0F05"/>
                </a:solidFill>
                <a:latin typeface="Arial"/>
              </a:rPr>
              <a:t>understand</a:t>
            </a:r>
            <a:r>
              <a:rPr lang="de-DE" sz="2000" b="1" dirty="0">
                <a:solidFill>
                  <a:srgbClr val="BE0F05"/>
                </a:solidFill>
                <a:latin typeface="Arial"/>
              </a:rPr>
              <a:t>, </a:t>
            </a:r>
            <a:r>
              <a:rPr sz="2000" b="1" i="0" dirty="0">
                <a:solidFill>
                  <a:srgbClr val="BE0F05"/>
                </a:solidFill>
                <a:latin typeface="Arial"/>
              </a:rPr>
              <a:t>is one you cannot defend.</a:t>
            </a:r>
          </a:p>
        </p:txBody>
      </p:sp>
      <p:sp>
        <p:nvSpPr>
          <p:cNvPr id="9" name="TextBox 8"/>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2_querylib/</a:t>
            </a:r>
          </a:p>
        </p:txBody>
      </p:sp>
      <p:sp>
        <p:nvSpPr>
          <p:cNvPr id="10" name="TextBox 9"/>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7 / 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3</a:t>
            </a:r>
          </a:p>
        </p:txBody>
      </p:sp>
      <p:sp>
        <p:nvSpPr>
          <p:cNvPr id="3" name="TextBox 2"/>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000" b="1" i="0">
                <a:solidFill>
                  <a:srgbClr val="1A1A1A"/>
                </a:solidFill>
                <a:latin typeface="Arial"/>
              </a:rPr>
              <a:t>Module 3 — PATSTAT Explorer</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a:solidFill>
                  <a:srgbClr val="BE0F05"/>
                </a:solidFill>
                <a:latin typeface="Arial"/>
              </a:rPr>
              <a:t>"A client asks how big Siemens Healthineers' patent portfolio is. You run a name search. You get 200 rows. Which one is the answer?"</a:t>
            </a:r>
          </a:p>
        </p:txBody>
      </p:sp>
      <p:sp>
        <p:nvSpPr>
          <p:cNvPr id="5" name="TextBox 4"/>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106424" y="3840480"/>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None of them. PATSTAT does not know companies — it knows names, as typed on each application.</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106424" y="4407408"/>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One entry per spelling, per country, per subsidiary, per typo. There is no record to look up.</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106424" y="4974336"/>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Take the biggest row and you have undercounted the group — as a clean, confident-looking number.</a:t>
            </a:r>
          </a:p>
        </p:txBody>
      </p:sp>
      <p:sp>
        <p:nvSpPr>
          <p:cNvPr id="12" name="TextBox 11"/>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3_patstat_explorer/</a:t>
            </a:r>
          </a:p>
        </p:txBody>
      </p:sp>
      <p:sp>
        <p:nvSpPr>
          <p:cNvPr id="13" name="TextBox 12"/>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8 / 20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3</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dirty="0">
                <a:solidFill>
                  <a:srgbClr val="1A1A1A"/>
                </a:solidFill>
                <a:latin typeface="Arial"/>
              </a:rPr>
              <a:t>One consolidated applicant group — a named list of spellings you decided belong together</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The group's family count, filing offices and technology profile</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A written note of what your consolidation missed</a:t>
            </a:r>
          </a:p>
        </p:txBody>
      </p:sp>
      <p:sp>
        <p:nvSpPr>
          <p:cNvPr id="8" name="TextBox 7"/>
          <p:cNvSpPr txBox="1"/>
          <p:nvPr/>
        </p:nvSpPr>
        <p:spPr>
          <a:xfrm>
            <a:off x="777240" y="4443984"/>
            <a:ext cx="10637215" cy="274320"/>
          </a:xfrm>
          <a:prstGeom prst="rect">
            <a:avLst/>
          </a:prstGeom>
          <a:noFill/>
        </p:spPr>
        <p:txBody>
          <a:bodyPr wrap="square" lIns="0" tIns="0" rIns="0" bIns="0" anchor="t">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b="1" i="0" dirty="0">
                <a:solidFill>
                  <a:srgbClr val="BE0F05"/>
                </a:solidFill>
                <a:latin typeface="Arial"/>
              </a:rPr>
              <a:t>Consolidation is a judgement, not a lookup. What makes the number defensible is that you wrote the decision down.</a:t>
            </a:r>
          </a:p>
        </p:txBody>
      </p:sp>
      <p:sp>
        <p:nvSpPr>
          <p:cNvPr id="10" name="TextBox 9"/>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3_patstat_explorer/</a:t>
            </a:r>
          </a:p>
        </p:txBody>
      </p:sp>
      <p:sp>
        <p:nvSpPr>
          <p:cNvPr id="11" name="TextBox 10"/>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10 / 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4</a:t>
            </a:r>
          </a:p>
        </p:txBody>
      </p:sp>
      <p:sp>
        <p:nvSpPr>
          <p:cNvPr id="3" name="TextBox 2"/>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000" b="1" i="0">
                <a:solidFill>
                  <a:srgbClr val="1A1A1A"/>
                </a:solidFill>
                <a:latin typeface="Arial"/>
              </a:rPr>
              <a:t>Module 4 — Regional Lead Generation</a:t>
            </a:r>
          </a:p>
        </p:txBody>
      </p:sp>
      <p:sp>
        <p:nvSpPr>
          <p:cNvPr id="4" name="Rounded Rectangle 3"/>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dirty="0">
                <a:solidFill>
                  <a:srgbClr val="BE0F05"/>
                </a:solidFill>
                <a:latin typeface="Arial"/>
              </a:rPr>
              <a:t>"Your PATLIB is asked to justify its outreach budget. Which companies in your region should you actually be talking to — and why those?"</a:t>
            </a:r>
          </a:p>
        </p:txBody>
      </p:sp>
      <p:sp>
        <p:nvSpPr>
          <p:cNvPr id="5" name="TextBox 4"/>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6" name="Oval 5"/>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106424" y="3840480"/>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Every PATLIB has a contact list. Almost none can say how it was built.</a:t>
            </a:r>
          </a:p>
        </p:txBody>
      </p:sp>
      <p:sp>
        <p:nvSpPr>
          <p:cNvPr id="8" name="Oval 7"/>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106424" y="4407408"/>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Who walked in, who came to the last event, who somebody remembered.</a:t>
            </a:r>
          </a:p>
        </p:txBody>
      </p:sp>
      <p:sp>
        <p:nvSpPr>
          <p:cNvPr id="10" name="Oval 9"/>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106424" y="4974336"/>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The question a ranked list has to survive is not 'who is on it' but 'who is missing'.</a:t>
            </a:r>
          </a:p>
        </p:txBody>
      </p:sp>
      <p:sp>
        <p:nvSpPr>
          <p:cNvPr id="12" name="TextBox 11"/>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4_lead_generation/</a:t>
            </a:r>
          </a:p>
        </p:txBody>
      </p:sp>
      <p:sp>
        <p:nvSpPr>
          <p:cNvPr id="13" name="TextBox 12"/>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11 / 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ARNE — THE CLAIM, THEN THE LADDER · MODULE 4</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A named shortlist of companies in your region — family count, depth tier, reach tier, zones</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The grid showing how your region distributes across the tiers</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One defensible sentence about what the list does not contain</a:t>
            </a:r>
          </a:p>
        </p:txBody>
      </p:sp>
      <p:sp>
        <p:nvSpPr>
          <p:cNvPr id="8" name="TextBox 7"/>
          <p:cNvSpPr txBox="1"/>
          <p:nvPr/>
        </p:nvSpPr>
        <p:spPr>
          <a:xfrm>
            <a:off x="777240" y="4443984"/>
            <a:ext cx="10637215" cy="274320"/>
          </a:xfrm>
          <a:prstGeom prst="rect">
            <a:avLst/>
          </a:prstGeom>
          <a:noFill/>
        </p:spPr>
        <p:txBody>
          <a:bodyPr wrap="square" lIns="0" tIns="0" rIns="0" bIns="0" anchor="t">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b="1" i="0" dirty="0">
                <a:solidFill>
                  <a:srgbClr val="BE0F05"/>
                </a:solidFill>
                <a:latin typeface="Arial"/>
              </a:rPr>
              <a:t>This is the EP/PCT-active subset of your region. Roughly 70% of national families never take that route — say so under the table.</a:t>
            </a:r>
          </a:p>
        </p:txBody>
      </p:sp>
      <p:sp>
        <p:nvSpPr>
          <p:cNvPr id="10" name="TextBox 9"/>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4_lead_generation/</a:t>
            </a:r>
          </a:p>
        </p:txBody>
      </p:sp>
      <p:sp>
        <p:nvSpPr>
          <p:cNvPr id="11" name="TextBox 10"/>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13 / 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RICCARDO — TWO USE CASES · MODULE 5</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Landscape analyses after Riccardo Priore, Centro PATLIB, AREA Science Park</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000" b="1" i="0">
                <a:solidFill>
                  <a:srgbClr val="1A1A1A"/>
                </a:solidFill>
                <a:latin typeface="Arial"/>
              </a:rPr>
              <a:t>Module 5 — Patent Landscape Reports</a:t>
            </a:r>
          </a:p>
        </p:txBody>
      </p:sp>
      <p:sp>
        <p:nvSpPr>
          <p:cNvPr id="5" name="Rounded Rectangle 4"/>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a:solidFill>
                  <a:srgbClr val="BE0F05"/>
                </a:solidFill>
                <a:latin typeface="Arial"/>
              </a:rPr>
              <a:t>"A regional cluster manager asks for a picture of what is happening in antibiotic resistance. Where do you start?"</a:t>
            </a:r>
          </a:p>
        </p:txBody>
      </p:sp>
      <p:sp>
        <p:nvSpPr>
          <p:cNvPr id="6" name="TextBox 5"/>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7" name="Oval 6"/>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06424" y="3840480"/>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"drug resistance" is dominated by cancer — an oncology landscape wearing the wrong label.</a:t>
            </a:r>
          </a:p>
        </p:txBody>
      </p:sp>
      <p:sp>
        <p:nvSpPr>
          <p:cNvPr id="9" name="Oval 8"/>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106424" y="4407408"/>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Bare acronyms — MRSA, VRE, ESBL — are noisy and appear where the subject is not.</a:t>
            </a:r>
          </a:p>
        </p:txBody>
      </p:sp>
      <p:sp>
        <p:nvSpPr>
          <p:cNvPr id="11" name="Oval 10"/>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106424" y="4974336"/>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Neither is visible in the result: a large corpus, looking healthy, about something else.</a:t>
            </a:r>
          </a:p>
        </p:txBody>
      </p:sp>
      <p:sp>
        <p:nvSpPr>
          <p:cNvPr id="13" name="TextBox 12"/>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5_patentreports/</a:t>
            </a:r>
          </a:p>
        </p:txBody>
      </p:sp>
      <p:sp>
        <p:nvSpPr>
          <p:cNvPr id="14" name="TextBox 13"/>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14 / 20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777240"/>
            <a:ext cx="10637215" cy="1554480"/>
          </a:xfrm>
          <a:prstGeom prst="rect">
            <a:avLst/>
          </a:prstGeom>
          <a:noFill/>
        </p:spPr>
        <p:txBody>
          <a:bodyPr wrap="square" lIns="0" tIns="0" rIns="0" bIns="0" anchor="t">
            <a:spAutoFit/>
          </a:bodyPr>
          <a:lstStyle/>
          <a:p>
            <a:pPr algn="l">
              <a:lnSpc>
                <a:spcPct val="100000"/>
              </a:lnSpc>
              <a:spcAft>
                <a:spcPts val="200"/>
              </a:spcAft>
            </a:pPr>
            <a:r>
              <a:rPr sz="4400" b="1" i="0">
                <a:solidFill>
                  <a:srgbClr val="BE0F05"/>
                </a:solidFill>
                <a:latin typeface="Arial"/>
              </a:rPr>
              <a:t>Antibiotic Resistance</a:t>
            </a:r>
          </a:p>
          <a:p>
            <a:pPr algn="l">
              <a:lnSpc>
                <a:spcPct val="125000"/>
              </a:lnSpc>
              <a:spcAft>
                <a:spcPts val="200"/>
              </a:spcAft>
            </a:pPr>
            <a:r>
              <a:rPr sz="2000" b="0" i="0">
                <a:solidFill>
                  <a:srgbClr val="1A1A1A"/>
                </a:solidFill>
                <a:latin typeface="Arial"/>
              </a:rPr>
              <a:t>A Live Patent Landscape, Built Notebook by Notebook</a:t>
            </a:r>
          </a:p>
          <a:p>
            <a:pPr algn="l">
              <a:lnSpc>
                <a:spcPct val="125000"/>
              </a:lnSpc>
              <a:spcAft>
                <a:spcPts val="0"/>
              </a:spcAft>
            </a:pPr>
            <a:r>
              <a:rPr sz="1300" b="0" i="0">
                <a:solidFill>
                  <a:srgbClr val="64748B"/>
                </a:solidFill>
                <a:latin typeface="Arial"/>
              </a:rPr>
              <a:t>PATLIB Conference 2026 · Warsaw</a:t>
            </a:r>
          </a:p>
        </p:txBody>
      </p:sp>
      <p:sp>
        <p:nvSpPr>
          <p:cNvPr id="4" name="Rounded Rectangle 3"/>
          <p:cNvSpPr/>
          <p:nvPr/>
        </p:nvSpPr>
        <p:spPr>
          <a:xfrm>
            <a:off x="777240" y="2514600"/>
            <a:ext cx="10637215" cy="96012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46304" rIns="274320" bIns="146304" rtlCol="0" anchor="ctr"/>
          <a:lstStyle/>
          <a:p>
            <a:pPr algn="l">
              <a:lnSpc>
                <a:spcPct val="130000"/>
              </a:lnSpc>
              <a:spcAft>
                <a:spcPts val="0"/>
              </a:spcAft>
            </a:pPr>
            <a:r>
              <a:rPr sz="1400" b="0" i="1">
                <a:solidFill>
                  <a:srgbClr val="1A1A1A"/>
                </a:solidFill>
                <a:latin typeface="Arial"/>
              </a:rPr>
              <a:t>What you will see live: four short notebooks that turn a research question into a finished, browsable patent landscape report — using EPO's Technology Intelligence Platform (TIP) and the PATSTAT patent database.</a:t>
            </a:r>
          </a:p>
        </p:txBody>
      </p:sp>
      <p:sp>
        <p:nvSpPr>
          <p:cNvPr id="5" name="Rounded Rectangle 4"/>
          <p:cNvSpPr/>
          <p:nvPr/>
        </p:nvSpPr>
        <p:spPr>
          <a:xfrm>
            <a:off x="586587" y="3977639"/>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86587" y="3977639"/>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1 · Search
strategy</a:t>
            </a:r>
          </a:p>
        </p:txBody>
      </p:sp>
      <p:sp>
        <p:nvSpPr>
          <p:cNvPr id="7" name="Right Arrow 6"/>
          <p:cNvSpPr/>
          <p:nvPr/>
        </p:nvSpPr>
        <p:spPr>
          <a:xfrm>
            <a:off x="3018891" y="4315967"/>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66947" y="3977639"/>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466947" y="3977639"/>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2 · Core
landscape</a:t>
            </a:r>
          </a:p>
        </p:txBody>
      </p:sp>
      <p:sp>
        <p:nvSpPr>
          <p:cNvPr id="10" name="Right Arrow 9"/>
          <p:cNvSpPr/>
          <p:nvPr/>
        </p:nvSpPr>
        <p:spPr>
          <a:xfrm>
            <a:off x="5899251" y="4315967"/>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47307" y="3977639"/>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47307" y="3977639"/>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3 · Technology
network</a:t>
            </a:r>
          </a:p>
        </p:txBody>
      </p:sp>
      <p:sp>
        <p:nvSpPr>
          <p:cNvPr id="13" name="Right Arrow 12"/>
          <p:cNvSpPr/>
          <p:nvPr/>
        </p:nvSpPr>
        <p:spPr>
          <a:xfrm>
            <a:off x="8779611" y="4315967"/>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27667" y="3977639"/>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227667" y="3977639"/>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4 · Assemble
report</a:t>
            </a:r>
          </a:p>
        </p:txBody>
      </p:sp>
      <p:sp>
        <p:nvSpPr>
          <p:cNvPr id="16" name="TextBox 15"/>
          <p:cNvSpPr txBox="1"/>
          <p:nvPr/>
        </p:nvSpPr>
        <p:spPr>
          <a:xfrm>
            <a:off x="777240" y="5257800"/>
            <a:ext cx="10637215" cy="365760"/>
          </a:xfrm>
          <a:prstGeom prst="rect">
            <a:avLst/>
          </a:prstGeom>
          <a:noFill/>
        </p:spPr>
        <p:txBody>
          <a:bodyPr wrap="square" lIns="0" tIns="0" rIns="0" bIns="0" anchor="t">
            <a:spAutoFit/>
          </a:bodyPr>
          <a:lstStyle/>
          <a:p>
            <a:pPr algn="l">
              <a:lnSpc>
                <a:spcPct val="125000"/>
              </a:lnSpc>
              <a:spcAft>
                <a:spcPts val="0"/>
              </a:spcAft>
            </a:pPr>
            <a:r>
              <a:rPr sz="1100" b="0" i="0">
                <a:solidFill>
                  <a:srgbClr val="64748B"/>
                </a:solidFill>
                <a:latin typeface="Arial"/>
              </a:rPr>
              <a:t>created by Riccardo Priore, Centro PATLIB, AREA Science Park · rebuilt for TIP4PATLIBS by Arne Krüger (mtc.berlin)</a:t>
            </a:r>
          </a:p>
        </p:txBody>
      </p:sp>
      <p:sp>
        <p:nvSpPr>
          <p:cNvPr id="17" name="TextBox 16"/>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6_patentreports / 2_antibiotic_resistance_rebuild</a:t>
            </a:r>
          </a:p>
        </p:txBody>
      </p:sp>
      <p:sp>
        <p:nvSpPr>
          <p:cNvPr id="18" name="TextBox 17"/>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Antibiotic Resistance · Live Demo · 1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RICCARDO — TWO USE CASES · MODULE 5</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One self-contained HTML report, 13 charts, no internet needed</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One workbook carrying the data behind every chart</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A written search strategy — including its exclusions</a:t>
            </a:r>
          </a:p>
        </p:txBody>
      </p:sp>
      <p:sp>
        <p:nvSpPr>
          <p:cNvPr id="8" name="TextBox 7"/>
          <p:cNvSpPr txBox="1"/>
          <p:nvPr/>
        </p:nvSpPr>
        <p:spPr>
          <a:xfrm>
            <a:off x="777240" y="4443984"/>
            <a:ext cx="10637215" cy="274320"/>
          </a:xfrm>
          <a:prstGeom prst="rect">
            <a:avLst/>
          </a:prstGeom>
          <a:noFill/>
        </p:spPr>
        <p:txBody>
          <a:bodyPr wrap="square" lIns="0" tIns="0" rIns="0" bIns="0" anchor="t">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sz="2000" b="1" i="0" dirty="0">
                <a:solidFill>
                  <a:srgbClr val="BE0F05"/>
                </a:solidFill>
                <a:latin typeface="Arial"/>
              </a:rPr>
              <a:t>The analyses are generic. The corpus definition is the part that is yours, and the part you have to defend.</a:t>
            </a:r>
          </a:p>
        </p:txBody>
      </p:sp>
      <p:sp>
        <p:nvSpPr>
          <p:cNvPr id="10" name="TextBox 9"/>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5_patentreports/</a:t>
            </a:r>
          </a:p>
        </p:txBody>
      </p:sp>
      <p:sp>
        <p:nvSpPr>
          <p:cNvPr id="11" name="TextBox 10"/>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16 / 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RICCARDO — TWO USE CASES · MODULE 6</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IPScore is an EPO tool; this is the course's own implementation of the 3.01 model</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3000" b="1" i="0">
                <a:solidFill>
                  <a:srgbClr val="1A1A1A"/>
                </a:solidFill>
                <a:latin typeface="Arial"/>
              </a:rPr>
              <a:t>Module 6 — What is this patent worth?</a:t>
            </a:r>
          </a:p>
        </p:txBody>
      </p:sp>
      <p:sp>
        <p:nvSpPr>
          <p:cNvPr id="5" name="Rounded Rectangle 4"/>
          <p:cNvSpPr/>
          <p:nvPr/>
        </p:nvSpPr>
        <p:spPr>
          <a:xfrm>
            <a:off x="777240" y="1783080"/>
            <a:ext cx="10637215" cy="13716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tIns="182880" rIns="310896" bIns="182880" rtlCol="0" anchor="ctr"/>
          <a:lstStyle/>
          <a:p>
            <a:pPr algn="l">
              <a:lnSpc>
                <a:spcPct val="125000"/>
              </a:lnSpc>
              <a:spcAft>
                <a:spcPts val="0"/>
              </a:spcAft>
            </a:pPr>
            <a:r>
              <a:rPr sz="1800" b="0" i="1">
                <a:solidFill>
                  <a:srgbClr val="BE0F05"/>
                </a:solidFill>
                <a:latin typeface="Arial"/>
              </a:rPr>
              <a:t>"A client puts a granted European patent on the table and asks what it is worth."</a:t>
            </a:r>
          </a:p>
        </p:txBody>
      </p:sp>
      <p:sp>
        <p:nvSpPr>
          <p:cNvPr id="6" name="TextBox 5"/>
          <p:cNvSpPr txBox="1"/>
          <p:nvPr/>
        </p:nvSpPr>
        <p:spPr>
          <a:xfrm>
            <a:off x="777240" y="3429000"/>
            <a:ext cx="10637215" cy="274320"/>
          </a:xfrm>
          <a:prstGeom prst="rect">
            <a:avLst/>
          </a:prstGeom>
          <a:noFill/>
        </p:spPr>
        <p:txBody>
          <a:bodyPr wrap="square" lIns="0" tIns="0" rIns="0" bIns="0" anchor="t">
            <a:spAutoFit/>
          </a:bodyPr>
          <a:lstStyle/>
          <a:p>
            <a:pPr algn="l">
              <a:lnSpc>
                <a:spcPct val="125000"/>
              </a:lnSpc>
              <a:spcAft>
                <a:spcPts val="0"/>
              </a:spcAft>
            </a:pPr>
            <a:r>
              <a:rPr sz="1300" b="1" i="0">
                <a:solidFill>
                  <a:srgbClr val="BE0F05"/>
                </a:solidFill>
                <a:latin typeface="Arial"/>
              </a:rPr>
              <a:t>Why the obvious answer fails</a:t>
            </a:r>
          </a:p>
        </p:txBody>
      </p:sp>
      <p:sp>
        <p:nvSpPr>
          <p:cNvPr id="7" name="Oval 6"/>
          <p:cNvSpPr/>
          <p:nvPr/>
        </p:nvSpPr>
        <p:spPr>
          <a:xfrm>
            <a:off x="777240" y="3986784"/>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06424" y="3840480"/>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Renewal costs, comparable licence rates, "it depends" — or that the question is unanswerable.</a:t>
            </a:r>
          </a:p>
        </p:txBody>
      </p:sp>
      <p:sp>
        <p:nvSpPr>
          <p:cNvPr id="9" name="Oval 8"/>
          <p:cNvSpPr/>
          <p:nvPr/>
        </p:nvSpPr>
        <p:spPr>
          <a:xfrm>
            <a:off x="777240" y="4553712"/>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1106424" y="4407408"/>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IPScore answers it: 40 questions, seven figures from the accounts, a ten-year discounted cash flow.</a:t>
            </a:r>
          </a:p>
        </p:txBody>
      </p:sp>
      <p:sp>
        <p:nvSpPr>
          <p:cNvPr id="11" name="Oval 10"/>
          <p:cNvSpPr/>
          <p:nvPr/>
        </p:nvSpPr>
        <p:spPr>
          <a:xfrm>
            <a:off x="777240" y="5120640"/>
            <a:ext cx="91440" cy="91440"/>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106424" y="4974336"/>
            <a:ext cx="10308031" cy="502920"/>
          </a:xfrm>
          <a:prstGeom prst="rect">
            <a:avLst/>
          </a:prstGeom>
          <a:noFill/>
        </p:spPr>
        <p:txBody>
          <a:bodyPr wrap="square" lIns="0" tIns="0" rIns="0" bIns="0" anchor="t">
            <a:spAutoFit/>
          </a:bodyPr>
          <a:lstStyle/>
          <a:p>
            <a:pPr algn="l">
              <a:lnSpc>
                <a:spcPct val="125000"/>
              </a:lnSpc>
              <a:spcAft>
                <a:spcPts val="0"/>
              </a:spcAft>
            </a:pPr>
            <a:r>
              <a:rPr sz="1400" b="0" i="0">
                <a:solidFill>
                  <a:srgbClr val="1A1A1A"/>
                </a:solidFill>
                <a:latin typeface="Arial"/>
              </a:rPr>
              <a:t>And then: all 40 answers come from a person. The engine is exact; its inputs are opinions.</a:t>
            </a:r>
          </a:p>
        </p:txBody>
      </p:sp>
      <p:sp>
        <p:nvSpPr>
          <p:cNvPr id="13" name="TextBox 12"/>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6_ipscore_rebuild/</a:t>
            </a:r>
          </a:p>
        </p:txBody>
      </p:sp>
      <p:sp>
        <p:nvSpPr>
          <p:cNvPr id="14" name="TextBox 13"/>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17 / 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777240"/>
            <a:ext cx="10637215" cy="1554480"/>
          </a:xfrm>
          <a:prstGeom prst="rect">
            <a:avLst/>
          </a:prstGeom>
          <a:noFill/>
        </p:spPr>
        <p:txBody>
          <a:bodyPr wrap="square" lIns="0" tIns="0" rIns="0" bIns="0" anchor="t">
            <a:spAutoFit/>
          </a:bodyPr>
          <a:lstStyle/>
          <a:p>
            <a:pPr algn="l">
              <a:lnSpc>
                <a:spcPct val="100000"/>
              </a:lnSpc>
              <a:spcAft>
                <a:spcPts val="200"/>
              </a:spcAft>
            </a:pPr>
            <a:r>
              <a:rPr sz="4200" b="1" i="0">
                <a:solidFill>
                  <a:srgbClr val="BE0F05"/>
                </a:solidFill>
                <a:latin typeface="Arial"/>
              </a:rPr>
              <a:t>IPScore, Notebook by Notebook</a:t>
            </a:r>
          </a:p>
          <a:p>
            <a:pPr algn="l">
              <a:lnSpc>
                <a:spcPct val="125000"/>
              </a:lnSpc>
              <a:spcAft>
                <a:spcPts val="200"/>
              </a:spcAft>
            </a:pPr>
            <a:r>
              <a:rPr sz="1900" b="0" i="0">
                <a:solidFill>
                  <a:srgbClr val="1A1A1A"/>
                </a:solidFill>
                <a:latin typeface="Arial"/>
              </a:rPr>
              <a:t>What Each of the Four Notebooks Does, and How They Fit Together</a:t>
            </a:r>
          </a:p>
          <a:p>
            <a:pPr algn="l">
              <a:lnSpc>
                <a:spcPct val="125000"/>
              </a:lnSpc>
              <a:spcAft>
                <a:spcPts val="0"/>
              </a:spcAft>
            </a:pPr>
            <a:r>
              <a:rPr sz="1300" b="0" i="0">
                <a:solidFill>
                  <a:srgbClr val="64748B"/>
                </a:solidFill>
                <a:latin typeface="Arial"/>
              </a:rPr>
              <a:t>8_ipscore_rebuild/ · TIP4PATLIBS · PATLIB Conference 2026 · Warsaw</a:t>
            </a:r>
          </a:p>
        </p:txBody>
      </p:sp>
      <p:sp>
        <p:nvSpPr>
          <p:cNvPr id="4" name="Rounded Rectangle 3"/>
          <p:cNvSpPr/>
          <p:nvPr/>
        </p:nvSpPr>
        <p:spPr>
          <a:xfrm>
            <a:off x="777240" y="2468880"/>
            <a:ext cx="10637215" cy="96012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146304" rIns="274320" bIns="146304" rtlCol="0" anchor="ctr"/>
          <a:lstStyle/>
          <a:p>
            <a:pPr algn="l">
              <a:lnSpc>
                <a:spcPct val="130000"/>
              </a:lnSpc>
              <a:spcAft>
                <a:spcPts val="0"/>
              </a:spcAft>
            </a:pPr>
            <a:r>
              <a:rPr sz="1400" b="0" i="1">
                <a:solidFill>
                  <a:srgbClr val="1A1A1A"/>
                </a:solidFill>
                <a:latin typeface="Arial"/>
              </a:rPr>
              <a:t>The goal of this deck: not just what each notebook produces, but why it exists — and exactly what it hands to the notebook after it, so the whole chain reads as one argument instead of four separate exercises.</a:t>
            </a:r>
          </a:p>
        </p:txBody>
      </p:sp>
      <p:sp>
        <p:nvSpPr>
          <p:cNvPr id="5" name="Rounded Rectangle 4"/>
          <p:cNvSpPr/>
          <p:nvPr/>
        </p:nvSpPr>
        <p:spPr>
          <a:xfrm>
            <a:off x="58658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6" name="TextBox 5"/>
          <p:cNvSpPr txBox="1"/>
          <p:nvPr/>
        </p:nvSpPr>
        <p:spPr>
          <a:xfrm>
            <a:off x="58658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1 · The
model</a:t>
            </a:r>
          </a:p>
        </p:txBody>
      </p:sp>
      <p:sp>
        <p:nvSpPr>
          <p:cNvPr id="7" name="Right Arrow 6"/>
          <p:cNvSpPr/>
          <p:nvPr/>
        </p:nvSpPr>
        <p:spPr>
          <a:xfrm>
            <a:off x="301889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6694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346694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2 · Evidence
from PATSTAT</a:t>
            </a:r>
          </a:p>
        </p:txBody>
      </p:sp>
      <p:sp>
        <p:nvSpPr>
          <p:cNvPr id="10" name="Right Arrow 9"/>
          <p:cNvSpPr/>
          <p:nvPr/>
        </p:nvSpPr>
        <p:spPr>
          <a:xfrm>
            <a:off x="589925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634730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4730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3 · Which lever
moves it?</a:t>
            </a:r>
          </a:p>
        </p:txBody>
      </p:sp>
      <p:sp>
        <p:nvSpPr>
          <p:cNvPr id="13" name="Right Arrow 12"/>
          <p:cNvSpPr/>
          <p:nvPr/>
        </p:nvSpPr>
        <p:spPr>
          <a:xfrm>
            <a:off x="8779611" y="4270248"/>
            <a:ext cx="393192" cy="274320"/>
          </a:xfrm>
          <a:prstGeom prst="rightArrow">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227667" y="3931920"/>
            <a:ext cx="2377440" cy="960120"/>
          </a:xfrm>
          <a:prstGeom prst="roundRect">
            <a:avLst>
              <a:gd name="adj" fmla="val 10000"/>
            </a:avLst>
          </a:prstGeom>
          <a:noFill/>
          <a:ln w="1905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5" name="TextBox 14"/>
          <p:cNvSpPr txBox="1"/>
          <p:nvPr/>
        </p:nvSpPr>
        <p:spPr>
          <a:xfrm>
            <a:off x="9227667" y="3931920"/>
            <a:ext cx="2377440" cy="960120"/>
          </a:xfrm>
          <a:prstGeom prst="rect">
            <a:avLst/>
          </a:prstGeom>
          <a:noFill/>
        </p:spPr>
        <p:txBody>
          <a:bodyPr wrap="square" lIns="0" tIns="0" rIns="0" bIns="0" anchor="ctr">
            <a:spAutoFit/>
          </a:bodyPr>
          <a:lstStyle/>
          <a:p>
            <a:pPr algn="ctr">
              <a:lnSpc>
                <a:spcPct val="120000"/>
              </a:lnSpc>
              <a:spcAft>
                <a:spcPts val="0"/>
              </a:spcAft>
            </a:pPr>
            <a:r>
              <a:rPr sz="1400" b="1" i="0">
                <a:solidFill>
                  <a:srgbClr val="BE0F05"/>
                </a:solidFill>
                <a:latin typeface="Arial"/>
              </a:rPr>
              <a:t>4 · Assemble
the platform</a:t>
            </a:r>
          </a:p>
        </p:txBody>
      </p:sp>
      <p:sp>
        <p:nvSpPr>
          <p:cNvPr id="16" name="TextBox 15"/>
          <p:cNvSpPr txBox="1"/>
          <p:nvPr/>
        </p:nvSpPr>
        <p:spPr>
          <a:xfrm>
            <a:off x="777240" y="5212080"/>
            <a:ext cx="10637215" cy="365760"/>
          </a:xfrm>
          <a:prstGeom prst="rect">
            <a:avLst/>
          </a:prstGeom>
          <a:noFill/>
        </p:spPr>
        <p:txBody>
          <a:bodyPr wrap="square" lIns="0" tIns="0" rIns="0" bIns="0" anchor="t">
            <a:spAutoFit/>
          </a:bodyPr>
          <a:lstStyle/>
          <a:p>
            <a:pPr algn="l">
              <a:lnSpc>
                <a:spcPct val="125000"/>
              </a:lnSpc>
              <a:spcAft>
                <a:spcPts val="0"/>
              </a:spcAft>
            </a:pPr>
            <a:r>
              <a:rPr sz="1100" b="0" i="0">
                <a:solidFill>
                  <a:srgbClr val="64748B"/>
                </a:solidFill>
                <a:latin typeface="Arial"/>
              </a:rPr>
              <a:t>model: EPO IPScore 3.01 · engine and course material by Arne Krüger (mtc.berlin) · scenario analysis after Riccardo Priore's NPV Target Planner</a:t>
            </a:r>
          </a:p>
        </p:txBody>
      </p:sp>
      <p:sp>
        <p:nvSpPr>
          <p:cNvPr id="17" name="TextBox 16"/>
          <p:cNvSpPr txBox="1"/>
          <p:nvPr/>
        </p:nvSpPr>
        <p:spPr>
          <a:xfrm>
            <a:off x="777240" y="6355080"/>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8_ipscore_rebuild/</a:t>
            </a:r>
          </a:p>
        </p:txBody>
      </p:sp>
      <p:sp>
        <p:nvSpPr>
          <p:cNvPr id="18" name="TextBox 17"/>
          <p:cNvSpPr txBox="1"/>
          <p:nvPr/>
        </p:nvSpPr>
        <p:spPr>
          <a:xfrm>
            <a:off x="8305495" y="6355080"/>
            <a:ext cx="310896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IPScore · Notebook Logic · 1 / 11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7240" y="457200"/>
            <a:ext cx="10637215" cy="274320"/>
          </a:xfrm>
          <a:prstGeom prst="rect">
            <a:avLst/>
          </a:prstGeom>
          <a:noFill/>
        </p:spPr>
        <p:txBody>
          <a:bodyPr wrap="square" lIns="0" tIns="0" rIns="0" bIns="0" anchor="t">
            <a:spAutoFit/>
          </a:bodyPr>
          <a:lstStyle/>
          <a:p>
            <a:pPr algn="l">
              <a:lnSpc>
                <a:spcPct val="125000"/>
              </a:lnSpc>
              <a:spcAft>
                <a:spcPts val="0"/>
              </a:spcAft>
            </a:pPr>
            <a:r>
              <a:rPr sz="1100" b="1" i="0">
                <a:solidFill>
                  <a:srgbClr val="BE0F05"/>
                </a:solidFill>
                <a:latin typeface="Arial"/>
              </a:rPr>
              <a:t>RICCARDO — TWO USE CASES · MODULE 6</a:t>
            </a:r>
          </a:p>
        </p:txBody>
      </p:sp>
      <p:sp>
        <p:nvSpPr>
          <p:cNvPr id="3" name="TextBox 2"/>
          <p:cNvSpPr txBox="1"/>
          <p:nvPr/>
        </p:nvSpPr>
        <p:spPr>
          <a:xfrm>
            <a:off x="7299655" y="457200"/>
            <a:ext cx="4114800" cy="274320"/>
          </a:xfrm>
          <a:prstGeom prst="rect">
            <a:avLst/>
          </a:prstGeom>
          <a:noFill/>
        </p:spPr>
        <p:txBody>
          <a:bodyPr wrap="square" lIns="0" tIns="0" rIns="0" bIns="0" anchor="t">
            <a:spAutoFit/>
          </a:bodyPr>
          <a:lstStyle/>
          <a:p>
            <a:pPr algn="r">
              <a:lnSpc>
                <a:spcPct val="125000"/>
              </a:lnSpc>
              <a:spcAft>
                <a:spcPts val="0"/>
              </a:spcAft>
            </a:pPr>
            <a:r>
              <a:rPr sz="1100" b="0" i="0">
                <a:solidFill>
                  <a:srgbClr val="94A3B8"/>
                </a:solidFill>
                <a:latin typeface="Arial"/>
              </a:rPr>
              <a:t>Outcome</a:t>
            </a:r>
          </a:p>
        </p:txBody>
      </p:sp>
      <p:sp>
        <p:nvSpPr>
          <p:cNvPr id="4" name="TextBox 3"/>
          <p:cNvSpPr txBox="1"/>
          <p:nvPr/>
        </p:nvSpPr>
        <p:spPr>
          <a:xfrm>
            <a:off x="777240" y="868680"/>
            <a:ext cx="10637215" cy="914400"/>
          </a:xfrm>
          <a:prstGeom prst="rect">
            <a:avLst/>
          </a:prstGeom>
          <a:noFill/>
        </p:spPr>
        <p:txBody>
          <a:bodyPr wrap="square" lIns="0" tIns="0" rIns="0" bIns="0" anchor="t">
            <a:spAutoFit/>
          </a:bodyPr>
          <a:lstStyle/>
          <a:p>
            <a:pPr algn="l">
              <a:lnSpc>
                <a:spcPct val="110000"/>
              </a:lnSpc>
              <a:spcAft>
                <a:spcPts val="0"/>
              </a:spcAft>
            </a:pPr>
            <a:r>
              <a:rPr sz="2800" b="1" i="0">
                <a:solidFill>
                  <a:srgbClr val="1A1A1A"/>
                </a:solidFill>
                <a:latin typeface="Arial"/>
              </a:rPr>
              <a:t>What now exists</a:t>
            </a:r>
          </a:p>
        </p:txBody>
      </p:sp>
      <p:sp>
        <p:nvSpPr>
          <p:cNvPr id="5" name="Rounded Rectangle 4"/>
          <p:cNvSpPr/>
          <p:nvPr/>
        </p:nvSpPr>
        <p:spPr>
          <a:xfrm>
            <a:off x="777240" y="1783080"/>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A verified implementation of the EPO IPScore model, seen from the inside</a:t>
            </a:r>
          </a:p>
        </p:txBody>
      </p:sp>
      <p:sp>
        <p:nvSpPr>
          <p:cNvPr id="6" name="Rounded Rectangle 5"/>
          <p:cNvSpPr/>
          <p:nvPr/>
        </p:nvSpPr>
        <p:spPr>
          <a:xfrm>
            <a:off x="777240" y="2624328"/>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One completed valuation of a real patent — NPV and profile</a:t>
            </a:r>
          </a:p>
        </p:txBody>
      </p:sp>
      <p:sp>
        <p:nvSpPr>
          <p:cNvPr id="7" name="Rounded Rectangle 6"/>
          <p:cNvSpPr/>
          <p:nvPr/>
        </p:nvSpPr>
        <p:spPr>
          <a:xfrm>
            <a:off x="777240" y="3465576"/>
            <a:ext cx="10637215" cy="713232"/>
          </a:xfrm>
          <a:prstGeom prst="roundRect">
            <a:avLst>
              <a:gd name="adj" fmla="val 5000"/>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lnSpc>
                <a:spcPct val="120000"/>
              </a:lnSpc>
              <a:spcAft>
                <a:spcPts val="0"/>
              </a:spcAft>
            </a:pPr>
            <a:r>
              <a:rPr sz="1400" b="0" i="0">
                <a:solidFill>
                  <a:srgbClr val="1A1A1A"/>
                </a:solidFill>
                <a:latin typeface="Arial"/>
              </a:rPr>
              <a:t>A statement of how much of that number is evidence</a:t>
            </a:r>
          </a:p>
        </p:txBody>
      </p:sp>
      <p:sp>
        <p:nvSpPr>
          <p:cNvPr id="8" name="TextBox 7"/>
          <p:cNvSpPr txBox="1"/>
          <p:nvPr/>
        </p:nvSpPr>
        <p:spPr>
          <a:xfrm>
            <a:off x="777240" y="4443984"/>
            <a:ext cx="10637215" cy="274320"/>
          </a:xfrm>
          <a:prstGeom prst="rect">
            <a:avLst/>
          </a:prstGeom>
          <a:noFill/>
        </p:spPr>
        <p:txBody>
          <a:bodyPr wrap="square" lIns="0" tIns="0" rIns="0" bIns="0" anchor="t">
            <a:spAutoFit/>
          </a:bodyPr>
          <a:lstStyle/>
          <a:p>
            <a:pPr algn="l">
              <a:lnSpc>
                <a:spcPct val="125000"/>
              </a:lnSpc>
              <a:spcAft>
                <a:spcPts val="0"/>
              </a:spcAft>
            </a:pPr>
            <a:r>
              <a:rPr sz="1200" b="1" i="0">
                <a:solidFill>
                  <a:srgbClr val="BE0F05"/>
                </a:solidFill>
                <a:latin typeface="Arial"/>
              </a:rPr>
              <a:t>The one sentence to remember</a:t>
            </a:r>
          </a:p>
        </p:txBody>
      </p:sp>
      <p:sp>
        <p:nvSpPr>
          <p:cNvPr id="9" name="Rounded Rectangle 8"/>
          <p:cNvSpPr/>
          <p:nvPr/>
        </p:nvSpPr>
        <p:spPr>
          <a:xfrm>
            <a:off x="777240" y="4855464"/>
            <a:ext cx="10637215" cy="1051560"/>
          </a:xfrm>
          <a:prstGeom prst="roundRect">
            <a:avLst>
              <a:gd name="adj" fmla="val 5000"/>
            </a:avLst>
          </a:prstGeom>
          <a:solidFill>
            <a:srgbClr val="FDF2F2"/>
          </a:solidFill>
          <a:ln w="12700">
            <a:solidFill>
              <a:srgbClr val="BE0F05"/>
            </a:solid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0"/>
              </a:spcAft>
            </a:pPr>
            <a:r>
              <a:rPr sz="1600" b="1" i="0">
                <a:solidFill>
                  <a:srgbClr val="BE0F05"/>
                </a:solidFill>
                <a:latin typeface="Arial"/>
              </a:rPr>
              <a:t>None of the 11 questions PATSTAT can check is one of the 8 that carry money. What a database can check and what a valuation depends on barely overlap.</a:t>
            </a:r>
          </a:p>
        </p:txBody>
      </p:sp>
      <p:sp>
        <p:nvSpPr>
          <p:cNvPr id="10" name="TextBox 9"/>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6_ipscore_rebuild/</a:t>
            </a:r>
          </a:p>
        </p:txBody>
      </p:sp>
      <p:sp>
        <p:nvSpPr>
          <p:cNvPr id="11" name="TextBox 10"/>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19 / 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3" name="TextBox 2"/>
          <p:cNvSpPr txBox="1"/>
          <p:nvPr/>
        </p:nvSpPr>
        <p:spPr>
          <a:xfrm>
            <a:off x="777240" y="822960"/>
            <a:ext cx="10637215" cy="914400"/>
          </a:xfrm>
          <a:prstGeom prst="rect">
            <a:avLst/>
          </a:prstGeom>
          <a:noFill/>
        </p:spPr>
        <p:txBody>
          <a:bodyPr wrap="square" lIns="0" tIns="0" rIns="0" bIns="0" anchor="t">
            <a:spAutoFit/>
          </a:bodyPr>
          <a:lstStyle/>
          <a:p>
            <a:pPr algn="l">
              <a:lnSpc>
                <a:spcPct val="110000"/>
              </a:lnSpc>
              <a:spcAft>
                <a:spcPts val="0"/>
              </a:spcAft>
            </a:pPr>
            <a:r>
              <a:rPr sz="3400" b="1" i="0">
                <a:solidFill>
                  <a:srgbClr val="1A1A1A"/>
                </a:solidFill>
                <a:latin typeface="Arial"/>
              </a:rPr>
              <a:t>What you leave with</a:t>
            </a:r>
          </a:p>
        </p:txBody>
      </p:sp>
      <p:sp>
        <p:nvSpPr>
          <p:cNvPr id="4" name="Oval 3"/>
          <p:cNvSpPr/>
          <p:nvPr/>
        </p:nvSpPr>
        <p:spPr>
          <a:xfrm>
            <a:off x="777240" y="219456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5" name="TextBox 4"/>
          <p:cNvSpPr txBox="1"/>
          <p:nvPr/>
        </p:nvSpPr>
        <p:spPr>
          <a:xfrm>
            <a:off x="1161288" y="2093976"/>
            <a:ext cx="10253167" cy="640080"/>
          </a:xfrm>
          <a:prstGeom prst="rect">
            <a:avLst/>
          </a:prstGeom>
          <a:noFill/>
        </p:spPr>
        <p:txBody>
          <a:bodyPr wrap="square" lIns="0" tIns="0" rIns="0" bIns="0" anchor="t">
            <a:spAutoFit/>
          </a:bodyPr>
          <a:lstStyle/>
          <a:p>
            <a:pPr algn="l">
              <a:lnSpc>
                <a:spcPct val="125000"/>
              </a:lnSpc>
              <a:spcAft>
                <a:spcPts val="0"/>
              </a:spcAft>
            </a:pPr>
            <a:r>
              <a:rPr sz="1700" b="0" i="0" dirty="0">
                <a:solidFill>
                  <a:srgbClr val="1A1A1A"/>
                </a:solidFill>
                <a:latin typeface="Arial"/>
              </a:rPr>
              <a:t>An assistant on TIP that survives the restart — and writes the SQL you were told you had to learn</a:t>
            </a:r>
          </a:p>
        </p:txBody>
      </p:sp>
      <p:sp>
        <p:nvSpPr>
          <p:cNvPr id="6" name="Oval 5"/>
          <p:cNvSpPr/>
          <p:nvPr/>
        </p:nvSpPr>
        <p:spPr>
          <a:xfrm>
            <a:off x="777240" y="2857612"/>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1161287" y="2587752"/>
            <a:ext cx="10253167" cy="640080"/>
          </a:xfrm>
          <a:prstGeom prst="rect">
            <a:avLst/>
          </a:prstGeom>
          <a:noFill/>
        </p:spPr>
        <p:txBody>
          <a:bodyPr wrap="square" lIns="0" tIns="0" rIns="0" bIns="0" anchor="t">
            <a:spAutoFit/>
          </a:bodyPr>
          <a:lstStyle/>
          <a:p>
            <a:pPr algn="l">
              <a:lnSpc>
                <a:spcPct val="125000"/>
              </a:lnSpc>
              <a:spcAft>
                <a:spcPts val="0"/>
              </a:spcAft>
            </a:pPr>
            <a:r>
              <a:rPr lang="de-DE" sz="1700" b="0" i="0" dirty="0" err="1">
                <a:solidFill>
                  <a:srgbClr val="1A1A1A"/>
                </a:solidFill>
                <a:latin typeface="Arial"/>
              </a:rPr>
              <a:t>Three</a:t>
            </a:r>
            <a:r>
              <a:rPr lang="de-DE" sz="1700" b="0" i="0" dirty="0">
                <a:solidFill>
                  <a:srgbClr val="1A1A1A"/>
                </a:solidFill>
                <a:latin typeface="Arial"/>
              </a:rPr>
              <a:t> </a:t>
            </a:r>
            <a:r>
              <a:rPr sz="1700" b="0" i="0" dirty="0">
                <a:solidFill>
                  <a:srgbClr val="1A1A1A"/>
                </a:solidFill>
                <a:latin typeface="Arial"/>
              </a:rPr>
              <a:t>work</a:t>
            </a:r>
            <a:r>
              <a:rPr lang="de-DE" sz="1700" b="0" i="0" dirty="0" err="1">
                <a:solidFill>
                  <a:srgbClr val="1A1A1A"/>
                </a:solidFill>
                <a:latin typeface="Arial"/>
              </a:rPr>
              <a:t>ing</a:t>
            </a:r>
            <a:r>
              <a:rPr sz="1700" b="0" i="0" dirty="0">
                <a:solidFill>
                  <a:srgbClr val="1A1A1A"/>
                </a:solidFill>
                <a:latin typeface="Arial"/>
              </a:rPr>
              <a:t> examples, in rising order of ambition: a ready question · the same query as an app · a named shortlist for your own region</a:t>
            </a:r>
          </a:p>
        </p:txBody>
      </p:sp>
      <p:sp>
        <p:nvSpPr>
          <p:cNvPr id="8" name="Oval 7"/>
          <p:cNvSpPr/>
          <p:nvPr/>
        </p:nvSpPr>
        <p:spPr>
          <a:xfrm>
            <a:off x="777240" y="3547984"/>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1161287" y="3387740"/>
            <a:ext cx="10253167" cy="640080"/>
          </a:xfrm>
          <a:prstGeom prst="rect">
            <a:avLst/>
          </a:prstGeom>
          <a:noFill/>
        </p:spPr>
        <p:txBody>
          <a:bodyPr wrap="square" lIns="0" tIns="0" rIns="0" bIns="0" anchor="t">
            <a:spAutoFit/>
          </a:bodyPr>
          <a:lstStyle/>
          <a:p>
            <a:pPr algn="l">
              <a:lnSpc>
                <a:spcPct val="125000"/>
              </a:lnSpc>
              <a:spcAft>
                <a:spcPts val="0"/>
              </a:spcAft>
            </a:pPr>
            <a:r>
              <a:rPr sz="1700" b="0" i="0" dirty="0">
                <a:solidFill>
                  <a:srgbClr val="1A1A1A"/>
                </a:solidFill>
                <a:latin typeface="Arial"/>
              </a:rPr>
              <a:t>Two use cases built the same way — a landscape report, and a patent valuation</a:t>
            </a:r>
          </a:p>
        </p:txBody>
      </p:sp>
      <p:sp>
        <p:nvSpPr>
          <p:cNvPr id="10" name="Oval 9"/>
          <p:cNvSpPr/>
          <p:nvPr/>
        </p:nvSpPr>
        <p:spPr>
          <a:xfrm>
            <a:off x="777240" y="4164980"/>
            <a:ext cx="109728" cy="109728"/>
          </a:xfrm>
          <a:prstGeom prst="ellipse">
            <a:avLst/>
          </a:prstGeom>
          <a:solidFill>
            <a:srgbClr val="BE0F0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1161287" y="3881516"/>
            <a:ext cx="10253167" cy="640080"/>
          </a:xfrm>
          <a:prstGeom prst="rect">
            <a:avLst/>
          </a:prstGeom>
          <a:noFill/>
        </p:spPr>
        <p:txBody>
          <a:bodyPr wrap="square" lIns="0" tIns="0" rIns="0" bIns="0" anchor="t">
            <a:spAutoFit/>
          </a:bodyPr>
          <a:lstStyle/>
          <a:p>
            <a:pPr algn="l">
              <a:lnSpc>
                <a:spcPct val="125000"/>
              </a:lnSpc>
              <a:spcAft>
                <a:spcPts val="0"/>
              </a:spcAft>
            </a:pPr>
            <a:r>
              <a:rPr sz="1700" b="0" i="0" dirty="0">
                <a:solidFill>
                  <a:srgbClr val="1A1A1A"/>
                </a:solidFill>
                <a:latin typeface="Arial"/>
              </a:rPr>
              <a:t>And, in every one of them, the part no assistant does for you: deciding what to ask, and judging whether the answer holds</a:t>
            </a:r>
          </a:p>
        </p:txBody>
      </p:sp>
      <p:sp>
        <p:nvSpPr>
          <p:cNvPr id="12" name="Rounded Rectangle 11"/>
          <p:cNvSpPr/>
          <p:nvPr/>
        </p:nvSpPr>
        <p:spPr>
          <a:xfrm>
            <a:off x="777240" y="4937760"/>
            <a:ext cx="10637215" cy="1005840"/>
          </a:xfrm>
          <a:prstGeom prst="roundRect">
            <a:avLst>
              <a:gd name="adj" fmla="val 5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310896" rIns="310896" rtlCol="0" anchor="ctr"/>
          <a:lstStyle/>
          <a:p>
            <a:pPr algn="l">
              <a:lnSpc>
                <a:spcPct val="125000"/>
              </a:lnSpc>
              <a:spcAft>
                <a:spcPts val="300"/>
              </a:spcAft>
            </a:pPr>
            <a:r>
              <a:rPr sz="1400" b="1" i="0" dirty="0">
                <a:solidFill>
                  <a:srgbClr val="BE0F05"/>
                </a:solidFill>
                <a:latin typeface="Arial"/>
              </a:rPr>
              <a:t>Seven handouts — the full 45-minute version of every block you just saw — in 9_documentation/course/</a:t>
            </a:r>
            <a:r>
              <a:rPr lang="de-DE" sz="1400" b="1" i="0" dirty="0">
                <a:solidFill>
                  <a:srgbClr val="BE0F05"/>
                </a:solidFill>
                <a:latin typeface="Arial"/>
              </a:rPr>
              <a:t> on the </a:t>
            </a:r>
            <a:r>
              <a:rPr lang="de-DE" sz="1400" b="1" i="0" dirty="0" err="1">
                <a:solidFill>
                  <a:srgbClr val="BE0F05"/>
                </a:solidFill>
                <a:latin typeface="Arial"/>
              </a:rPr>
              <a:t>github</a:t>
            </a:r>
            <a:r>
              <a:rPr lang="de-DE" sz="1400" b="1" i="0" dirty="0">
                <a:solidFill>
                  <a:srgbClr val="BE0F05"/>
                </a:solidFill>
                <a:latin typeface="Arial"/>
              </a:rPr>
              <a:t> </a:t>
            </a:r>
            <a:r>
              <a:rPr lang="de-DE" sz="1400" b="1" i="0" dirty="0" err="1">
                <a:solidFill>
                  <a:srgbClr val="BE0F05"/>
                </a:solidFill>
                <a:latin typeface="Arial"/>
              </a:rPr>
              <a:t>repository</a:t>
            </a:r>
            <a:r>
              <a:rPr lang="de-DE" sz="1400" b="1" i="0" dirty="0">
                <a:solidFill>
                  <a:srgbClr val="BE0F05"/>
                </a:solidFill>
                <a:latin typeface="Arial"/>
              </a:rPr>
              <a:t>: </a:t>
            </a:r>
            <a:r>
              <a:rPr lang="de-DE" sz="1400" b="1" i="0" dirty="0">
                <a:solidFill>
                  <a:srgbClr val="64748B"/>
                </a:solidFill>
                <a:latin typeface="Arial"/>
              </a:rPr>
              <a:t>https://</a:t>
            </a:r>
            <a:r>
              <a:rPr sz="1400" b="1" i="0" dirty="0" err="1">
                <a:solidFill>
                  <a:srgbClr val="64748B"/>
                </a:solidFill>
                <a:latin typeface="Arial"/>
              </a:rPr>
              <a:t>ithub.com</a:t>
            </a:r>
            <a:r>
              <a:rPr sz="1400" b="1" i="0" dirty="0">
                <a:solidFill>
                  <a:srgbClr val="64748B"/>
                </a:solidFill>
                <a:latin typeface="Arial"/>
              </a:rPr>
              <a:t>/</a:t>
            </a:r>
            <a:r>
              <a:rPr sz="1400" b="1" i="0" dirty="0" err="1">
                <a:solidFill>
                  <a:srgbClr val="64748B"/>
                </a:solidFill>
                <a:latin typeface="Arial"/>
              </a:rPr>
              <a:t>mtcberlin</a:t>
            </a:r>
            <a:r>
              <a:rPr sz="1400" b="1" i="0" dirty="0">
                <a:solidFill>
                  <a:srgbClr val="64748B"/>
                </a:solidFill>
                <a:latin typeface="Arial"/>
              </a:rPr>
              <a:t>/epo-tip4patlibs</a:t>
            </a:r>
            <a:endParaRPr sz="1200" b="1" i="0" dirty="0">
              <a:solidFill>
                <a:srgbClr val="64748B"/>
              </a:solidFill>
              <a:latin typeface="Arial"/>
            </a:endParaRPr>
          </a:p>
        </p:txBody>
      </p:sp>
      <p:sp>
        <p:nvSpPr>
          <p:cNvPr id="13" name="TextBox 12"/>
          <p:cNvSpPr txBox="1"/>
          <p:nvPr/>
        </p:nvSpPr>
        <p:spPr>
          <a:xfrm>
            <a:off x="777240" y="6291072"/>
            <a:ext cx="10637215" cy="274320"/>
          </a:xfrm>
          <a:prstGeom prst="rect">
            <a:avLst/>
          </a:prstGeom>
          <a:noFill/>
        </p:spPr>
        <p:txBody>
          <a:bodyPr wrap="square" lIns="0" tIns="0" rIns="0" bIns="0" anchor="t">
            <a:spAutoFit/>
          </a:bodyPr>
          <a:lstStyle/>
          <a:p>
            <a:pPr algn="l">
              <a:lnSpc>
                <a:spcPct val="125000"/>
              </a:lnSpc>
              <a:spcAft>
                <a:spcPts val="0"/>
              </a:spcAft>
            </a:pPr>
            <a:r>
              <a:rPr sz="900" b="0" i="0">
                <a:solidFill>
                  <a:srgbClr val="94A3B8"/>
                </a:solidFill>
                <a:latin typeface="Arial"/>
              </a:rPr>
              <a:t>Arne Krüger · mtc.berlin  ·  Riccardo Priore · AREA Science Park</a:t>
            </a:r>
          </a:p>
        </p:txBody>
      </p:sp>
      <p:sp>
        <p:nvSpPr>
          <p:cNvPr id="14" name="TextBox 13"/>
          <p:cNvSpPr txBox="1"/>
          <p:nvPr/>
        </p:nvSpPr>
        <p:spPr>
          <a:xfrm>
            <a:off x="8671255" y="6291072"/>
            <a:ext cx="2743200" cy="274320"/>
          </a:xfrm>
          <a:prstGeom prst="rect">
            <a:avLst/>
          </a:prstGeom>
          <a:noFill/>
        </p:spPr>
        <p:txBody>
          <a:bodyPr wrap="square" lIns="0" tIns="0" rIns="0" bIns="0" anchor="t">
            <a:spAutoFit/>
          </a:bodyPr>
          <a:lstStyle/>
          <a:p>
            <a:pPr algn="r">
              <a:lnSpc>
                <a:spcPct val="125000"/>
              </a:lnSpc>
              <a:spcAft>
                <a:spcPts val="0"/>
              </a:spcAft>
            </a:pPr>
            <a:r>
              <a:rPr sz="900" b="0" i="0">
                <a:solidFill>
                  <a:srgbClr val="94A3B8"/>
                </a:solidFill>
                <a:latin typeface="Arial"/>
              </a:rPr>
              <a:t>TIP4PATLIBS · 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2044</Words>
  <Application>Microsoft Macintosh PowerPoint</Application>
  <PresentationFormat>Widescreen</PresentationFormat>
  <Paragraphs>175</Paragraphs>
  <Slides>16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Arne Krueger</cp:lastModifiedBy>
  <cp:revision>3</cp:revision>
  <dcterms:created xsi:type="dcterms:W3CDTF">2013-01-27T09:14:16Z</dcterms:created>
  <dcterms:modified xsi:type="dcterms:W3CDTF">2026-09-16T09:10:39Z</dcterms:modified>
  <cp:category/>
</cp:coreProperties>
</file>