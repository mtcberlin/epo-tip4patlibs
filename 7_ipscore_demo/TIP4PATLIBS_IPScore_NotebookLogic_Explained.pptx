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77240" y="777240"/>
            <a:ext cx="10637215" cy="1554480"/>
          </a:xfrm>
          <a:prstGeom prst="rect">
            <a:avLst/>
          </a:prstGeom>
          <a:noFill/>
        </p:spPr>
        <p:txBody>
          <a:bodyPr wrap="square" anchor="t" lIns="0" rIns="0" tIns="0" bIns="0">
            <a:spAutoFit/>
          </a:bodyPr>
          <a:lstStyle/>
          <a:p>
            <a:pPr algn="l">
              <a:lnSpc>
                <a:spcPct val="100000"/>
              </a:lnSpc>
              <a:spcAft>
                <a:spcPts val="200"/>
              </a:spcAft>
            </a:pPr>
            <a:r>
              <a:rPr sz="4200" b="1" i="0">
                <a:solidFill>
                  <a:srgbClr val="BE0F05"/>
                </a:solidFill>
                <a:latin typeface="Arial"/>
              </a:rPr>
              <a:t>IPScore, Notebook by Notebook</a:t>
            </a:r>
          </a:p>
          <a:p>
            <a:pPr algn="l">
              <a:lnSpc>
                <a:spcPct val="125000"/>
              </a:lnSpc>
              <a:spcAft>
                <a:spcPts val="200"/>
              </a:spcAft>
            </a:pPr>
            <a:r>
              <a:rPr sz="1900" b="0" i="0">
                <a:solidFill>
                  <a:srgbClr val="1A1A1A"/>
                </a:solidFill>
                <a:latin typeface="Arial"/>
              </a:rPr>
              <a:t>What Each of the Four Notebooks Does, and How They Fit Together</a:t>
            </a:r>
          </a:p>
          <a:p>
            <a:pPr algn="l">
              <a:lnSpc>
                <a:spcPct val="125000"/>
              </a:lnSpc>
              <a:spcAft>
                <a:spcPts val="0"/>
              </a:spcAft>
            </a:pPr>
            <a:r>
              <a:rPr sz="1300" b="0" i="0">
                <a:solidFill>
                  <a:srgbClr val="64748B"/>
                </a:solidFill>
                <a:latin typeface="Arial"/>
              </a:rPr>
              <a:t>8_ipscore_rebuild/ · TIP4PATLIBS · PATLIB Conference 2026 · Warsaw</a:t>
            </a:r>
          </a:p>
        </p:txBody>
      </p:sp>
      <p:sp>
        <p:nvSpPr>
          <p:cNvPr id="4" name="Rounded Rectangle 3"/>
          <p:cNvSpPr/>
          <p:nvPr/>
        </p:nvSpPr>
        <p:spPr>
          <a:xfrm>
            <a:off x="777240" y="2468880"/>
            <a:ext cx="10637215" cy="960120"/>
          </a:xfrm>
          <a:prstGeom prst="roundRect">
            <a:avLst>
              <a:gd name="adj" fmla="val 6000"/>
            </a:avLst>
          </a:prstGeom>
          <a:solidFill>
            <a:srgbClr val="FD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146304" bIns="146304"/>
          <a:lstStyle/>
          <a:p>
            <a:pPr algn="l">
              <a:lnSpc>
                <a:spcPct val="130000"/>
              </a:lnSpc>
              <a:spcAft>
                <a:spcPts val="0"/>
              </a:spcAft>
            </a:pPr>
            <a:r>
              <a:rPr sz="1400" b="0" i="1">
                <a:solidFill>
                  <a:srgbClr val="1A1A1A"/>
                </a:solidFill>
                <a:latin typeface="Arial"/>
              </a:rPr>
              <a:t>The goal of this deck: not just what each notebook produces, but why it exists — and exactly what it hands to the notebook after it, so the whole chain reads as one argument instead of four separate exercises.</a:t>
            </a:r>
          </a:p>
        </p:txBody>
      </p:sp>
      <p:sp>
        <p:nvSpPr>
          <p:cNvPr id="5" name="Rounded Rectangle 4"/>
          <p:cNvSpPr/>
          <p:nvPr/>
        </p:nvSpPr>
        <p:spPr>
          <a:xfrm>
            <a:off x="586587" y="3931920"/>
            <a:ext cx="2377440" cy="960120"/>
          </a:xfrm>
          <a:prstGeom prst="roundRect">
            <a:avLst>
              <a:gd name="adj" fmla="val 10000"/>
            </a:avLst>
          </a:prstGeom>
          <a:noFill/>
          <a:ln w="19050">
            <a:solidFill>
              <a:srgbClr val="BE0F0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586587" y="3931920"/>
            <a:ext cx="2377440" cy="960120"/>
          </a:xfrm>
          <a:prstGeom prst="rect">
            <a:avLst/>
          </a:prstGeom>
          <a:noFill/>
        </p:spPr>
        <p:txBody>
          <a:bodyPr wrap="square" anchor="ctr" lIns="0" rIns="0" tIns="0" bIns="0">
            <a:spAutoFit/>
          </a:bodyPr>
          <a:lstStyle/>
          <a:p>
            <a:pPr algn="ctr">
              <a:lnSpc>
                <a:spcPct val="120000"/>
              </a:lnSpc>
              <a:spcAft>
                <a:spcPts val="0"/>
              </a:spcAft>
            </a:pPr>
            <a:r>
              <a:rPr sz="1400" b="1" i="0">
                <a:solidFill>
                  <a:srgbClr val="BE0F05"/>
                </a:solidFill>
                <a:latin typeface="Arial"/>
              </a:rPr>
              <a:t>1 · The
model</a:t>
            </a:r>
          </a:p>
        </p:txBody>
      </p:sp>
      <p:sp>
        <p:nvSpPr>
          <p:cNvPr id="7" name="Right Arrow 6"/>
          <p:cNvSpPr/>
          <p:nvPr/>
        </p:nvSpPr>
        <p:spPr>
          <a:xfrm>
            <a:off x="3018891" y="4270248"/>
            <a:ext cx="393192" cy="274320"/>
          </a:xfrm>
          <a:prstGeom prst="rightArrow">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466947" y="3931920"/>
            <a:ext cx="2377440" cy="960120"/>
          </a:xfrm>
          <a:prstGeom prst="roundRect">
            <a:avLst>
              <a:gd name="adj" fmla="val 10000"/>
            </a:avLst>
          </a:prstGeom>
          <a:noFill/>
          <a:ln w="19050">
            <a:solidFill>
              <a:srgbClr val="BE0F0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3466947" y="3931920"/>
            <a:ext cx="2377440" cy="960120"/>
          </a:xfrm>
          <a:prstGeom prst="rect">
            <a:avLst/>
          </a:prstGeom>
          <a:noFill/>
        </p:spPr>
        <p:txBody>
          <a:bodyPr wrap="square" anchor="ctr" lIns="0" rIns="0" tIns="0" bIns="0">
            <a:spAutoFit/>
          </a:bodyPr>
          <a:lstStyle/>
          <a:p>
            <a:pPr algn="ctr">
              <a:lnSpc>
                <a:spcPct val="120000"/>
              </a:lnSpc>
              <a:spcAft>
                <a:spcPts val="0"/>
              </a:spcAft>
            </a:pPr>
            <a:r>
              <a:rPr sz="1400" b="1" i="0">
                <a:solidFill>
                  <a:srgbClr val="BE0F05"/>
                </a:solidFill>
                <a:latin typeface="Arial"/>
              </a:rPr>
              <a:t>2 · Evidence
from PATSTAT</a:t>
            </a:r>
          </a:p>
        </p:txBody>
      </p:sp>
      <p:sp>
        <p:nvSpPr>
          <p:cNvPr id="10" name="Right Arrow 9"/>
          <p:cNvSpPr/>
          <p:nvPr/>
        </p:nvSpPr>
        <p:spPr>
          <a:xfrm>
            <a:off x="5899251" y="4270248"/>
            <a:ext cx="393192" cy="274320"/>
          </a:xfrm>
          <a:prstGeom prst="rightArrow">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347307" y="3931920"/>
            <a:ext cx="2377440" cy="960120"/>
          </a:xfrm>
          <a:prstGeom prst="roundRect">
            <a:avLst>
              <a:gd name="adj" fmla="val 10000"/>
            </a:avLst>
          </a:prstGeom>
          <a:noFill/>
          <a:ln w="19050">
            <a:solidFill>
              <a:srgbClr val="BE0F0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347307" y="3931920"/>
            <a:ext cx="2377440" cy="960120"/>
          </a:xfrm>
          <a:prstGeom prst="rect">
            <a:avLst/>
          </a:prstGeom>
          <a:noFill/>
        </p:spPr>
        <p:txBody>
          <a:bodyPr wrap="square" anchor="ctr" lIns="0" rIns="0" tIns="0" bIns="0">
            <a:spAutoFit/>
          </a:bodyPr>
          <a:lstStyle/>
          <a:p>
            <a:pPr algn="ctr">
              <a:lnSpc>
                <a:spcPct val="120000"/>
              </a:lnSpc>
              <a:spcAft>
                <a:spcPts val="0"/>
              </a:spcAft>
            </a:pPr>
            <a:r>
              <a:rPr sz="1400" b="1" i="0">
                <a:solidFill>
                  <a:srgbClr val="BE0F05"/>
                </a:solidFill>
                <a:latin typeface="Arial"/>
              </a:rPr>
              <a:t>3 · Which lever
moves it?</a:t>
            </a:r>
          </a:p>
        </p:txBody>
      </p:sp>
      <p:sp>
        <p:nvSpPr>
          <p:cNvPr id="13" name="Right Arrow 12"/>
          <p:cNvSpPr/>
          <p:nvPr/>
        </p:nvSpPr>
        <p:spPr>
          <a:xfrm>
            <a:off x="8779611" y="4270248"/>
            <a:ext cx="393192" cy="274320"/>
          </a:xfrm>
          <a:prstGeom prst="rightArrow">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9227667" y="3931920"/>
            <a:ext cx="2377440" cy="960120"/>
          </a:xfrm>
          <a:prstGeom prst="roundRect">
            <a:avLst>
              <a:gd name="adj" fmla="val 10000"/>
            </a:avLst>
          </a:prstGeom>
          <a:noFill/>
          <a:ln w="19050">
            <a:solidFill>
              <a:srgbClr val="BE0F0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227667" y="3931920"/>
            <a:ext cx="2377440" cy="960120"/>
          </a:xfrm>
          <a:prstGeom prst="rect">
            <a:avLst/>
          </a:prstGeom>
          <a:noFill/>
        </p:spPr>
        <p:txBody>
          <a:bodyPr wrap="square" anchor="ctr" lIns="0" rIns="0" tIns="0" bIns="0">
            <a:spAutoFit/>
          </a:bodyPr>
          <a:lstStyle/>
          <a:p>
            <a:pPr algn="ctr">
              <a:lnSpc>
                <a:spcPct val="120000"/>
              </a:lnSpc>
              <a:spcAft>
                <a:spcPts val="0"/>
              </a:spcAft>
            </a:pPr>
            <a:r>
              <a:rPr sz="1400" b="1" i="0">
                <a:solidFill>
                  <a:srgbClr val="BE0F05"/>
                </a:solidFill>
                <a:latin typeface="Arial"/>
              </a:rPr>
              <a:t>4 · Assemble
the platform</a:t>
            </a:r>
          </a:p>
        </p:txBody>
      </p:sp>
      <p:sp>
        <p:nvSpPr>
          <p:cNvPr id="16" name="TextBox 15"/>
          <p:cNvSpPr txBox="1"/>
          <p:nvPr/>
        </p:nvSpPr>
        <p:spPr>
          <a:xfrm>
            <a:off x="777240" y="5212080"/>
            <a:ext cx="10637215" cy="365760"/>
          </a:xfrm>
          <a:prstGeom prst="rect">
            <a:avLst/>
          </a:prstGeom>
          <a:noFill/>
        </p:spPr>
        <p:txBody>
          <a:bodyPr wrap="square" anchor="t" lIns="0" rIns="0" tIns="0" bIns="0">
            <a:spAutoFit/>
          </a:bodyPr>
          <a:lstStyle/>
          <a:p>
            <a:pPr algn="l">
              <a:lnSpc>
                <a:spcPct val="125000"/>
              </a:lnSpc>
              <a:spcAft>
                <a:spcPts val="0"/>
              </a:spcAft>
            </a:pPr>
            <a:r>
              <a:rPr sz="1100" b="0" i="0">
                <a:solidFill>
                  <a:srgbClr val="64748B"/>
                </a:solidFill>
                <a:latin typeface="Arial"/>
              </a:rPr>
              <a:t>model: EPO IPScore 3.01 · engine and course material by Arne Krüger (mtc.berlin) · scenario analysis after Riccardo Priore's NPV Target Planner</a:t>
            </a:r>
          </a:p>
        </p:txBody>
      </p:sp>
      <p:sp>
        <p:nvSpPr>
          <p:cNvPr id="17" name="TextBox 16"/>
          <p:cNvSpPr txBox="1"/>
          <p:nvPr/>
        </p:nvSpPr>
        <p:spPr>
          <a:xfrm>
            <a:off x="777240" y="6355080"/>
            <a:ext cx="10637215" cy="274320"/>
          </a:xfrm>
          <a:prstGeom prst="rect">
            <a:avLst/>
          </a:prstGeom>
          <a:noFill/>
        </p:spPr>
        <p:txBody>
          <a:bodyPr wrap="square" anchor="t" lIns="0" rIns="0" tIns="0" bIns="0">
            <a:spAutoFit/>
          </a:bodyPr>
          <a:lstStyle/>
          <a:p>
            <a:pPr algn="l">
              <a:lnSpc>
                <a:spcPct val="125000"/>
              </a:lnSpc>
              <a:spcAft>
                <a:spcPts val="0"/>
              </a:spcAft>
            </a:pPr>
            <a:r>
              <a:rPr sz="900" b="0" i="0">
                <a:solidFill>
                  <a:srgbClr val="94A3B8"/>
                </a:solidFill>
                <a:latin typeface="Arial"/>
              </a:rPr>
              <a:t>8_ipscore_rebuild/</a:t>
            </a:r>
          </a:p>
        </p:txBody>
      </p:sp>
      <p:sp>
        <p:nvSpPr>
          <p:cNvPr id="18" name="TextBox 17"/>
          <p:cNvSpPr txBox="1"/>
          <p:nvPr/>
        </p:nvSpPr>
        <p:spPr>
          <a:xfrm>
            <a:off x="8305495" y="6355080"/>
            <a:ext cx="3108960" cy="274320"/>
          </a:xfrm>
          <a:prstGeom prst="rect">
            <a:avLst/>
          </a:prstGeom>
          <a:noFill/>
        </p:spPr>
        <p:txBody>
          <a:bodyPr wrap="square" anchor="t" lIns="0" rIns="0" tIns="0" bIns="0">
            <a:spAutoFit/>
          </a:bodyPr>
          <a:lstStyle/>
          <a:p>
            <a:pPr algn="r">
              <a:lnSpc>
                <a:spcPct val="125000"/>
              </a:lnSpc>
              <a:spcAft>
                <a:spcPts val="0"/>
              </a:spcAft>
            </a:pPr>
            <a:r>
              <a:rPr sz="900" b="0" i="0">
                <a:solidFill>
                  <a:srgbClr val="94A3B8"/>
                </a:solidFill>
                <a:latin typeface="Arial"/>
              </a:rPr>
              <a:t>IPScore · Notebook Logic · 1 / 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57200"/>
            <a:ext cx="10637215" cy="274320"/>
          </a:xfrm>
          <a:prstGeom prst="rect">
            <a:avLst/>
          </a:prstGeom>
          <a:noFill/>
        </p:spPr>
        <p:txBody>
          <a:bodyPr wrap="square" anchor="t" lIns="0" rIns="0" tIns="0" bIns="0">
            <a:spAutoFit/>
          </a:bodyPr>
          <a:lstStyle/>
          <a:p>
            <a:pPr algn="l">
              <a:lnSpc>
                <a:spcPct val="125000"/>
              </a:lnSpc>
              <a:spcAft>
                <a:spcPts val="0"/>
              </a:spcAft>
            </a:pPr>
            <a:r>
              <a:rPr sz="1100" b="1" i="0">
                <a:solidFill>
                  <a:srgbClr val="BE0F05"/>
                </a:solidFill>
                <a:latin typeface="Arial"/>
              </a:rPr>
              <a:t>BEFORE THE FOUR NOTEBOOKS</a:t>
            </a:r>
          </a:p>
        </p:txBody>
      </p:sp>
      <p:sp>
        <p:nvSpPr>
          <p:cNvPr id="3" name="TextBox 2"/>
          <p:cNvSpPr txBox="1"/>
          <p:nvPr/>
        </p:nvSpPr>
        <p:spPr>
          <a:xfrm>
            <a:off x="6476695" y="457200"/>
            <a:ext cx="4937760" cy="274320"/>
          </a:xfrm>
          <a:prstGeom prst="rect">
            <a:avLst/>
          </a:prstGeom>
          <a:noFill/>
        </p:spPr>
        <p:txBody>
          <a:bodyPr wrap="square" anchor="t" lIns="0" rIns="0" tIns="0" bIns="0">
            <a:spAutoFit/>
          </a:bodyPr>
          <a:lstStyle/>
          <a:p>
            <a:pPr algn="r">
              <a:lnSpc>
                <a:spcPct val="125000"/>
              </a:lnSpc>
              <a:spcAft>
                <a:spcPts val="0"/>
              </a:spcAft>
            </a:pPr>
            <a:r>
              <a:rPr sz="1100" b="0" i="0">
                <a:solidFill>
                  <a:srgbClr val="94A3B8"/>
                </a:solidFill>
                <a:latin typeface="Arial"/>
              </a:rPr>
              <a:t>What problem is being solved?</a:t>
            </a:r>
          </a:p>
        </p:txBody>
      </p:sp>
      <p:sp>
        <p:nvSpPr>
          <p:cNvPr id="4" name="TextBox 3"/>
          <p:cNvSpPr txBox="1"/>
          <p:nvPr/>
        </p:nvSpPr>
        <p:spPr>
          <a:xfrm>
            <a:off x="777240" y="841248"/>
            <a:ext cx="10637215" cy="914400"/>
          </a:xfrm>
          <a:prstGeom prst="rect">
            <a:avLst/>
          </a:prstGeom>
          <a:noFill/>
        </p:spPr>
        <p:txBody>
          <a:bodyPr wrap="square" anchor="t" lIns="0" rIns="0" tIns="0" bIns="0">
            <a:spAutoFit/>
          </a:bodyPr>
          <a:lstStyle/>
          <a:p>
            <a:pPr algn="l">
              <a:lnSpc>
                <a:spcPct val="110000"/>
              </a:lnSpc>
              <a:spcAft>
                <a:spcPts val="0"/>
              </a:spcAft>
            </a:pPr>
            <a:r>
              <a:rPr sz="2700" b="1" i="0">
                <a:solidFill>
                  <a:srgbClr val="1A1A1A"/>
                </a:solidFill>
                <a:latin typeface="Arial"/>
              </a:rPr>
              <a:t>What is IPScore actually trying to answer?</a:t>
            </a:r>
          </a:p>
        </p:txBody>
      </p:sp>
      <p:sp>
        <p:nvSpPr>
          <p:cNvPr id="5" name="Rounded Rectangle 4"/>
          <p:cNvSpPr/>
          <p:nvPr/>
        </p:nvSpPr>
        <p:spPr>
          <a:xfrm>
            <a:off x="777240" y="1691640"/>
            <a:ext cx="10637215" cy="1691640"/>
          </a:xfrm>
          <a:prstGeom prst="roundRect">
            <a:avLst>
              <a:gd name="adj" fmla="val 6000"/>
            </a:avLst>
          </a:prstGeom>
          <a:solidFill>
            <a:srgbClr val="FDF2F2"/>
          </a:solidFill>
          <a:ln w="19050">
            <a:solidFill>
              <a:srgbClr val="BE0F05"/>
            </a:solidFill>
          </a:ln>
          <a:effectLst/>
        </p:spPr>
        <p:style>
          <a:lnRef idx="1">
            <a:schemeClr val="accent1"/>
          </a:lnRef>
          <a:fillRef idx="3">
            <a:schemeClr val="accent1"/>
          </a:fillRef>
          <a:effectRef idx="2">
            <a:schemeClr val="accent1"/>
          </a:effectRef>
          <a:fontRef idx="minor">
            <a:schemeClr val="lt1"/>
          </a:fontRef>
        </p:style>
        <p:txBody>
          <a:bodyPr rtlCol="0" anchor="ctr" wrap="square" lIns="292608" rIns="292608"/>
          <a:lstStyle/>
          <a:p>
            <a:pPr algn="l">
              <a:lnSpc>
                <a:spcPct val="140000"/>
              </a:lnSpc>
              <a:spcAft>
                <a:spcPts val="0"/>
              </a:spcAft>
            </a:pPr>
            <a:r>
              <a:rPr sz="1600" b="0" i="0">
                <a:solidFill>
                  <a:srgbClr val="1A1A1A"/>
                </a:solidFill>
                <a:latin typeface="Arial"/>
              </a:rPr>
              <a:t>A patent is not worth anything by itself — it is worth what it lets a company earn, or stop losing, over the years it stays in force. IPScore turns that idea into a procedure: answer 40 structured questions about the patent on a 1–5 scale, and the model gives back two things — a profile of where it is strong and weak, and a single number, its Net Present Value.</a:t>
            </a:r>
          </a:p>
        </p:txBody>
      </p:sp>
      <p:sp>
        <p:nvSpPr>
          <p:cNvPr id="6" name="Rounded Rectangle 5"/>
          <p:cNvSpPr/>
          <p:nvPr/>
        </p:nvSpPr>
        <p:spPr>
          <a:xfrm>
            <a:off x="777240" y="3657600"/>
            <a:ext cx="5212080" cy="2011680"/>
          </a:xfrm>
          <a:prstGeom prst="roundRect">
            <a:avLst>
              <a:gd name="adj" fmla="val 5000"/>
            </a:avLst>
          </a:prstGeom>
          <a:solidFill>
            <a:srgbClr val="F8FAFC"/>
          </a:solidFill>
          <a:ln w="19050">
            <a:solidFill>
              <a:srgbClr val="BE0F05"/>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82880"/>
          <a:lstStyle/>
          <a:p>
            <a:pPr algn="l">
              <a:lnSpc>
                <a:spcPct val="125000"/>
              </a:lnSpc>
              <a:spcAft>
                <a:spcPts val="800"/>
              </a:spcAft>
            </a:pPr>
            <a:r>
              <a:rPr sz="1600" b="1" i="0">
                <a:solidFill>
                  <a:srgbClr val="BE0F05"/>
                </a:solidFill>
                <a:latin typeface="Arial"/>
              </a:rPr>
              <a:t>Net Present Value (NPV)</a:t>
            </a:r>
          </a:p>
          <a:p>
            <a:pPr algn="l">
              <a:lnSpc>
                <a:spcPct val="135000"/>
              </a:lnSpc>
              <a:spcAft>
                <a:spcPts val="0"/>
              </a:spcAft>
            </a:pPr>
            <a:r>
              <a:rPr sz="1250" b="0" i="0">
                <a:solidFill>
                  <a:srgbClr val="1A1A1A"/>
                </a:solidFill>
                <a:latin typeface="Arial"/>
              </a:rPr>
              <a:t>Today's value of money you'll receive later. A future euro is discounted, because money in hand today is worth more than the same euro promised in five years — the model adds up ten years of future cash and converts it to one “what is this worth today” figure.</a:t>
            </a:r>
          </a:p>
        </p:txBody>
      </p:sp>
      <p:sp>
        <p:nvSpPr>
          <p:cNvPr id="7" name="Rounded Rectangle 6"/>
          <p:cNvSpPr/>
          <p:nvPr/>
        </p:nvSpPr>
        <p:spPr>
          <a:xfrm>
            <a:off x="6675120" y="3657600"/>
            <a:ext cx="5212080" cy="2011680"/>
          </a:xfrm>
          <a:prstGeom prst="roundRect">
            <a:avLst>
              <a:gd name="adj" fmla="val 5000"/>
            </a:avLst>
          </a:prstGeom>
          <a:solidFill>
            <a:srgbClr val="F8FAFC"/>
          </a:solidFill>
          <a:ln w="1905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82880"/>
          <a:lstStyle/>
          <a:p>
            <a:pPr algn="l">
              <a:lnSpc>
                <a:spcPct val="125000"/>
              </a:lnSpc>
              <a:spcAft>
                <a:spcPts val="800"/>
              </a:spcAft>
            </a:pPr>
            <a:r>
              <a:rPr sz="1600" b="1" i="0">
                <a:solidFill>
                  <a:srgbClr val="1F6FEB"/>
                </a:solidFill>
                <a:latin typeface="Arial"/>
              </a:rPr>
              <a:t>The questionnaire</a:t>
            </a:r>
          </a:p>
          <a:p>
            <a:pPr algn="l">
              <a:lnSpc>
                <a:spcPct val="135000"/>
              </a:lnSpc>
              <a:spcAft>
                <a:spcPts val="0"/>
              </a:spcAft>
            </a:pPr>
            <a:r>
              <a:rPr sz="1250" b="0" i="0">
                <a:solidFill>
                  <a:srgbClr val="1A1A1A"/>
                </a:solidFill>
                <a:latin typeface="Arial"/>
              </a:rPr>
              <a:t>40 questions in 5 sections — legal status, technology, market conditions, finance, strategy. Two people scoring the same patent are meant to reach the same numbers, because each answer option is written out, not left to gut feeling.</a:t>
            </a:r>
          </a:p>
        </p:txBody>
      </p:sp>
      <p:sp>
        <p:nvSpPr>
          <p:cNvPr id="8" name="TextBox 7"/>
          <p:cNvSpPr txBox="1"/>
          <p:nvPr/>
        </p:nvSpPr>
        <p:spPr>
          <a:xfrm>
            <a:off x="777240" y="6355080"/>
            <a:ext cx="10637215" cy="274320"/>
          </a:xfrm>
          <a:prstGeom prst="rect">
            <a:avLst/>
          </a:prstGeom>
          <a:noFill/>
        </p:spPr>
        <p:txBody>
          <a:bodyPr wrap="square" anchor="t" lIns="0" rIns="0" tIns="0" bIns="0">
            <a:spAutoFit/>
          </a:bodyPr>
          <a:lstStyle/>
          <a:p>
            <a:pPr algn="l">
              <a:lnSpc>
                <a:spcPct val="125000"/>
              </a:lnSpc>
              <a:spcAft>
                <a:spcPts val="0"/>
              </a:spcAft>
            </a:pPr>
            <a:r>
              <a:rPr sz="900" b="0" i="0">
                <a:solidFill>
                  <a:srgbClr val="94A3B8"/>
                </a:solidFill>
                <a:latin typeface="Arial"/>
              </a:rPr>
              <a:t/>
            </a:r>
          </a:p>
        </p:txBody>
      </p:sp>
      <p:sp>
        <p:nvSpPr>
          <p:cNvPr id="9" name="TextBox 8"/>
          <p:cNvSpPr txBox="1"/>
          <p:nvPr/>
        </p:nvSpPr>
        <p:spPr>
          <a:xfrm>
            <a:off x="8305495" y="6355080"/>
            <a:ext cx="3108960" cy="274320"/>
          </a:xfrm>
          <a:prstGeom prst="rect">
            <a:avLst/>
          </a:prstGeom>
          <a:noFill/>
        </p:spPr>
        <p:txBody>
          <a:bodyPr wrap="square" anchor="t" lIns="0" rIns="0" tIns="0" bIns="0">
            <a:spAutoFit/>
          </a:bodyPr>
          <a:lstStyle/>
          <a:p>
            <a:pPr algn="r">
              <a:lnSpc>
                <a:spcPct val="125000"/>
              </a:lnSpc>
              <a:spcAft>
                <a:spcPts val="0"/>
              </a:spcAft>
            </a:pPr>
            <a:r>
              <a:rPr sz="900" b="0" i="0">
                <a:solidFill>
                  <a:srgbClr val="94A3B8"/>
                </a:solidFill>
                <a:latin typeface="Arial"/>
              </a:rPr>
              <a:t>IPScore · Notebook Logic · 2 / 11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57200"/>
            <a:ext cx="10637215" cy="274320"/>
          </a:xfrm>
          <a:prstGeom prst="rect">
            <a:avLst/>
          </a:prstGeom>
          <a:noFill/>
        </p:spPr>
        <p:txBody>
          <a:bodyPr wrap="square" anchor="t" lIns="0" rIns="0" tIns="0" bIns="0">
            <a:spAutoFit/>
          </a:bodyPr>
          <a:lstStyle/>
          <a:p>
            <a:pPr algn="l">
              <a:lnSpc>
                <a:spcPct val="125000"/>
              </a:lnSpc>
              <a:spcAft>
                <a:spcPts val="0"/>
              </a:spcAft>
            </a:pPr>
            <a:r>
              <a:rPr sz="1100" b="1" i="0">
                <a:solidFill>
                  <a:srgbClr val="BE0F05"/>
                </a:solidFill>
                <a:latin typeface="Arial"/>
              </a:rPr>
              <a:t>THE SHAPE OF THE MODULE</a:t>
            </a:r>
          </a:p>
        </p:txBody>
      </p:sp>
      <p:sp>
        <p:nvSpPr>
          <p:cNvPr id="3" name="TextBox 2"/>
          <p:cNvSpPr txBox="1"/>
          <p:nvPr/>
        </p:nvSpPr>
        <p:spPr>
          <a:xfrm>
            <a:off x="6476695" y="457200"/>
            <a:ext cx="4937760" cy="274320"/>
          </a:xfrm>
          <a:prstGeom prst="rect">
            <a:avLst/>
          </a:prstGeom>
          <a:noFill/>
        </p:spPr>
        <p:txBody>
          <a:bodyPr wrap="square" anchor="t" lIns="0" rIns="0" tIns="0" bIns="0">
            <a:spAutoFit/>
          </a:bodyPr>
          <a:lstStyle/>
          <a:p>
            <a:pPr algn="r">
              <a:lnSpc>
                <a:spcPct val="125000"/>
              </a:lnSpc>
              <a:spcAft>
                <a:spcPts val="0"/>
              </a:spcAft>
            </a:pPr>
            <a:r>
              <a:rPr sz="1100" b="0" i="0">
                <a:solidFill>
                  <a:srgbClr val="94A3B8"/>
                </a:solidFill>
                <a:latin typeface="Arial"/>
              </a:rPr>
              <a:t>How the four notebooks are meant to be read</a:t>
            </a:r>
          </a:p>
        </p:txBody>
      </p:sp>
      <p:sp>
        <p:nvSpPr>
          <p:cNvPr id="4" name="TextBox 3"/>
          <p:cNvSpPr txBox="1"/>
          <p:nvPr/>
        </p:nvSpPr>
        <p:spPr>
          <a:xfrm>
            <a:off x="777240" y="841248"/>
            <a:ext cx="10637215" cy="914400"/>
          </a:xfrm>
          <a:prstGeom prst="rect">
            <a:avLst/>
          </a:prstGeom>
          <a:noFill/>
        </p:spPr>
        <p:txBody>
          <a:bodyPr wrap="square" anchor="t" lIns="0" rIns="0" tIns="0" bIns="0">
            <a:spAutoFit/>
          </a:bodyPr>
          <a:lstStyle/>
          <a:p>
            <a:pPr algn="l">
              <a:lnSpc>
                <a:spcPct val="110000"/>
              </a:lnSpc>
              <a:spcAft>
                <a:spcPts val="0"/>
              </a:spcAft>
            </a:pPr>
            <a:r>
              <a:rPr sz="2500" b="1" i="0">
                <a:solidFill>
                  <a:srgbClr val="1A1A1A"/>
                </a:solidFill>
                <a:latin typeface="Arial"/>
              </a:rPr>
              <a:t>Two notebooks build the spine, two feed it better facts</a:t>
            </a:r>
          </a:p>
        </p:txBody>
      </p:sp>
      <p:sp>
        <p:nvSpPr>
          <p:cNvPr id="5" name="Rounded Rectangle 4"/>
          <p:cNvSpPr/>
          <p:nvPr/>
        </p:nvSpPr>
        <p:spPr>
          <a:xfrm>
            <a:off x="723747" y="1828800"/>
            <a:ext cx="2377440" cy="2331720"/>
          </a:xfrm>
          <a:prstGeom prst="roundRect">
            <a:avLst>
              <a:gd name="adj" fmla="val 8000"/>
            </a:avLst>
          </a:prstGeom>
          <a:solidFill>
            <a:srgbClr val="FDF2F2"/>
          </a:solidFill>
          <a:ln w="19050">
            <a:solidFill>
              <a:srgbClr val="BE0F0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723747" y="1874520"/>
            <a:ext cx="2377440" cy="548640"/>
          </a:xfrm>
          <a:prstGeom prst="rect">
            <a:avLst/>
          </a:prstGeom>
          <a:noFill/>
        </p:spPr>
        <p:txBody>
          <a:bodyPr wrap="square" anchor="ctr" lIns="0" rIns="0" tIns="0" bIns="0">
            <a:spAutoFit/>
          </a:bodyPr>
          <a:lstStyle/>
          <a:p>
            <a:pPr algn="ctr">
              <a:lnSpc>
                <a:spcPct val="125000"/>
              </a:lnSpc>
              <a:spcAft>
                <a:spcPts val="0"/>
              </a:spcAft>
            </a:pPr>
            <a:r>
              <a:rPr sz="3000" b="1" i="0">
                <a:solidFill>
                  <a:srgbClr val="BE0F05"/>
                </a:solidFill>
                <a:latin typeface="Arial"/>
              </a:rPr>
              <a:t>1</a:t>
            </a:r>
          </a:p>
        </p:txBody>
      </p:sp>
      <p:sp>
        <p:nvSpPr>
          <p:cNvPr id="7" name="TextBox 6"/>
          <p:cNvSpPr txBox="1"/>
          <p:nvPr/>
        </p:nvSpPr>
        <p:spPr>
          <a:xfrm>
            <a:off x="870051" y="2606040"/>
            <a:ext cx="2084832" cy="640080"/>
          </a:xfrm>
          <a:prstGeom prst="rect">
            <a:avLst/>
          </a:prstGeom>
          <a:noFill/>
        </p:spPr>
        <p:txBody>
          <a:bodyPr wrap="square" anchor="t" lIns="0" rIns="0" tIns="0" bIns="0">
            <a:spAutoFit/>
          </a:bodyPr>
          <a:lstStyle/>
          <a:p>
            <a:pPr algn="ctr">
              <a:lnSpc>
                <a:spcPct val="115000"/>
              </a:lnSpc>
              <a:spcAft>
                <a:spcPts val="400"/>
              </a:spcAft>
            </a:pPr>
            <a:r>
              <a:rPr sz="1300" b="1" i="0">
                <a:solidFill>
                  <a:srgbClr val="1A1A1A"/>
                </a:solidFill>
                <a:latin typeface="Arial"/>
              </a:rPr>
              <a:t>the_model</a:t>
            </a:r>
          </a:p>
        </p:txBody>
      </p:sp>
      <p:sp>
        <p:nvSpPr>
          <p:cNvPr id="8" name="TextBox 7"/>
          <p:cNvSpPr txBox="1"/>
          <p:nvPr/>
        </p:nvSpPr>
        <p:spPr>
          <a:xfrm>
            <a:off x="870051" y="3154680"/>
            <a:ext cx="2084832" cy="594360"/>
          </a:xfrm>
          <a:prstGeom prst="rect">
            <a:avLst/>
          </a:prstGeom>
          <a:noFill/>
        </p:spPr>
        <p:txBody>
          <a:bodyPr wrap="square" anchor="t" lIns="0" rIns="0" tIns="0" bIns="0">
            <a:spAutoFit/>
          </a:bodyPr>
          <a:lstStyle/>
          <a:p>
            <a:pPr algn="ctr">
              <a:lnSpc>
                <a:spcPct val="120000"/>
              </a:lnSpc>
              <a:spcAft>
                <a:spcPts val="0"/>
              </a:spcAft>
            </a:pPr>
            <a:r>
              <a:rPr sz="1100" b="0" i="0">
                <a:solidFill>
                  <a:srgbClr val="64748B"/>
                </a:solidFill>
                <a:latin typeface="Arial"/>
              </a:rPr>
              <a:t>Builds and proves the engine</a:t>
            </a:r>
          </a:p>
        </p:txBody>
      </p:sp>
      <p:sp>
        <p:nvSpPr>
          <p:cNvPr id="9" name="TextBox 8"/>
          <p:cNvSpPr txBox="1"/>
          <p:nvPr/>
        </p:nvSpPr>
        <p:spPr>
          <a:xfrm>
            <a:off x="815187" y="3767328"/>
            <a:ext cx="2194560" cy="365760"/>
          </a:xfrm>
          <a:prstGeom prst="rect">
            <a:avLst/>
          </a:prstGeom>
          <a:noFill/>
        </p:spPr>
        <p:txBody>
          <a:bodyPr wrap="square" anchor="t" lIns="0" rIns="0" tIns="0" bIns="0">
            <a:spAutoFit/>
          </a:bodyPr>
          <a:lstStyle/>
          <a:p>
            <a:pPr algn="ctr">
              <a:lnSpc>
                <a:spcPct val="115000"/>
              </a:lnSpc>
              <a:spcAft>
                <a:spcPts val="0"/>
              </a:spcAft>
            </a:pPr>
            <a:r>
              <a:rPr sz="950" b="1" i="0">
                <a:solidFill>
                  <a:srgbClr val="BE0F05"/>
                </a:solidFill>
                <a:latin typeface="Arial"/>
              </a:rPr>
              <a:t>always builds report sections</a:t>
            </a:r>
          </a:p>
        </p:txBody>
      </p:sp>
      <p:sp>
        <p:nvSpPr>
          <p:cNvPr id="10" name="Right Arrow 9"/>
          <p:cNvSpPr/>
          <p:nvPr/>
        </p:nvSpPr>
        <p:spPr>
          <a:xfrm>
            <a:off x="3137763" y="2834640"/>
            <a:ext cx="338328" cy="274320"/>
          </a:xfrm>
          <a:prstGeom prst="rightArrow">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512667" y="1828800"/>
            <a:ext cx="2377440" cy="2331720"/>
          </a:xfrm>
          <a:prstGeom prst="roundRect">
            <a:avLst>
              <a:gd name="adj" fmla="val 8000"/>
            </a:avLst>
          </a:prstGeom>
          <a:solidFill>
            <a:srgbClr val="F8FAFC"/>
          </a:solidFill>
          <a:ln w="1905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3512667" y="1874520"/>
            <a:ext cx="2377440" cy="548640"/>
          </a:xfrm>
          <a:prstGeom prst="rect">
            <a:avLst/>
          </a:prstGeom>
          <a:noFill/>
        </p:spPr>
        <p:txBody>
          <a:bodyPr wrap="square" anchor="ctr" lIns="0" rIns="0" tIns="0" bIns="0">
            <a:spAutoFit/>
          </a:bodyPr>
          <a:lstStyle/>
          <a:p>
            <a:pPr algn="ctr">
              <a:lnSpc>
                <a:spcPct val="125000"/>
              </a:lnSpc>
              <a:spcAft>
                <a:spcPts val="0"/>
              </a:spcAft>
            </a:pPr>
            <a:r>
              <a:rPr sz="3000" b="1" i="0">
                <a:solidFill>
                  <a:srgbClr val="1F6FEB"/>
                </a:solidFill>
                <a:latin typeface="Arial"/>
              </a:rPr>
              <a:t>2</a:t>
            </a:r>
          </a:p>
        </p:txBody>
      </p:sp>
      <p:sp>
        <p:nvSpPr>
          <p:cNvPr id="13" name="TextBox 12"/>
          <p:cNvSpPr txBox="1"/>
          <p:nvPr/>
        </p:nvSpPr>
        <p:spPr>
          <a:xfrm>
            <a:off x="3658971" y="2606040"/>
            <a:ext cx="2084832" cy="640080"/>
          </a:xfrm>
          <a:prstGeom prst="rect">
            <a:avLst/>
          </a:prstGeom>
          <a:noFill/>
        </p:spPr>
        <p:txBody>
          <a:bodyPr wrap="square" anchor="t" lIns="0" rIns="0" tIns="0" bIns="0">
            <a:spAutoFit/>
          </a:bodyPr>
          <a:lstStyle/>
          <a:p>
            <a:pPr algn="ctr">
              <a:lnSpc>
                <a:spcPct val="115000"/>
              </a:lnSpc>
              <a:spcAft>
                <a:spcPts val="400"/>
              </a:spcAft>
            </a:pPr>
            <a:r>
              <a:rPr sz="1300" b="1" i="0">
                <a:solidFill>
                  <a:srgbClr val="1A1A1A"/>
                </a:solidFill>
                <a:latin typeface="Arial"/>
              </a:rPr>
              <a:t>evidence_from_patstat</a:t>
            </a:r>
          </a:p>
        </p:txBody>
      </p:sp>
      <p:sp>
        <p:nvSpPr>
          <p:cNvPr id="14" name="TextBox 13"/>
          <p:cNvSpPr txBox="1"/>
          <p:nvPr/>
        </p:nvSpPr>
        <p:spPr>
          <a:xfrm>
            <a:off x="3658971" y="3154680"/>
            <a:ext cx="2084832" cy="594360"/>
          </a:xfrm>
          <a:prstGeom prst="rect">
            <a:avLst/>
          </a:prstGeom>
          <a:noFill/>
        </p:spPr>
        <p:txBody>
          <a:bodyPr wrap="square" anchor="t" lIns="0" rIns="0" tIns="0" bIns="0">
            <a:spAutoFit/>
          </a:bodyPr>
          <a:lstStyle/>
          <a:p>
            <a:pPr algn="ctr">
              <a:lnSpc>
                <a:spcPct val="120000"/>
              </a:lnSpc>
              <a:spcAft>
                <a:spcPts val="0"/>
              </a:spcAft>
            </a:pPr>
            <a:r>
              <a:rPr sz="1100" b="0" i="0">
                <a:solidFill>
                  <a:srgbClr val="64748B"/>
                </a:solidFill>
                <a:latin typeface="Arial"/>
              </a:rPr>
              <a:t>Replaces guesses with facts</a:t>
            </a:r>
          </a:p>
        </p:txBody>
      </p:sp>
      <p:sp>
        <p:nvSpPr>
          <p:cNvPr id="15" name="TextBox 14"/>
          <p:cNvSpPr txBox="1"/>
          <p:nvPr/>
        </p:nvSpPr>
        <p:spPr>
          <a:xfrm>
            <a:off x="3604107" y="3767328"/>
            <a:ext cx="2194560" cy="365760"/>
          </a:xfrm>
          <a:prstGeom prst="rect">
            <a:avLst/>
          </a:prstGeom>
          <a:noFill/>
        </p:spPr>
        <p:txBody>
          <a:bodyPr wrap="square" anchor="t" lIns="0" rIns="0" tIns="0" bIns="0">
            <a:spAutoFit/>
          </a:bodyPr>
          <a:lstStyle/>
          <a:p>
            <a:pPr algn="ctr">
              <a:lnSpc>
                <a:spcPct val="115000"/>
              </a:lnSpc>
              <a:spcAft>
                <a:spcPts val="0"/>
              </a:spcAft>
            </a:pPr>
            <a:r>
              <a:rPr sz="950" b="1" i="0">
                <a:solidFill>
                  <a:srgbClr val="1F6FEB"/>
                </a:solidFill>
                <a:latin typeface="Arial"/>
              </a:rPr>
              <a:t>contributes: a better answer set</a:t>
            </a:r>
          </a:p>
        </p:txBody>
      </p:sp>
      <p:sp>
        <p:nvSpPr>
          <p:cNvPr id="16" name="Right Arrow 15"/>
          <p:cNvSpPr/>
          <p:nvPr/>
        </p:nvSpPr>
        <p:spPr>
          <a:xfrm>
            <a:off x="5926683" y="2834640"/>
            <a:ext cx="338328" cy="274320"/>
          </a:xfrm>
          <a:prstGeom prst="rightArrow">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301587" y="1828800"/>
            <a:ext cx="2377440" cy="2331720"/>
          </a:xfrm>
          <a:prstGeom prst="roundRect">
            <a:avLst>
              <a:gd name="adj" fmla="val 8000"/>
            </a:avLst>
          </a:prstGeom>
          <a:solidFill>
            <a:srgbClr val="F8FAFC"/>
          </a:solidFill>
          <a:ln w="19050">
            <a:solidFill>
              <a:srgbClr val="2E854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301587" y="1874520"/>
            <a:ext cx="2377440" cy="548640"/>
          </a:xfrm>
          <a:prstGeom prst="rect">
            <a:avLst/>
          </a:prstGeom>
          <a:noFill/>
        </p:spPr>
        <p:txBody>
          <a:bodyPr wrap="square" anchor="ctr" lIns="0" rIns="0" tIns="0" bIns="0">
            <a:spAutoFit/>
          </a:bodyPr>
          <a:lstStyle/>
          <a:p>
            <a:pPr algn="ctr">
              <a:lnSpc>
                <a:spcPct val="125000"/>
              </a:lnSpc>
              <a:spcAft>
                <a:spcPts val="0"/>
              </a:spcAft>
            </a:pPr>
            <a:r>
              <a:rPr sz="3000" b="1" i="0">
                <a:solidFill>
                  <a:srgbClr val="2E8540"/>
                </a:solidFill>
                <a:latin typeface="Arial"/>
              </a:rPr>
              <a:t>3</a:t>
            </a:r>
          </a:p>
        </p:txBody>
      </p:sp>
      <p:sp>
        <p:nvSpPr>
          <p:cNvPr id="19" name="TextBox 18"/>
          <p:cNvSpPr txBox="1"/>
          <p:nvPr/>
        </p:nvSpPr>
        <p:spPr>
          <a:xfrm>
            <a:off x="6447891" y="2606040"/>
            <a:ext cx="2084832" cy="640080"/>
          </a:xfrm>
          <a:prstGeom prst="rect">
            <a:avLst/>
          </a:prstGeom>
          <a:noFill/>
        </p:spPr>
        <p:txBody>
          <a:bodyPr wrap="square" anchor="t" lIns="0" rIns="0" tIns="0" bIns="0">
            <a:spAutoFit/>
          </a:bodyPr>
          <a:lstStyle/>
          <a:p>
            <a:pPr algn="ctr">
              <a:lnSpc>
                <a:spcPct val="115000"/>
              </a:lnSpc>
              <a:spcAft>
                <a:spcPts val="400"/>
              </a:spcAft>
            </a:pPr>
            <a:r>
              <a:rPr sz="1300" b="1" i="0">
                <a:solidFill>
                  <a:srgbClr val="1A1A1A"/>
                </a:solidFill>
                <a:latin typeface="Arial"/>
              </a:rPr>
              <a:t>valuation_and_scenarios</a:t>
            </a:r>
          </a:p>
        </p:txBody>
      </p:sp>
      <p:sp>
        <p:nvSpPr>
          <p:cNvPr id="20" name="TextBox 19"/>
          <p:cNvSpPr txBox="1"/>
          <p:nvPr/>
        </p:nvSpPr>
        <p:spPr>
          <a:xfrm>
            <a:off x="6447891" y="3154680"/>
            <a:ext cx="2084832" cy="594360"/>
          </a:xfrm>
          <a:prstGeom prst="rect">
            <a:avLst/>
          </a:prstGeom>
          <a:noFill/>
        </p:spPr>
        <p:txBody>
          <a:bodyPr wrap="square" anchor="t" lIns="0" rIns="0" tIns="0" bIns="0">
            <a:spAutoFit/>
          </a:bodyPr>
          <a:lstStyle/>
          <a:p>
            <a:pPr algn="ctr">
              <a:lnSpc>
                <a:spcPct val="120000"/>
              </a:lnSpc>
              <a:spcAft>
                <a:spcPts val="0"/>
              </a:spcAft>
            </a:pPr>
            <a:r>
              <a:rPr sz="1100" b="0" i="0">
                <a:solidFill>
                  <a:srgbClr val="64748B"/>
                </a:solidFill>
                <a:latin typeface="Arial"/>
              </a:rPr>
              <a:t>Ranks what to argue about</a:t>
            </a:r>
          </a:p>
        </p:txBody>
      </p:sp>
      <p:sp>
        <p:nvSpPr>
          <p:cNvPr id="21" name="TextBox 20"/>
          <p:cNvSpPr txBox="1"/>
          <p:nvPr/>
        </p:nvSpPr>
        <p:spPr>
          <a:xfrm>
            <a:off x="6393027" y="3767328"/>
            <a:ext cx="2194560" cy="365760"/>
          </a:xfrm>
          <a:prstGeom prst="rect">
            <a:avLst/>
          </a:prstGeom>
          <a:noFill/>
        </p:spPr>
        <p:txBody>
          <a:bodyPr wrap="square" anchor="t" lIns="0" rIns="0" tIns="0" bIns="0">
            <a:spAutoFit/>
          </a:bodyPr>
          <a:lstStyle/>
          <a:p>
            <a:pPr algn="ctr">
              <a:lnSpc>
                <a:spcPct val="115000"/>
              </a:lnSpc>
              <a:spcAft>
                <a:spcPts val="0"/>
              </a:spcAft>
            </a:pPr>
            <a:r>
              <a:rPr sz="950" b="1" i="0">
                <a:solidFill>
                  <a:srgbClr val="2E8540"/>
                </a:solidFill>
                <a:latin typeface="Arial"/>
              </a:rPr>
              <a:t>contributes: one extra section</a:t>
            </a:r>
          </a:p>
        </p:txBody>
      </p:sp>
      <p:sp>
        <p:nvSpPr>
          <p:cNvPr id="22" name="Right Arrow 21"/>
          <p:cNvSpPr/>
          <p:nvPr/>
        </p:nvSpPr>
        <p:spPr>
          <a:xfrm>
            <a:off x="8715603" y="2834640"/>
            <a:ext cx="338328" cy="274320"/>
          </a:xfrm>
          <a:prstGeom prst="rightArrow">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090507" y="1828800"/>
            <a:ext cx="2377440" cy="2331720"/>
          </a:xfrm>
          <a:prstGeom prst="roundRect">
            <a:avLst>
              <a:gd name="adj" fmla="val 8000"/>
            </a:avLst>
          </a:prstGeom>
          <a:solidFill>
            <a:srgbClr val="FDF2F2"/>
          </a:solidFill>
          <a:ln w="19050">
            <a:solidFill>
              <a:srgbClr val="BE0F0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9090507" y="1874520"/>
            <a:ext cx="2377440" cy="548640"/>
          </a:xfrm>
          <a:prstGeom prst="rect">
            <a:avLst/>
          </a:prstGeom>
          <a:noFill/>
        </p:spPr>
        <p:txBody>
          <a:bodyPr wrap="square" anchor="ctr" lIns="0" rIns="0" tIns="0" bIns="0">
            <a:spAutoFit/>
          </a:bodyPr>
          <a:lstStyle/>
          <a:p>
            <a:pPr algn="ctr">
              <a:lnSpc>
                <a:spcPct val="125000"/>
              </a:lnSpc>
              <a:spcAft>
                <a:spcPts val="0"/>
              </a:spcAft>
            </a:pPr>
            <a:r>
              <a:rPr sz="3000" b="1" i="0">
                <a:solidFill>
                  <a:srgbClr val="BE0F05"/>
                </a:solidFill>
                <a:latin typeface="Arial"/>
              </a:rPr>
              <a:t>4</a:t>
            </a:r>
          </a:p>
        </p:txBody>
      </p:sp>
      <p:sp>
        <p:nvSpPr>
          <p:cNvPr id="25" name="TextBox 24"/>
          <p:cNvSpPr txBox="1"/>
          <p:nvPr/>
        </p:nvSpPr>
        <p:spPr>
          <a:xfrm>
            <a:off x="9236811" y="2606040"/>
            <a:ext cx="2084832" cy="640080"/>
          </a:xfrm>
          <a:prstGeom prst="rect">
            <a:avLst/>
          </a:prstGeom>
          <a:noFill/>
        </p:spPr>
        <p:txBody>
          <a:bodyPr wrap="square" anchor="t" lIns="0" rIns="0" tIns="0" bIns="0">
            <a:spAutoFit/>
          </a:bodyPr>
          <a:lstStyle/>
          <a:p>
            <a:pPr algn="ctr">
              <a:lnSpc>
                <a:spcPct val="115000"/>
              </a:lnSpc>
              <a:spcAft>
                <a:spcPts val="400"/>
              </a:spcAft>
            </a:pPr>
            <a:r>
              <a:rPr sz="1300" b="1" i="0">
                <a:solidFill>
                  <a:srgbClr val="1A1A1A"/>
                </a:solidFill>
                <a:latin typeface="Arial"/>
              </a:rPr>
              <a:t>assemble_tool</a:t>
            </a:r>
          </a:p>
        </p:txBody>
      </p:sp>
      <p:sp>
        <p:nvSpPr>
          <p:cNvPr id="26" name="TextBox 25"/>
          <p:cNvSpPr txBox="1"/>
          <p:nvPr/>
        </p:nvSpPr>
        <p:spPr>
          <a:xfrm>
            <a:off x="9236811" y="3154680"/>
            <a:ext cx="2084832" cy="594360"/>
          </a:xfrm>
          <a:prstGeom prst="rect">
            <a:avLst/>
          </a:prstGeom>
          <a:noFill/>
        </p:spPr>
        <p:txBody>
          <a:bodyPr wrap="square" anchor="t" lIns="0" rIns="0" tIns="0" bIns="0">
            <a:spAutoFit/>
          </a:bodyPr>
          <a:lstStyle/>
          <a:p>
            <a:pPr algn="ctr">
              <a:lnSpc>
                <a:spcPct val="120000"/>
              </a:lnSpc>
              <a:spcAft>
                <a:spcPts val="0"/>
              </a:spcAft>
            </a:pPr>
            <a:r>
              <a:rPr sz="1100" b="0" i="0">
                <a:solidFill>
                  <a:srgbClr val="64748B"/>
                </a:solidFill>
                <a:latin typeface="Arial"/>
              </a:rPr>
              <a:t>Stitches everything together</a:t>
            </a:r>
          </a:p>
        </p:txBody>
      </p:sp>
      <p:sp>
        <p:nvSpPr>
          <p:cNvPr id="27" name="TextBox 26"/>
          <p:cNvSpPr txBox="1"/>
          <p:nvPr/>
        </p:nvSpPr>
        <p:spPr>
          <a:xfrm>
            <a:off x="9181947" y="3767328"/>
            <a:ext cx="2194560" cy="365760"/>
          </a:xfrm>
          <a:prstGeom prst="rect">
            <a:avLst/>
          </a:prstGeom>
          <a:noFill/>
        </p:spPr>
        <p:txBody>
          <a:bodyPr wrap="square" anchor="t" lIns="0" rIns="0" tIns="0" bIns="0">
            <a:spAutoFit/>
          </a:bodyPr>
          <a:lstStyle/>
          <a:p>
            <a:pPr algn="ctr">
              <a:lnSpc>
                <a:spcPct val="115000"/>
              </a:lnSpc>
              <a:spcAft>
                <a:spcPts val="0"/>
              </a:spcAft>
            </a:pPr>
            <a:r>
              <a:rPr sz="950" b="1" i="0">
                <a:solidFill>
                  <a:srgbClr val="BE0F05"/>
                </a:solidFill>
                <a:latin typeface="Arial"/>
              </a:rPr>
              <a:t>always builds report sections</a:t>
            </a:r>
          </a:p>
        </p:txBody>
      </p:sp>
      <p:sp>
        <p:nvSpPr>
          <p:cNvPr id="28" name="Rounded Rectangle 27"/>
          <p:cNvSpPr/>
          <p:nvPr/>
        </p:nvSpPr>
        <p:spPr>
          <a:xfrm>
            <a:off x="777240" y="4434840"/>
            <a:ext cx="10637215" cy="1737360"/>
          </a:xfrm>
          <a:prstGeom prst="roundRect">
            <a:avLst>
              <a:gd name="adj" fmla="val 5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a:lstStyle/>
          <a:p>
            <a:pPr algn="l">
              <a:lnSpc>
                <a:spcPct val="125000"/>
              </a:lnSpc>
              <a:spcAft>
                <a:spcPts val="600"/>
              </a:spcAft>
            </a:pPr>
            <a:r>
              <a:rPr sz="1300" b="1" i="0">
                <a:solidFill>
                  <a:srgbClr val="BE0F05"/>
                </a:solidFill>
                <a:latin typeface="Arial"/>
              </a:rPr>
              <a:t>Why this split matters</a:t>
            </a:r>
          </a:p>
          <a:p>
            <a:pPr algn="l">
              <a:lnSpc>
                <a:spcPct val="135000"/>
              </a:lnSpc>
              <a:spcAft>
                <a:spcPts val="0"/>
              </a:spcAft>
            </a:pPr>
            <a:r>
              <a:rPr sz="1300" b="0" i="0">
                <a:solidFill>
                  <a:srgbClr val="1A1A1A"/>
                </a:solidFill>
                <a:latin typeface="Arial"/>
              </a:rPr>
              <a:t>Notebook 4 always builds seven fixed report sections by itself — it never depends on 2 or 3 existing. Notebooks 2 and 3 don't add new sections to that spine; they hand over ingredients: notebook 2 hands over a better answer set (facts instead of guesses), notebook 3 hands over one extra section (which answer is worth arguing about). Skip either one and notebook 4 still produces a complete, honest report — it just says plainly what is missing.</a:t>
            </a:r>
          </a:p>
        </p:txBody>
      </p:sp>
      <p:sp>
        <p:nvSpPr>
          <p:cNvPr id="29" name="TextBox 28"/>
          <p:cNvSpPr txBox="1"/>
          <p:nvPr/>
        </p:nvSpPr>
        <p:spPr>
          <a:xfrm>
            <a:off x="777240" y="6355080"/>
            <a:ext cx="10637215" cy="274320"/>
          </a:xfrm>
          <a:prstGeom prst="rect">
            <a:avLst/>
          </a:prstGeom>
          <a:noFill/>
        </p:spPr>
        <p:txBody>
          <a:bodyPr wrap="square" anchor="t" lIns="0" rIns="0" tIns="0" bIns="0">
            <a:spAutoFit/>
          </a:bodyPr>
          <a:lstStyle/>
          <a:p>
            <a:pPr algn="l">
              <a:lnSpc>
                <a:spcPct val="125000"/>
              </a:lnSpc>
              <a:spcAft>
                <a:spcPts val="0"/>
              </a:spcAft>
            </a:pPr>
            <a:r>
              <a:rPr sz="900" b="0" i="0">
                <a:solidFill>
                  <a:srgbClr val="94A3B8"/>
                </a:solidFill>
                <a:latin typeface="Arial"/>
              </a:rPr>
              <a:t>Run order: 1 → 2 → 3 → 4</a:t>
            </a:r>
          </a:p>
        </p:txBody>
      </p:sp>
      <p:sp>
        <p:nvSpPr>
          <p:cNvPr id="30" name="TextBox 29"/>
          <p:cNvSpPr txBox="1"/>
          <p:nvPr/>
        </p:nvSpPr>
        <p:spPr>
          <a:xfrm>
            <a:off x="8305495" y="6355080"/>
            <a:ext cx="3108960" cy="274320"/>
          </a:xfrm>
          <a:prstGeom prst="rect">
            <a:avLst/>
          </a:prstGeom>
          <a:noFill/>
        </p:spPr>
        <p:txBody>
          <a:bodyPr wrap="square" anchor="t" lIns="0" rIns="0" tIns="0" bIns="0">
            <a:spAutoFit/>
          </a:bodyPr>
          <a:lstStyle/>
          <a:p>
            <a:pPr algn="r">
              <a:lnSpc>
                <a:spcPct val="125000"/>
              </a:lnSpc>
              <a:spcAft>
                <a:spcPts val="0"/>
              </a:spcAft>
            </a:pPr>
            <a:r>
              <a:rPr sz="900" b="0" i="0">
                <a:solidFill>
                  <a:srgbClr val="94A3B8"/>
                </a:solidFill>
                <a:latin typeface="Arial"/>
              </a:rPr>
              <a:t>IPScore · Notebook Logic · 3 / 11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57200"/>
            <a:ext cx="10637215" cy="274320"/>
          </a:xfrm>
          <a:prstGeom prst="rect">
            <a:avLst/>
          </a:prstGeom>
          <a:noFill/>
        </p:spPr>
        <p:txBody>
          <a:bodyPr wrap="square" anchor="t" lIns="0" rIns="0" tIns="0" bIns="0">
            <a:spAutoFit/>
          </a:bodyPr>
          <a:lstStyle/>
          <a:p>
            <a:pPr algn="l">
              <a:lnSpc>
                <a:spcPct val="125000"/>
              </a:lnSpc>
              <a:spcAft>
                <a:spcPts val="0"/>
              </a:spcAft>
            </a:pPr>
            <a:r>
              <a:rPr sz="1100" b="1" i="0">
                <a:solidFill>
                  <a:srgbClr val="BE0F05"/>
                </a:solidFill>
                <a:latin typeface="Arial"/>
              </a:rPr>
              <a:t>NOTEBOOK 1 · PART A</a:t>
            </a:r>
          </a:p>
        </p:txBody>
      </p:sp>
      <p:sp>
        <p:nvSpPr>
          <p:cNvPr id="3" name="TextBox 2"/>
          <p:cNvSpPr txBox="1"/>
          <p:nvPr/>
        </p:nvSpPr>
        <p:spPr>
          <a:xfrm>
            <a:off x="6476695" y="457200"/>
            <a:ext cx="4937760" cy="274320"/>
          </a:xfrm>
          <a:prstGeom prst="rect">
            <a:avLst/>
          </a:prstGeom>
          <a:noFill/>
        </p:spPr>
        <p:txBody>
          <a:bodyPr wrap="square" anchor="t" lIns="0" rIns="0" tIns="0" bIns="0">
            <a:spAutoFit/>
          </a:bodyPr>
          <a:lstStyle/>
          <a:p>
            <a:pPr algn="r">
              <a:lnSpc>
                <a:spcPct val="125000"/>
              </a:lnSpc>
              <a:spcAft>
                <a:spcPts val="0"/>
              </a:spcAft>
            </a:pPr>
            <a:r>
              <a:rPr sz="1100" b="0" i="0">
                <a:solidFill>
                  <a:srgbClr val="94A3B8"/>
                </a:solidFill>
                <a:latin typeface="Arial"/>
              </a:rPr>
              <a:t>1_the_model.ipynb — runs anywhere, no TIP needed</a:t>
            </a:r>
          </a:p>
        </p:txBody>
      </p:sp>
      <p:sp>
        <p:nvSpPr>
          <p:cNvPr id="4" name="TextBox 3"/>
          <p:cNvSpPr txBox="1"/>
          <p:nvPr/>
        </p:nvSpPr>
        <p:spPr>
          <a:xfrm>
            <a:off x="777240" y="841248"/>
            <a:ext cx="10637215" cy="914400"/>
          </a:xfrm>
          <a:prstGeom prst="rect">
            <a:avLst/>
          </a:prstGeom>
          <a:noFill/>
        </p:spPr>
        <p:txBody>
          <a:bodyPr wrap="square" anchor="t" lIns="0" rIns="0" tIns="0" bIns="0">
            <a:spAutoFit/>
          </a:bodyPr>
          <a:lstStyle/>
          <a:p>
            <a:pPr algn="l">
              <a:lnSpc>
                <a:spcPct val="110000"/>
              </a:lnSpc>
              <a:spcAft>
                <a:spcPts val="0"/>
              </a:spcAft>
            </a:pPr>
            <a:r>
              <a:rPr sz="2500" b="1" i="0">
                <a:solidFill>
                  <a:srgbClr val="1A1A1A"/>
                </a:solidFill>
                <a:latin typeface="Arial"/>
              </a:rPr>
              <a:t>40 questions — but only 8 of them touch the money</a:t>
            </a:r>
          </a:p>
        </p:txBody>
      </p:sp>
      <p:sp>
        <p:nvSpPr>
          <p:cNvPr id="5" name="Rounded Rectangle 4"/>
          <p:cNvSpPr/>
          <p:nvPr/>
        </p:nvSpPr>
        <p:spPr>
          <a:xfrm>
            <a:off x="777240" y="1691640"/>
            <a:ext cx="4709160" cy="2606040"/>
          </a:xfrm>
          <a:prstGeom prst="roundRect">
            <a:avLst>
              <a:gd name="adj" fmla="val 5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219456" rIns="219456" tIns="164592"/>
          <a:lstStyle/>
          <a:p>
            <a:pPr algn="l">
              <a:lnSpc>
                <a:spcPct val="125000"/>
              </a:lnSpc>
              <a:spcAft>
                <a:spcPts val="700"/>
              </a:spcAft>
            </a:pPr>
            <a:r>
              <a:rPr sz="1300" b="1" i="0">
                <a:solidFill>
                  <a:srgbClr val="1A1A1A"/>
                </a:solidFill>
                <a:latin typeface="Arial"/>
              </a:rPr>
              <a:t>5 sections, 40 questions, 200 points max</a:t>
            </a:r>
          </a:p>
          <a:p>
            <a:pPr algn="l">
              <a:lnSpc>
                <a:spcPct val="125000"/>
              </a:lnSpc>
              <a:spcAft>
                <a:spcPts val="100"/>
              </a:spcAft>
            </a:pPr>
            <a:r>
              <a:rPr sz="1200" b="1" i="0">
                <a:solidFill>
                  <a:srgbClr val="BE0F05"/>
                </a:solidFill>
                <a:latin typeface="Arial"/>
              </a:rPr>
              <a:t>A · Legal status</a:t>
            </a:r>
          </a:p>
          <a:p>
            <a:pPr algn="l">
              <a:lnSpc>
                <a:spcPct val="115000"/>
              </a:lnSpc>
              <a:spcAft>
                <a:spcPts val="600"/>
              </a:spcAft>
            </a:pPr>
            <a:r>
              <a:rPr sz="1050" b="0" i="0">
                <a:solidFill>
                  <a:srgbClr val="64748B"/>
                </a:solidFill>
                <a:latin typeface="Arial"/>
              </a:rPr>
              <a:t>granted? term left? geographic reach?</a:t>
            </a:r>
          </a:p>
          <a:p>
            <a:pPr algn="l">
              <a:lnSpc>
                <a:spcPct val="125000"/>
              </a:lnSpc>
              <a:spcAft>
                <a:spcPts val="100"/>
              </a:spcAft>
            </a:pPr>
            <a:r>
              <a:rPr sz="1200" b="1" i="0">
                <a:solidFill>
                  <a:srgbClr val="BE0F05"/>
                </a:solidFill>
                <a:latin typeface="Arial"/>
              </a:rPr>
              <a:t>B · Technology</a:t>
            </a:r>
          </a:p>
          <a:p>
            <a:pPr algn="l">
              <a:lnSpc>
                <a:spcPct val="115000"/>
              </a:lnSpc>
              <a:spcAft>
                <a:spcPts val="600"/>
              </a:spcAft>
            </a:pPr>
            <a:r>
              <a:rPr sz="1050" b="0" i="0">
                <a:solidFill>
                  <a:srgbClr val="64748B"/>
                </a:solidFill>
                <a:latin typeface="Arial"/>
              </a:rPr>
              <a:t>novelty, superiority, fit with the company</a:t>
            </a:r>
          </a:p>
          <a:p>
            <a:pPr algn="l">
              <a:lnSpc>
                <a:spcPct val="125000"/>
              </a:lnSpc>
              <a:spcAft>
                <a:spcPts val="100"/>
              </a:spcAft>
            </a:pPr>
            <a:r>
              <a:rPr sz="1200" b="1" i="0">
                <a:solidFill>
                  <a:srgbClr val="BE0F05"/>
                </a:solidFill>
                <a:latin typeface="Arial"/>
              </a:rPr>
              <a:t>C · Market conditions</a:t>
            </a:r>
          </a:p>
          <a:p>
            <a:pPr algn="l">
              <a:lnSpc>
                <a:spcPct val="115000"/>
              </a:lnSpc>
              <a:spcAft>
                <a:spcPts val="600"/>
              </a:spcAft>
            </a:pPr>
            <a:r>
              <a:rPr sz="1050" b="0" i="0">
                <a:solidFill>
                  <a:srgbClr val="64748B"/>
                </a:solidFill>
                <a:latin typeface="Arial"/>
              </a:rPr>
              <a:t>is there a market, is it growing?</a:t>
            </a:r>
          </a:p>
          <a:p>
            <a:pPr algn="l">
              <a:lnSpc>
                <a:spcPct val="125000"/>
              </a:lnSpc>
              <a:spcAft>
                <a:spcPts val="100"/>
              </a:spcAft>
            </a:pPr>
            <a:r>
              <a:rPr sz="1200" b="1" i="0">
                <a:solidFill>
                  <a:srgbClr val="BE0F05"/>
                </a:solidFill>
                <a:latin typeface="Arial"/>
              </a:rPr>
              <a:t>D · Finance</a:t>
            </a:r>
          </a:p>
          <a:p>
            <a:pPr algn="l">
              <a:lnSpc>
                <a:spcPct val="115000"/>
              </a:lnSpc>
              <a:spcAft>
                <a:spcPts val="600"/>
              </a:spcAft>
            </a:pPr>
            <a:r>
              <a:rPr sz="1050" b="0" i="0">
                <a:solidFill>
                  <a:srgbClr val="64748B"/>
                </a:solidFill>
                <a:latin typeface="Arial"/>
              </a:rPr>
              <a:t>development, production, equipment cost</a:t>
            </a:r>
          </a:p>
          <a:p>
            <a:pPr algn="l">
              <a:lnSpc>
                <a:spcPct val="125000"/>
              </a:lnSpc>
              <a:spcAft>
                <a:spcPts val="100"/>
              </a:spcAft>
            </a:pPr>
            <a:r>
              <a:rPr sz="1200" b="1" i="0">
                <a:solidFill>
                  <a:srgbClr val="BE0F05"/>
                </a:solidFill>
                <a:latin typeface="Arial"/>
              </a:rPr>
              <a:t>E · Strategy</a:t>
            </a:r>
          </a:p>
          <a:p>
            <a:pPr algn="l">
              <a:lnSpc>
                <a:spcPct val="115000"/>
              </a:lnSpc>
              <a:spcAft>
                <a:spcPts val="600"/>
              </a:spcAft>
            </a:pPr>
            <a:r>
              <a:rPr sz="1050" b="0" i="0">
                <a:solidFill>
                  <a:srgbClr val="64748B"/>
                </a:solidFill>
                <a:latin typeface="Arial"/>
              </a:rPr>
              <a:t>does it serve the company's actual plan?</a:t>
            </a:r>
          </a:p>
          <a:p>
            <a:pPr algn="l">
              <a:lnSpc>
                <a:spcPct val="125000"/>
              </a:lnSpc>
              <a:spcAft>
                <a:spcPts val="0"/>
              </a:spcAft>
            </a:pPr>
            <a:r>
              <a:rPr sz="1000" b="0" i="1">
                <a:solidFill>
                  <a:srgbClr val="1A1A1A"/>
                </a:solidFill>
                <a:latin typeface="Arial"/>
              </a:rPr>
              <a:t>Only B5, C2, C3, C6 and D1–D4 (in blue, right) are “OEK” questions — each answer maps onto a real economic quantity through a fixed EPO table.</a:t>
            </a:r>
          </a:p>
        </p:txBody>
      </p:sp>
      <p:sp>
        <p:nvSpPr>
          <p:cNvPr id="6" name="Rounded Rectangle 5"/>
          <p:cNvSpPr/>
          <p:nvPr/>
        </p:nvSpPr>
        <p:spPr>
          <a:xfrm>
            <a:off x="5715000" y="1691640"/>
            <a:ext cx="5715000" cy="2606040"/>
          </a:xfrm>
          <a:prstGeom prst="roundRect">
            <a:avLst>
              <a:gd name="adj" fmla="val 5000"/>
            </a:avLst>
          </a:prstGeom>
          <a:solidFill>
            <a:srgbClr val="F8FAFC"/>
          </a:solidFill>
          <a:ln w="19050">
            <a:solidFill>
              <a:srgbClr val="BE0F0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5897880" y="1810512"/>
            <a:ext cx="5349240" cy="256032"/>
          </a:xfrm>
          <a:prstGeom prst="rect">
            <a:avLst/>
          </a:prstGeom>
          <a:noFill/>
        </p:spPr>
        <p:txBody>
          <a:bodyPr wrap="square" anchor="t" lIns="0" rIns="0" tIns="0" bIns="0">
            <a:spAutoFit/>
          </a:bodyPr>
          <a:lstStyle/>
          <a:p>
            <a:pPr algn="l">
              <a:lnSpc>
                <a:spcPct val="125000"/>
              </a:lnSpc>
              <a:spcAft>
                <a:spcPts val="0"/>
              </a:spcAft>
            </a:pPr>
            <a:r>
              <a:rPr sz="1300" b="1" i="0">
                <a:solidFill>
                  <a:srgbClr val="BE0F05"/>
                </a:solidFill>
                <a:latin typeface="Arial"/>
              </a:rPr>
              <a:t>The chart notebook 1 actually draws</a:t>
            </a:r>
          </a:p>
        </p:txBody>
      </p:sp>
      <p:sp>
        <p:nvSpPr>
          <p:cNvPr id="8" name="TextBox 7"/>
          <p:cNvSpPr txBox="1"/>
          <p:nvPr/>
        </p:nvSpPr>
        <p:spPr>
          <a:xfrm>
            <a:off x="5897880" y="1810512"/>
            <a:ext cx="5349240" cy="256032"/>
          </a:xfrm>
          <a:prstGeom prst="rect">
            <a:avLst/>
          </a:prstGeom>
          <a:noFill/>
        </p:spPr>
        <p:txBody>
          <a:bodyPr wrap="square" anchor="t" lIns="0" rIns="0" tIns="0" bIns="0">
            <a:spAutoFit/>
          </a:bodyPr>
          <a:lstStyle/>
          <a:p>
            <a:pPr algn="r">
              <a:lnSpc>
                <a:spcPct val="125000"/>
              </a:lnSpc>
              <a:spcAft>
                <a:spcPts val="0"/>
              </a:spcAft>
            </a:pPr>
            <a:r>
              <a:rPr sz="900" b="1" i="0">
                <a:solidFill>
                  <a:srgbClr val="94A3B8"/>
                </a:solidFill>
                <a:latin typeface="Arial"/>
              </a:rPr>
              <a:t>1_the_model.ipynb</a:t>
            </a:r>
          </a:p>
        </p:txBody>
      </p:sp>
      <p:pic>
        <p:nvPicPr>
          <p:cNvPr id="9" name="Picture 8" descr="1_the_model_cell9_1.png"/>
          <p:cNvPicPr>
            <a:picLocks noChangeAspect="1"/>
          </p:cNvPicPr>
          <p:nvPr/>
        </p:nvPicPr>
        <p:blipFill>
          <a:blip r:embed="rId2"/>
          <a:stretch>
            <a:fillRect/>
          </a:stretch>
        </p:blipFill>
        <p:spPr>
          <a:xfrm>
            <a:off x="7158119" y="2130552"/>
            <a:ext cx="2828761" cy="1673352"/>
          </a:xfrm>
          <a:prstGeom prst="rect">
            <a:avLst/>
          </a:prstGeom>
        </p:spPr>
      </p:pic>
      <p:sp>
        <p:nvSpPr>
          <p:cNvPr id="10" name="TextBox 9"/>
          <p:cNvSpPr txBox="1"/>
          <p:nvPr/>
        </p:nvSpPr>
        <p:spPr>
          <a:xfrm>
            <a:off x="5897880" y="3858768"/>
            <a:ext cx="5349240" cy="457200"/>
          </a:xfrm>
          <a:prstGeom prst="rect">
            <a:avLst/>
          </a:prstGeom>
          <a:noFill/>
        </p:spPr>
        <p:txBody>
          <a:bodyPr wrap="square" anchor="t" lIns="0" rIns="0" tIns="0" bIns="0">
            <a:spAutoFit/>
          </a:bodyPr>
          <a:lstStyle/>
          <a:p>
            <a:pPr algn="l">
              <a:lnSpc>
                <a:spcPct val="120000"/>
              </a:lnSpc>
              <a:spcAft>
                <a:spcPts val="0"/>
              </a:spcAft>
            </a:pPr>
            <a:r>
              <a:rPr sz="1050" b="0" i="1">
                <a:solidFill>
                  <a:srgbClr val="64748B"/>
                </a:solidFill>
                <a:latin typeface="Arial"/>
              </a:rPr>
              <a:t>Grey = profile only. Blue = feeds the cash flow — 8 dots out of 40.</a:t>
            </a:r>
          </a:p>
        </p:txBody>
      </p:sp>
      <p:sp>
        <p:nvSpPr>
          <p:cNvPr id="11" name="Rounded Rectangle 10"/>
          <p:cNvSpPr/>
          <p:nvPr/>
        </p:nvSpPr>
        <p:spPr>
          <a:xfrm>
            <a:off x="777240" y="4526280"/>
            <a:ext cx="10637215" cy="1600200"/>
          </a:xfrm>
          <a:prstGeom prst="roundRect">
            <a:avLst>
              <a:gd name="adj" fmla="val 5000"/>
            </a:avLst>
          </a:prstGeom>
          <a:solidFill>
            <a:srgbClr val="F8FAFC"/>
          </a:solidFill>
          <a:ln w="19050">
            <a:solidFill>
              <a:srgbClr val="C98A0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a:lstStyle/>
          <a:p>
            <a:pPr algn="l">
              <a:lnSpc>
                <a:spcPct val="125000"/>
              </a:lnSpc>
              <a:spcAft>
                <a:spcPts val="600"/>
              </a:spcAft>
            </a:pPr>
            <a:r>
              <a:rPr sz="1300" b="1" i="0">
                <a:solidFill>
                  <a:srgbClr val="C98A00"/>
                </a:solidFill>
                <a:latin typeface="Arial"/>
              </a:rPr>
              <a:t>How notebook 1 earns your trust: the acceptance test</a:t>
            </a:r>
          </a:p>
          <a:p>
            <a:pPr algn="l">
              <a:lnSpc>
                <a:spcPct val="135000"/>
              </a:lnSpc>
              <a:spcAft>
                <a:spcPts val="0"/>
              </a:spcAft>
            </a:pPr>
            <a:r>
              <a:rPr sz="1250" b="0" i="0">
                <a:solidFill>
                  <a:srgbClr val="1A1A1A"/>
                </a:solidFill>
                <a:latin typeface="Arial"/>
              </a:rPr>
              <a:t>The EPO's own workbook carries three test patents with three already-computed NPVs. Before this notebook is allowed to compute anything else, its Python engine has to reproduce all three exactly — one lands positive, one barely positive, one negative. This is what caught a real off-by-one bug once, and it is the reason every later number in this module can be trusted.</a:t>
            </a:r>
          </a:p>
        </p:txBody>
      </p:sp>
      <p:sp>
        <p:nvSpPr>
          <p:cNvPr id="12" name="TextBox 11"/>
          <p:cNvSpPr txBox="1"/>
          <p:nvPr/>
        </p:nvSpPr>
        <p:spPr>
          <a:xfrm>
            <a:off x="777240" y="6355080"/>
            <a:ext cx="10637215" cy="274320"/>
          </a:xfrm>
          <a:prstGeom prst="rect">
            <a:avLst/>
          </a:prstGeom>
          <a:noFill/>
        </p:spPr>
        <p:txBody>
          <a:bodyPr wrap="square" anchor="t" lIns="0" rIns="0" tIns="0" bIns="0">
            <a:spAutoFit/>
          </a:bodyPr>
          <a:lstStyle/>
          <a:p>
            <a:pPr algn="l">
              <a:lnSpc>
                <a:spcPct val="125000"/>
              </a:lnSpc>
              <a:spcAft>
                <a:spcPts val="0"/>
              </a:spcAft>
            </a:pPr>
            <a:r>
              <a:rPr sz="900" b="0" i="0">
                <a:solidFill>
                  <a:srgbClr val="94A3B8"/>
                </a:solidFill>
                <a:latin typeface="Arial"/>
              </a:rPr>
              <a:t/>
            </a:r>
          </a:p>
        </p:txBody>
      </p:sp>
      <p:sp>
        <p:nvSpPr>
          <p:cNvPr id="13" name="TextBox 12"/>
          <p:cNvSpPr txBox="1"/>
          <p:nvPr/>
        </p:nvSpPr>
        <p:spPr>
          <a:xfrm>
            <a:off x="8305495" y="6355080"/>
            <a:ext cx="3108960" cy="274320"/>
          </a:xfrm>
          <a:prstGeom prst="rect">
            <a:avLst/>
          </a:prstGeom>
          <a:noFill/>
        </p:spPr>
        <p:txBody>
          <a:bodyPr wrap="square" anchor="t" lIns="0" rIns="0" tIns="0" bIns="0">
            <a:spAutoFit/>
          </a:bodyPr>
          <a:lstStyle/>
          <a:p>
            <a:pPr algn="r">
              <a:lnSpc>
                <a:spcPct val="125000"/>
              </a:lnSpc>
              <a:spcAft>
                <a:spcPts val="0"/>
              </a:spcAft>
            </a:pPr>
            <a:r>
              <a:rPr sz="900" b="0" i="0">
                <a:solidFill>
                  <a:srgbClr val="94A3B8"/>
                </a:solidFill>
                <a:latin typeface="Arial"/>
              </a:rPr>
              <a:t>IPScore · Notebook Logic · 4 / 11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57200"/>
            <a:ext cx="10637215" cy="274320"/>
          </a:xfrm>
          <a:prstGeom prst="rect">
            <a:avLst/>
          </a:prstGeom>
          <a:noFill/>
        </p:spPr>
        <p:txBody>
          <a:bodyPr wrap="square" anchor="t" lIns="0" rIns="0" tIns="0" bIns="0">
            <a:spAutoFit/>
          </a:bodyPr>
          <a:lstStyle/>
          <a:p>
            <a:pPr algn="l">
              <a:lnSpc>
                <a:spcPct val="125000"/>
              </a:lnSpc>
              <a:spcAft>
                <a:spcPts val="0"/>
              </a:spcAft>
            </a:pPr>
            <a:r>
              <a:rPr sz="1100" b="1" i="0">
                <a:solidFill>
                  <a:srgbClr val="BE0F05"/>
                </a:solidFill>
                <a:latin typeface="Arial"/>
              </a:rPr>
              <a:t>NOTEBOOK 1 · PART B</a:t>
            </a:r>
          </a:p>
        </p:txBody>
      </p:sp>
      <p:sp>
        <p:nvSpPr>
          <p:cNvPr id="3" name="TextBox 2"/>
          <p:cNvSpPr txBox="1"/>
          <p:nvPr/>
        </p:nvSpPr>
        <p:spPr>
          <a:xfrm>
            <a:off x="6476695" y="457200"/>
            <a:ext cx="4937760" cy="274320"/>
          </a:xfrm>
          <a:prstGeom prst="rect">
            <a:avLst/>
          </a:prstGeom>
          <a:noFill/>
        </p:spPr>
        <p:txBody>
          <a:bodyPr wrap="square" anchor="t" lIns="0" rIns="0" tIns="0" bIns="0">
            <a:spAutoFit/>
          </a:bodyPr>
          <a:lstStyle/>
          <a:p>
            <a:pPr algn="r">
              <a:lnSpc>
                <a:spcPct val="125000"/>
              </a:lnSpc>
              <a:spcAft>
                <a:spcPts val="0"/>
              </a:spcAft>
            </a:pPr>
            <a:r>
              <a:rPr sz="1100" b="0" i="0">
                <a:solidFill>
                  <a:srgbClr val="94A3B8"/>
                </a:solidFill>
                <a:latin typeface="Arial"/>
              </a:rPr>
              <a:t>1_the_model.ipynb — how the 8 answers become one number</a:t>
            </a:r>
          </a:p>
        </p:txBody>
      </p:sp>
      <p:sp>
        <p:nvSpPr>
          <p:cNvPr id="4" name="TextBox 3"/>
          <p:cNvSpPr txBox="1"/>
          <p:nvPr/>
        </p:nvSpPr>
        <p:spPr>
          <a:xfrm>
            <a:off x="777240" y="841248"/>
            <a:ext cx="10637215" cy="914400"/>
          </a:xfrm>
          <a:prstGeom prst="rect">
            <a:avLst/>
          </a:prstGeom>
          <a:noFill/>
        </p:spPr>
        <p:txBody>
          <a:bodyPr wrap="square" anchor="t" lIns="0" rIns="0" tIns="0" bIns="0">
            <a:spAutoFit/>
          </a:bodyPr>
          <a:lstStyle/>
          <a:p>
            <a:pPr algn="l">
              <a:lnSpc>
                <a:spcPct val="110000"/>
              </a:lnSpc>
              <a:spcAft>
                <a:spcPts val="0"/>
              </a:spcAft>
            </a:pPr>
            <a:r>
              <a:rPr sz="2500" b="1" i="0">
                <a:solidFill>
                  <a:srgbClr val="1A1A1A"/>
                </a:solidFill>
                <a:latin typeface="Arial"/>
              </a:rPr>
              <a:t>Two ingredients, ten years, one discounted total</a:t>
            </a:r>
          </a:p>
        </p:txBody>
      </p:sp>
      <p:sp>
        <p:nvSpPr>
          <p:cNvPr id="5" name="Rounded Rectangle 4"/>
          <p:cNvSpPr/>
          <p:nvPr/>
        </p:nvSpPr>
        <p:spPr>
          <a:xfrm>
            <a:off x="777240" y="1691640"/>
            <a:ext cx="4709160" cy="2606040"/>
          </a:xfrm>
          <a:prstGeom prst="roundRect">
            <a:avLst>
              <a:gd name="adj" fmla="val 5000"/>
            </a:avLst>
          </a:prstGeom>
          <a:solidFill>
            <a:srgbClr val="F8FAFC"/>
          </a:solidFill>
          <a:ln w="1905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wrap="square" lIns="219456" rIns="219456" tIns="164592"/>
          <a:lstStyle/>
          <a:p>
            <a:pPr algn="l">
              <a:lnSpc>
                <a:spcPct val="125000"/>
              </a:lnSpc>
              <a:spcAft>
                <a:spcPts val="600"/>
              </a:spcAft>
            </a:pPr>
            <a:r>
              <a:rPr sz="1300" b="1" i="0">
                <a:solidFill>
                  <a:srgbClr val="1F6FEB"/>
                </a:solidFill>
                <a:latin typeface="Arial"/>
              </a:rPr>
              <a:t>Ingredient 1 — the company (7 figures)</a:t>
            </a:r>
          </a:p>
          <a:p>
            <a:pPr algn="l">
              <a:lnSpc>
                <a:spcPct val="130000"/>
              </a:lnSpc>
              <a:spcAft>
                <a:spcPts val="1200"/>
              </a:spcAft>
            </a:pPr>
            <a:r>
              <a:rPr sz="1100" b="0" i="0">
                <a:solidFill>
                  <a:srgbClr val="1A1A1A"/>
                </a:solidFill>
                <a:latin typeface="Arial"/>
              </a:rPr>
              <a:t>Turnover, direct/indirect costs, depreciation and its period, share of turnover in this business area, discount rate. The 8 answers describe what the patent changes; these figures describe the company it changes it for.</a:t>
            </a:r>
          </a:p>
          <a:p>
            <a:pPr algn="l">
              <a:lnSpc>
                <a:spcPct val="125000"/>
              </a:lnSpc>
              <a:spcAft>
                <a:spcPts val="600"/>
              </a:spcAft>
            </a:pPr>
            <a:r>
              <a:rPr sz="1300" b="1" i="0">
                <a:solidFill>
                  <a:srgbClr val="BE0F05"/>
                </a:solidFill>
                <a:latin typeface="Arial"/>
              </a:rPr>
              <a:t>Ingredient 2 — the cash flow (6 components)</a:t>
            </a:r>
          </a:p>
          <a:p>
            <a:pPr algn="l">
              <a:lnSpc>
                <a:spcPct val="130000"/>
              </a:lnSpc>
              <a:spcAft>
                <a:spcPts val="0"/>
              </a:spcAft>
            </a:pPr>
            <a:r>
              <a:rPr sz="1100" b="0" i="0">
                <a:solidFill>
                  <a:srgbClr val="1A1A1A"/>
                </a:solidFill>
                <a:latin typeface="Arial"/>
              </a:rPr>
              <a:t>+ Revenue, + regained revenue, + efficiency, + investment saved, − costs, − the one-time investment. Each year's total, discounted back to today, summed across ten years = the NPV.</a:t>
            </a:r>
          </a:p>
        </p:txBody>
      </p:sp>
      <p:sp>
        <p:nvSpPr>
          <p:cNvPr id="6" name="Rounded Rectangle 5"/>
          <p:cNvSpPr/>
          <p:nvPr/>
        </p:nvSpPr>
        <p:spPr>
          <a:xfrm>
            <a:off x="5715000" y="1691640"/>
            <a:ext cx="5715000" cy="2606040"/>
          </a:xfrm>
          <a:prstGeom prst="roundRect">
            <a:avLst>
              <a:gd name="adj" fmla="val 5000"/>
            </a:avLst>
          </a:prstGeom>
          <a:solidFill>
            <a:srgbClr val="F8FAFC"/>
          </a:solidFill>
          <a:ln w="19050">
            <a:solidFill>
              <a:srgbClr val="BE0F0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5897880" y="1810512"/>
            <a:ext cx="5349240" cy="256032"/>
          </a:xfrm>
          <a:prstGeom prst="rect">
            <a:avLst/>
          </a:prstGeom>
          <a:noFill/>
        </p:spPr>
        <p:txBody>
          <a:bodyPr wrap="square" anchor="t" lIns="0" rIns="0" tIns="0" bIns="0">
            <a:spAutoFit/>
          </a:bodyPr>
          <a:lstStyle/>
          <a:p>
            <a:pPr algn="l">
              <a:lnSpc>
                <a:spcPct val="125000"/>
              </a:lnSpc>
              <a:spcAft>
                <a:spcPts val="0"/>
              </a:spcAft>
            </a:pPr>
            <a:r>
              <a:rPr sz="1300" b="1" i="0">
                <a:solidFill>
                  <a:srgbClr val="BE0F05"/>
                </a:solidFill>
                <a:latin typeface="Arial"/>
              </a:rPr>
              <a:t>The chart notebook 1 actually draws</a:t>
            </a:r>
          </a:p>
        </p:txBody>
      </p:sp>
      <p:sp>
        <p:nvSpPr>
          <p:cNvPr id="8" name="TextBox 7"/>
          <p:cNvSpPr txBox="1"/>
          <p:nvPr/>
        </p:nvSpPr>
        <p:spPr>
          <a:xfrm>
            <a:off x="5897880" y="1810512"/>
            <a:ext cx="5349240" cy="256032"/>
          </a:xfrm>
          <a:prstGeom prst="rect">
            <a:avLst/>
          </a:prstGeom>
          <a:noFill/>
        </p:spPr>
        <p:txBody>
          <a:bodyPr wrap="square" anchor="t" lIns="0" rIns="0" tIns="0" bIns="0">
            <a:spAutoFit/>
          </a:bodyPr>
          <a:lstStyle/>
          <a:p>
            <a:pPr algn="r">
              <a:lnSpc>
                <a:spcPct val="125000"/>
              </a:lnSpc>
              <a:spcAft>
                <a:spcPts val="0"/>
              </a:spcAft>
            </a:pPr>
            <a:r>
              <a:rPr sz="900" b="1" i="0">
                <a:solidFill>
                  <a:srgbClr val="94A3B8"/>
                </a:solidFill>
                <a:latin typeface="Arial"/>
              </a:rPr>
              <a:t>1_the_model.ipynb</a:t>
            </a:r>
          </a:p>
        </p:txBody>
      </p:sp>
      <p:pic>
        <p:nvPicPr>
          <p:cNvPr id="9" name="Picture 8" descr="1_the_model_cell22_2.png"/>
          <p:cNvPicPr>
            <a:picLocks noChangeAspect="1"/>
          </p:cNvPicPr>
          <p:nvPr/>
        </p:nvPicPr>
        <p:blipFill>
          <a:blip r:embed="rId2"/>
          <a:stretch>
            <a:fillRect/>
          </a:stretch>
        </p:blipFill>
        <p:spPr>
          <a:xfrm>
            <a:off x="7334917" y="2130552"/>
            <a:ext cx="2475166" cy="1673352"/>
          </a:xfrm>
          <a:prstGeom prst="rect">
            <a:avLst/>
          </a:prstGeom>
        </p:spPr>
      </p:pic>
      <p:sp>
        <p:nvSpPr>
          <p:cNvPr id="10" name="TextBox 9"/>
          <p:cNvSpPr txBox="1"/>
          <p:nvPr/>
        </p:nvSpPr>
        <p:spPr>
          <a:xfrm>
            <a:off x="5897880" y="3858768"/>
            <a:ext cx="5349240" cy="457200"/>
          </a:xfrm>
          <a:prstGeom prst="rect">
            <a:avLst/>
          </a:prstGeom>
          <a:noFill/>
        </p:spPr>
        <p:txBody>
          <a:bodyPr wrap="square" anchor="t" lIns="0" rIns="0" tIns="0" bIns="0">
            <a:spAutoFit/>
          </a:bodyPr>
          <a:lstStyle/>
          <a:p>
            <a:pPr algn="l">
              <a:lnSpc>
                <a:spcPct val="120000"/>
              </a:lnSpc>
              <a:spcAft>
                <a:spcPts val="0"/>
              </a:spcAft>
            </a:pPr>
            <a:r>
              <a:rPr sz="1050" b="0" i="1">
                <a:solidFill>
                  <a:srgbClr val="64748B"/>
                </a:solidFill>
                <a:latin typeface="Arial"/>
              </a:rPr>
              <a:t>Bars above the line add liquidity, below subtract it; the black line is what remains, pre-discount.</a:t>
            </a:r>
          </a:p>
        </p:txBody>
      </p:sp>
      <p:sp>
        <p:nvSpPr>
          <p:cNvPr id="11" name="Rounded Rectangle 10"/>
          <p:cNvSpPr/>
          <p:nvPr/>
        </p:nvSpPr>
        <p:spPr>
          <a:xfrm>
            <a:off x="777240" y="4343400"/>
            <a:ext cx="10637215" cy="1783080"/>
          </a:xfrm>
          <a:prstGeom prst="roundRect">
            <a:avLst>
              <a:gd name="adj" fmla="val 5000"/>
            </a:avLst>
          </a:prstGeom>
          <a:solidFill>
            <a:srgbClr val="FDF2F2"/>
          </a:solidFill>
          <a:ln w="19050">
            <a:solidFill>
              <a:srgbClr val="C98A0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a:lstStyle/>
          <a:p>
            <a:pPr algn="l">
              <a:lnSpc>
                <a:spcPct val="125000"/>
              </a:lnSpc>
              <a:spcAft>
                <a:spcPts val="600"/>
              </a:spcAft>
            </a:pPr>
            <a:r>
              <a:rPr sz="1300" b="1" i="0">
                <a:solidFill>
                  <a:srgbClr val="C98A00"/>
                </a:solidFill>
                <a:latin typeface="Arial"/>
              </a:rPr>
              <a:t>Two things everybody gets wrong (and this notebook shows why)</a:t>
            </a:r>
          </a:p>
          <a:p>
            <a:pPr algn="l">
              <a:lnSpc>
                <a:spcPct val="130000"/>
              </a:lnSpc>
              <a:spcAft>
                <a:spcPts val="400"/>
              </a:spcAft>
            </a:pPr>
            <a:r>
              <a:rPr sz="1250" b="0" i="0">
                <a:solidFill>
                  <a:srgbClr val="1A1A1A"/>
                </a:solidFill>
                <a:latin typeface="Arial"/>
              </a:rPr>
              <a:t>1 · Entry and exit years are fractional — “2.5 years to market” means year 3 only earns half a year of revenue; treat years as whole numbers and every figure comes out too high.</a:t>
            </a:r>
          </a:p>
          <a:p>
            <a:pPr algn="l">
              <a:lnSpc>
                <a:spcPct val="130000"/>
              </a:lnSpc>
              <a:spcAft>
                <a:spcPts val="0"/>
              </a:spcAft>
            </a:pPr>
            <a:r>
              <a:rPr sz="1250" b="0" i="0">
                <a:solidFill>
                  <a:srgbClr val="1A1A1A"/>
                </a:solidFill>
                <a:latin typeface="Arial"/>
              </a:rPr>
              <a:t>2 · Investments happen once, not every year — the equipment cost lands only in the launch year. Spreading it across all ten years is the classic mistake, and it can flip a positive valuation into a negative one.</a:t>
            </a:r>
          </a:p>
        </p:txBody>
      </p:sp>
      <p:sp>
        <p:nvSpPr>
          <p:cNvPr id="12" name="TextBox 11"/>
          <p:cNvSpPr txBox="1"/>
          <p:nvPr/>
        </p:nvSpPr>
        <p:spPr>
          <a:xfrm>
            <a:off x="777240" y="6355080"/>
            <a:ext cx="10637215" cy="274320"/>
          </a:xfrm>
          <a:prstGeom prst="rect">
            <a:avLst/>
          </a:prstGeom>
          <a:noFill/>
        </p:spPr>
        <p:txBody>
          <a:bodyPr wrap="square" anchor="t" lIns="0" rIns="0" tIns="0" bIns="0">
            <a:spAutoFit/>
          </a:bodyPr>
          <a:lstStyle/>
          <a:p>
            <a:pPr algn="l">
              <a:lnSpc>
                <a:spcPct val="125000"/>
              </a:lnSpc>
              <a:spcAft>
                <a:spcPts val="0"/>
              </a:spcAft>
            </a:pPr>
            <a:r>
              <a:rPr sz="900" b="0" i="0">
                <a:solidFill>
                  <a:srgbClr val="94A3B8"/>
                </a:solidFill>
                <a:latin typeface="Arial"/>
              </a:rPr>
              <a:t>Hands off: a verified engine (ipscore_kit.py) — nothing else to hand off yet</a:t>
            </a:r>
          </a:p>
        </p:txBody>
      </p:sp>
      <p:sp>
        <p:nvSpPr>
          <p:cNvPr id="13" name="TextBox 12"/>
          <p:cNvSpPr txBox="1"/>
          <p:nvPr/>
        </p:nvSpPr>
        <p:spPr>
          <a:xfrm>
            <a:off x="8305495" y="6355080"/>
            <a:ext cx="3108960" cy="274320"/>
          </a:xfrm>
          <a:prstGeom prst="rect">
            <a:avLst/>
          </a:prstGeom>
          <a:noFill/>
        </p:spPr>
        <p:txBody>
          <a:bodyPr wrap="square" anchor="t" lIns="0" rIns="0" tIns="0" bIns="0">
            <a:spAutoFit/>
          </a:bodyPr>
          <a:lstStyle/>
          <a:p>
            <a:pPr algn="r">
              <a:lnSpc>
                <a:spcPct val="125000"/>
              </a:lnSpc>
              <a:spcAft>
                <a:spcPts val="0"/>
              </a:spcAft>
            </a:pPr>
            <a:r>
              <a:rPr sz="900" b="0" i="0">
                <a:solidFill>
                  <a:srgbClr val="94A3B8"/>
                </a:solidFill>
                <a:latin typeface="Arial"/>
              </a:rPr>
              <a:t>IPScore · Notebook Logic · 5 / 11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57200"/>
            <a:ext cx="10637215" cy="274320"/>
          </a:xfrm>
          <a:prstGeom prst="rect">
            <a:avLst/>
          </a:prstGeom>
          <a:noFill/>
        </p:spPr>
        <p:txBody>
          <a:bodyPr wrap="square" anchor="t" lIns="0" rIns="0" tIns="0" bIns="0">
            <a:spAutoFit/>
          </a:bodyPr>
          <a:lstStyle/>
          <a:p>
            <a:pPr algn="l">
              <a:lnSpc>
                <a:spcPct val="125000"/>
              </a:lnSpc>
              <a:spcAft>
                <a:spcPts val="0"/>
              </a:spcAft>
            </a:pPr>
            <a:r>
              <a:rPr sz="1100" b="1" i="0">
                <a:solidFill>
                  <a:srgbClr val="BE0F05"/>
                </a:solidFill>
                <a:latin typeface="Arial"/>
              </a:rPr>
              <a:t>NOTEBOOK 2</a:t>
            </a:r>
          </a:p>
        </p:txBody>
      </p:sp>
      <p:sp>
        <p:nvSpPr>
          <p:cNvPr id="3" name="TextBox 2"/>
          <p:cNvSpPr txBox="1"/>
          <p:nvPr/>
        </p:nvSpPr>
        <p:spPr>
          <a:xfrm>
            <a:off x="6476695" y="457200"/>
            <a:ext cx="4937760" cy="274320"/>
          </a:xfrm>
          <a:prstGeom prst="rect">
            <a:avLst/>
          </a:prstGeom>
          <a:noFill/>
        </p:spPr>
        <p:txBody>
          <a:bodyPr wrap="square" anchor="t" lIns="0" rIns="0" tIns="0" bIns="0">
            <a:spAutoFit/>
          </a:bodyPr>
          <a:lstStyle/>
          <a:p>
            <a:pPr algn="r">
              <a:lnSpc>
                <a:spcPct val="125000"/>
              </a:lnSpc>
              <a:spcAft>
                <a:spcPts val="0"/>
              </a:spcAft>
            </a:pPr>
            <a:r>
              <a:rPr sz="1100" b="0" i="0">
                <a:solidFill>
                  <a:srgbClr val="94A3B8"/>
                </a:solidFill>
                <a:latin typeface="Arial"/>
              </a:rPr>
              <a:t>2_evidence_from_patstat.ipynb — the only notebook that needs EPO TIP</a:t>
            </a:r>
          </a:p>
        </p:txBody>
      </p:sp>
      <p:sp>
        <p:nvSpPr>
          <p:cNvPr id="4" name="TextBox 3"/>
          <p:cNvSpPr txBox="1"/>
          <p:nvPr/>
        </p:nvSpPr>
        <p:spPr>
          <a:xfrm>
            <a:off x="777240" y="841248"/>
            <a:ext cx="10637215" cy="914400"/>
          </a:xfrm>
          <a:prstGeom prst="rect">
            <a:avLst/>
          </a:prstGeom>
          <a:noFill/>
        </p:spPr>
        <p:txBody>
          <a:bodyPr wrap="square" anchor="t" lIns="0" rIns="0" tIns="0" bIns="0">
            <a:spAutoFit/>
          </a:bodyPr>
          <a:lstStyle/>
          <a:p>
            <a:pPr algn="l">
              <a:lnSpc>
                <a:spcPct val="110000"/>
              </a:lnSpc>
              <a:spcAft>
                <a:spcPts val="0"/>
              </a:spcAft>
            </a:pPr>
            <a:r>
              <a:rPr sz="2400" b="1" i="0">
                <a:solidFill>
                  <a:srgbClr val="1A1A1A"/>
                </a:solidFill>
                <a:latin typeface="Arial"/>
              </a:rPr>
              <a:t>What can PATSTAT actually prove — and what does it change?</a:t>
            </a:r>
          </a:p>
        </p:txBody>
      </p:sp>
      <p:sp>
        <p:nvSpPr>
          <p:cNvPr id="5" name="Rounded Rectangle 4"/>
          <p:cNvSpPr/>
          <p:nvPr/>
        </p:nvSpPr>
        <p:spPr>
          <a:xfrm>
            <a:off x="777240" y="1691640"/>
            <a:ext cx="6035040" cy="2148840"/>
          </a:xfrm>
          <a:prstGeom prst="roundRect">
            <a:avLst>
              <a:gd name="adj" fmla="val 5000"/>
            </a:avLst>
          </a:prstGeom>
          <a:solidFill>
            <a:srgbClr val="F8FAFC"/>
          </a:solidFill>
          <a:ln w="1905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960120" y="1810512"/>
            <a:ext cx="5669280" cy="256032"/>
          </a:xfrm>
          <a:prstGeom prst="rect">
            <a:avLst/>
          </a:prstGeom>
          <a:noFill/>
        </p:spPr>
        <p:txBody>
          <a:bodyPr wrap="square" anchor="t" lIns="0" rIns="0" tIns="0" bIns="0">
            <a:spAutoFit/>
          </a:bodyPr>
          <a:lstStyle/>
          <a:p>
            <a:pPr algn="l">
              <a:lnSpc>
                <a:spcPct val="125000"/>
              </a:lnSpc>
              <a:spcAft>
                <a:spcPts val="0"/>
              </a:spcAft>
            </a:pPr>
            <a:r>
              <a:rPr sz="1300" b="1" i="0">
                <a:solidFill>
                  <a:srgbClr val="1F6FEB"/>
                </a:solidFill>
                <a:latin typeface="Arial"/>
              </a:rPr>
              <a:t>11 of 40 are checkable — five answers moved</a:t>
            </a:r>
          </a:p>
        </p:txBody>
      </p:sp>
      <p:sp>
        <p:nvSpPr>
          <p:cNvPr id="7" name="TextBox 6"/>
          <p:cNvSpPr txBox="1"/>
          <p:nvPr/>
        </p:nvSpPr>
        <p:spPr>
          <a:xfrm>
            <a:off x="960120" y="1810512"/>
            <a:ext cx="5669280" cy="256032"/>
          </a:xfrm>
          <a:prstGeom prst="rect">
            <a:avLst/>
          </a:prstGeom>
          <a:noFill/>
        </p:spPr>
        <p:txBody>
          <a:bodyPr wrap="square" anchor="t" lIns="0" rIns="0" tIns="0" bIns="0">
            <a:spAutoFit/>
          </a:bodyPr>
          <a:lstStyle/>
          <a:p>
            <a:pPr algn="r">
              <a:lnSpc>
                <a:spcPct val="125000"/>
              </a:lnSpc>
              <a:spcAft>
                <a:spcPts val="0"/>
              </a:spcAft>
            </a:pPr>
            <a:r>
              <a:rPr sz="900" b="1" i="0">
                <a:solidFill>
                  <a:srgbClr val="94A3B8"/>
                </a:solidFill>
                <a:latin typeface="Arial"/>
              </a:rPr>
              <a:t>2_evidence_from_patstat.ipynb</a:t>
            </a:r>
          </a:p>
        </p:txBody>
      </p:sp>
      <p:pic>
        <p:nvPicPr>
          <p:cNvPr id="8" name="Picture 7" descr="2_evidence_from_patstat_cell20_1.png"/>
          <p:cNvPicPr>
            <a:picLocks noChangeAspect="1"/>
          </p:cNvPicPr>
          <p:nvPr/>
        </p:nvPicPr>
        <p:blipFill>
          <a:blip r:embed="rId2"/>
          <a:stretch>
            <a:fillRect/>
          </a:stretch>
        </p:blipFill>
        <p:spPr>
          <a:xfrm>
            <a:off x="2687750" y="2130552"/>
            <a:ext cx="2214020" cy="1216152"/>
          </a:xfrm>
          <a:prstGeom prst="rect">
            <a:avLst/>
          </a:prstGeom>
        </p:spPr>
      </p:pic>
      <p:sp>
        <p:nvSpPr>
          <p:cNvPr id="9" name="TextBox 8"/>
          <p:cNvSpPr txBox="1"/>
          <p:nvPr/>
        </p:nvSpPr>
        <p:spPr>
          <a:xfrm>
            <a:off x="960120" y="3401568"/>
            <a:ext cx="5669280" cy="457200"/>
          </a:xfrm>
          <a:prstGeom prst="rect">
            <a:avLst/>
          </a:prstGeom>
          <a:noFill/>
        </p:spPr>
        <p:txBody>
          <a:bodyPr wrap="square" anchor="t" lIns="0" rIns="0" tIns="0" bIns="0">
            <a:spAutoFit/>
          </a:bodyPr>
          <a:lstStyle/>
          <a:p>
            <a:pPr algn="l">
              <a:lnSpc>
                <a:spcPct val="120000"/>
              </a:lnSpc>
              <a:spcAft>
                <a:spcPts val="0"/>
              </a:spcAft>
            </a:pPr>
            <a:r>
              <a:rPr sz="1050" b="0" i="1">
                <a:solidFill>
                  <a:srgbClr val="64748B"/>
                </a:solidFill>
                <a:latin typeface="Arial"/>
              </a:rPr>
              <a:t>Grey = the adviser's guess. Green = what the PATSTAT record says.</a:t>
            </a:r>
          </a:p>
        </p:txBody>
      </p:sp>
      <p:sp>
        <p:nvSpPr>
          <p:cNvPr id="10" name="Rounded Rectangle 9"/>
          <p:cNvSpPr/>
          <p:nvPr/>
        </p:nvSpPr>
        <p:spPr>
          <a:xfrm>
            <a:off x="7223760" y="1691640"/>
            <a:ext cx="4206240" cy="2148840"/>
          </a:xfrm>
          <a:prstGeom prst="roundRect">
            <a:avLst>
              <a:gd name="adj" fmla="val 6000"/>
            </a:avLst>
          </a:prstGeom>
          <a:solidFill>
            <a:srgbClr val="FDF2F2"/>
          </a:solidFill>
          <a:ln w="19050">
            <a:solidFill>
              <a:srgbClr val="BE0F05"/>
            </a:solid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237744"/>
          <a:lstStyle/>
          <a:p>
            <a:pPr algn="l">
              <a:lnSpc>
                <a:spcPct val="125000"/>
              </a:lnSpc>
              <a:spcAft>
                <a:spcPts val="800"/>
              </a:spcAft>
            </a:pPr>
            <a:r>
              <a:rPr sz="1600" b="1" i="0">
                <a:solidFill>
                  <a:srgbClr val="BE0F05"/>
                </a:solidFill>
                <a:latin typeface="Arial"/>
              </a:rPr>
              <a:t>0 of those 11 carry money</a:t>
            </a:r>
          </a:p>
          <a:p>
            <a:pPr algn="l">
              <a:lnSpc>
                <a:spcPct val="135000"/>
              </a:lnSpc>
              <a:spcAft>
                <a:spcPts val="0"/>
              </a:spcAft>
            </a:pPr>
            <a:r>
              <a:rPr sz="1200" b="0" i="0">
                <a:solidFill>
                  <a:srgbClr val="1A1A1A"/>
                </a:solidFill>
                <a:latin typeface="Arial"/>
              </a:rPr>
              <a:t>None of the eleven PATSTAT-reachable questions is one of the eight that feed the NPV. Whatever this notebook finds, the euro figure computed by notebook 1 does not move — not by a cent, in either direction.</a:t>
            </a:r>
          </a:p>
        </p:txBody>
      </p:sp>
      <p:sp>
        <p:nvSpPr>
          <p:cNvPr id="11" name="Rounded Rectangle 10"/>
          <p:cNvSpPr/>
          <p:nvPr/>
        </p:nvSpPr>
        <p:spPr>
          <a:xfrm>
            <a:off x="777240" y="4023360"/>
            <a:ext cx="10637215" cy="1965960"/>
          </a:xfrm>
          <a:prstGeom prst="roundRect">
            <a:avLst>
              <a:gd name="adj" fmla="val 6000"/>
            </a:avLst>
          </a:prstGeom>
          <a:solidFill>
            <a:srgbClr val="F8FAFC"/>
          </a:solidFill>
          <a:ln w="19050">
            <a:solidFill>
              <a:srgbClr val="BE0F05"/>
            </a:solidFill>
          </a:ln>
          <a:effectLst/>
        </p:spPr>
        <p:style>
          <a:lnRef idx="1">
            <a:schemeClr val="accent1"/>
          </a:lnRef>
          <a:fillRef idx="3">
            <a:schemeClr val="accent1"/>
          </a:fillRef>
          <a:effectRef idx="2">
            <a:schemeClr val="accent1"/>
          </a:effectRef>
          <a:fontRef idx="minor">
            <a:schemeClr val="lt1"/>
          </a:fontRef>
        </p:style>
        <p:txBody>
          <a:bodyPr rtlCol="0" anchor="ctr" wrap="square" lIns="292608" rIns="292608"/>
          <a:lstStyle/>
          <a:p>
            <a:pPr algn="l">
              <a:lnSpc>
                <a:spcPct val="125000"/>
              </a:lnSpc>
              <a:spcAft>
                <a:spcPts val="600"/>
              </a:spcAft>
            </a:pPr>
            <a:r>
              <a:rPr sz="1500" b="1" i="0">
                <a:solidFill>
                  <a:srgbClr val="BE0F05"/>
                </a:solidFill>
                <a:latin typeface="Arial"/>
              </a:rPr>
              <a:t>So what is notebook 2 actually for, if not the NPV?</a:t>
            </a:r>
          </a:p>
          <a:p>
            <a:pPr algn="l">
              <a:lnSpc>
                <a:spcPct val="135000"/>
              </a:lnSpc>
              <a:spcAft>
                <a:spcPts val="0"/>
              </a:spcAft>
            </a:pPr>
            <a:r>
              <a:rPr sz="1300" b="0" i="0">
                <a:solidFill>
                  <a:srgbClr val="1A1A1A"/>
                </a:solidFill>
                <a:latin typeface="Arial"/>
              </a:rPr>
              <a:t>It stops you being wrong about the record (a revoked or lapsed patent is worth nothing, whatever the market forecast says); it makes the valuation auditable — every “measured” answer carries a date and a legal-event code; and it hands over exactly one file, evidence_answers.json, which notebooks 3 and 4 pick up automatically in place of the adviser's first-pass guesses.</a:t>
            </a:r>
          </a:p>
        </p:txBody>
      </p:sp>
      <p:sp>
        <p:nvSpPr>
          <p:cNvPr id="12" name="TextBox 11"/>
          <p:cNvSpPr txBox="1"/>
          <p:nvPr/>
        </p:nvSpPr>
        <p:spPr>
          <a:xfrm>
            <a:off x="777240" y="6355080"/>
            <a:ext cx="10637215" cy="274320"/>
          </a:xfrm>
          <a:prstGeom prst="rect">
            <a:avLst/>
          </a:prstGeom>
          <a:noFill/>
        </p:spPr>
        <p:txBody>
          <a:bodyPr wrap="square" anchor="t" lIns="0" rIns="0" tIns="0" bIns="0">
            <a:spAutoFit/>
          </a:bodyPr>
          <a:lstStyle/>
          <a:p>
            <a:pPr algn="l">
              <a:lnSpc>
                <a:spcPct val="125000"/>
              </a:lnSpc>
              <a:spcAft>
                <a:spcPts val="0"/>
              </a:spcAft>
            </a:pPr>
            <a:r>
              <a:rPr sz="900" b="0" i="0">
                <a:solidFill>
                  <a:srgbClr val="94A3B8"/>
                </a:solidFill>
                <a:latin typeface="Arial"/>
              </a:rPr>
              <a:t>Hands off: evidence_answers.json (a better answer set, not a different number)</a:t>
            </a:r>
          </a:p>
        </p:txBody>
      </p:sp>
      <p:sp>
        <p:nvSpPr>
          <p:cNvPr id="13" name="TextBox 12"/>
          <p:cNvSpPr txBox="1"/>
          <p:nvPr/>
        </p:nvSpPr>
        <p:spPr>
          <a:xfrm>
            <a:off x="8305495" y="6355080"/>
            <a:ext cx="3108960" cy="274320"/>
          </a:xfrm>
          <a:prstGeom prst="rect">
            <a:avLst/>
          </a:prstGeom>
          <a:noFill/>
        </p:spPr>
        <p:txBody>
          <a:bodyPr wrap="square" anchor="t" lIns="0" rIns="0" tIns="0" bIns="0">
            <a:spAutoFit/>
          </a:bodyPr>
          <a:lstStyle/>
          <a:p>
            <a:pPr algn="r">
              <a:lnSpc>
                <a:spcPct val="125000"/>
              </a:lnSpc>
              <a:spcAft>
                <a:spcPts val="0"/>
              </a:spcAft>
            </a:pPr>
            <a:r>
              <a:rPr sz="900" b="0" i="0">
                <a:solidFill>
                  <a:srgbClr val="94A3B8"/>
                </a:solidFill>
                <a:latin typeface="Arial"/>
              </a:rPr>
              <a:t>IPScore · Notebook Logic · 6 / 11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57200"/>
            <a:ext cx="10637215" cy="274320"/>
          </a:xfrm>
          <a:prstGeom prst="rect">
            <a:avLst/>
          </a:prstGeom>
          <a:noFill/>
        </p:spPr>
        <p:txBody>
          <a:bodyPr wrap="square" anchor="t" lIns="0" rIns="0" tIns="0" bIns="0">
            <a:spAutoFit/>
          </a:bodyPr>
          <a:lstStyle/>
          <a:p>
            <a:pPr algn="l">
              <a:lnSpc>
                <a:spcPct val="125000"/>
              </a:lnSpc>
              <a:spcAft>
                <a:spcPts val="0"/>
              </a:spcAft>
            </a:pPr>
            <a:r>
              <a:rPr sz="1100" b="1" i="0">
                <a:solidFill>
                  <a:srgbClr val="BE0F05"/>
                </a:solidFill>
                <a:latin typeface="Arial"/>
              </a:rPr>
              <a:t>NOTEBOOK 3</a:t>
            </a:r>
          </a:p>
        </p:txBody>
      </p:sp>
      <p:sp>
        <p:nvSpPr>
          <p:cNvPr id="3" name="TextBox 2"/>
          <p:cNvSpPr txBox="1"/>
          <p:nvPr/>
        </p:nvSpPr>
        <p:spPr>
          <a:xfrm>
            <a:off x="6476695" y="457200"/>
            <a:ext cx="4937760" cy="274320"/>
          </a:xfrm>
          <a:prstGeom prst="rect">
            <a:avLst/>
          </a:prstGeom>
          <a:noFill/>
        </p:spPr>
        <p:txBody>
          <a:bodyPr wrap="square" anchor="t" lIns="0" rIns="0" tIns="0" bIns="0">
            <a:spAutoFit/>
          </a:bodyPr>
          <a:lstStyle/>
          <a:p>
            <a:pPr algn="r">
              <a:lnSpc>
                <a:spcPct val="125000"/>
              </a:lnSpc>
              <a:spcAft>
                <a:spcPts val="0"/>
              </a:spcAft>
            </a:pPr>
            <a:r>
              <a:rPr sz="1100" b="0" i="0">
                <a:solidFill>
                  <a:srgbClr val="94A3B8"/>
                </a:solidFill>
                <a:latin typeface="Arial"/>
              </a:rPr>
              <a:t>3_valuation_and_scenarios.ipynb — runs anywhere, no TIP needed</a:t>
            </a:r>
          </a:p>
        </p:txBody>
      </p:sp>
      <p:sp>
        <p:nvSpPr>
          <p:cNvPr id="4" name="TextBox 3"/>
          <p:cNvSpPr txBox="1"/>
          <p:nvPr/>
        </p:nvSpPr>
        <p:spPr>
          <a:xfrm>
            <a:off x="777240" y="841248"/>
            <a:ext cx="10637215" cy="914400"/>
          </a:xfrm>
          <a:prstGeom prst="rect">
            <a:avLst/>
          </a:prstGeom>
          <a:noFill/>
        </p:spPr>
        <p:txBody>
          <a:bodyPr wrap="square" anchor="t" lIns="0" rIns="0" tIns="0" bIns="0">
            <a:spAutoFit/>
          </a:bodyPr>
          <a:lstStyle/>
          <a:p>
            <a:pPr algn="l">
              <a:lnSpc>
                <a:spcPct val="110000"/>
              </a:lnSpc>
              <a:spcAft>
                <a:spcPts val="0"/>
              </a:spcAft>
            </a:pPr>
            <a:r>
              <a:rPr sz="2400" b="1" i="0">
                <a:solidFill>
                  <a:srgbClr val="1A1A1A"/>
                </a:solidFill>
                <a:latin typeface="Arial"/>
              </a:rPr>
              <a:t>Of the 8 answers that matter, which is worth arguing about?</a:t>
            </a:r>
          </a:p>
        </p:txBody>
      </p:sp>
      <p:sp>
        <p:nvSpPr>
          <p:cNvPr id="5" name="Rounded Rectangle 4"/>
          <p:cNvSpPr/>
          <p:nvPr/>
        </p:nvSpPr>
        <p:spPr>
          <a:xfrm>
            <a:off x="777240" y="1691640"/>
            <a:ext cx="5943600" cy="3566160"/>
          </a:xfrm>
          <a:prstGeom prst="roundRect">
            <a:avLst>
              <a:gd name="adj" fmla="val 5000"/>
            </a:avLst>
          </a:prstGeom>
          <a:solidFill>
            <a:srgbClr val="F8FAFC"/>
          </a:solidFill>
          <a:ln w="19050">
            <a:solidFill>
              <a:srgbClr val="2E854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960120" y="1810512"/>
            <a:ext cx="5577840" cy="256032"/>
          </a:xfrm>
          <a:prstGeom prst="rect">
            <a:avLst/>
          </a:prstGeom>
          <a:noFill/>
        </p:spPr>
        <p:txBody>
          <a:bodyPr wrap="square" anchor="t" lIns="0" rIns="0" tIns="0" bIns="0">
            <a:spAutoFit/>
          </a:bodyPr>
          <a:lstStyle/>
          <a:p>
            <a:pPr algn="l">
              <a:lnSpc>
                <a:spcPct val="125000"/>
              </a:lnSpc>
              <a:spcAft>
                <a:spcPts val="0"/>
              </a:spcAft>
            </a:pPr>
            <a:r>
              <a:rPr sz="1300" b="1" i="0">
                <a:solidFill>
                  <a:srgbClr val="2E8540"/>
                </a:solidFill>
                <a:latin typeface="Arial"/>
              </a:rPr>
              <a:t>The tornado, from notebook 3</a:t>
            </a:r>
          </a:p>
        </p:txBody>
      </p:sp>
      <p:sp>
        <p:nvSpPr>
          <p:cNvPr id="7" name="TextBox 6"/>
          <p:cNvSpPr txBox="1"/>
          <p:nvPr/>
        </p:nvSpPr>
        <p:spPr>
          <a:xfrm>
            <a:off x="960120" y="1810512"/>
            <a:ext cx="5577840" cy="256032"/>
          </a:xfrm>
          <a:prstGeom prst="rect">
            <a:avLst/>
          </a:prstGeom>
          <a:noFill/>
        </p:spPr>
        <p:txBody>
          <a:bodyPr wrap="square" anchor="t" lIns="0" rIns="0" tIns="0" bIns="0">
            <a:spAutoFit/>
          </a:bodyPr>
          <a:lstStyle/>
          <a:p>
            <a:pPr algn="r">
              <a:lnSpc>
                <a:spcPct val="125000"/>
              </a:lnSpc>
              <a:spcAft>
                <a:spcPts val="0"/>
              </a:spcAft>
            </a:pPr>
            <a:r>
              <a:rPr sz="900" b="1" i="0">
                <a:solidFill>
                  <a:srgbClr val="94A3B8"/>
                </a:solidFill>
                <a:latin typeface="Arial"/>
              </a:rPr>
              <a:t>3_valuation_and_scenarios.ipynb</a:t>
            </a:r>
          </a:p>
        </p:txBody>
      </p:sp>
      <p:pic>
        <p:nvPicPr>
          <p:cNvPr id="8" name="Picture 7" descr="3_valuation_and_scenarios_cell6_1.png"/>
          <p:cNvPicPr>
            <a:picLocks noChangeAspect="1"/>
          </p:cNvPicPr>
          <p:nvPr/>
        </p:nvPicPr>
        <p:blipFill>
          <a:blip r:embed="rId2"/>
          <a:stretch>
            <a:fillRect/>
          </a:stretch>
        </p:blipFill>
        <p:spPr>
          <a:xfrm>
            <a:off x="1759928" y="2130552"/>
            <a:ext cx="3978223" cy="2633472"/>
          </a:xfrm>
          <a:prstGeom prst="rect">
            <a:avLst/>
          </a:prstGeom>
        </p:spPr>
      </p:pic>
      <p:sp>
        <p:nvSpPr>
          <p:cNvPr id="9" name="TextBox 8"/>
          <p:cNvSpPr txBox="1"/>
          <p:nvPr/>
        </p:nvSpPr>
        <p:spPr>
          <a:xfrm>
            <a:off x="960120" y="4818888"/>
            <a:ext cx="5577840" cy="457200"/>
          </a:xfrm>
          <a:prstGeom prst="rect">
            <a:avLst/>
          </a:prstGeom>
          <a:noFill/>
        </p:spPr>
        <p:txBody>
          <a:bodyPr wrap="square" anchor="t" lIns="0" rIns="0" tIns="0" bIns="0">
            <a:spAutoFit/>
          </a:bodyPr>
          <a:lstStyle/>
          <a:p>
            <a:pPr algn="l">
              <a:lnSpc>
                <a:spcPct val="120000"/>
              </a:lnSpc>
              <a:spcAft>
                <a:spcPts val="0"/>
              </a:spcAft>
            </a:pPr>
            <a:r>
              <a:rPr sz="1050" b="0" i="1">
                <a:solidFill>
                  <a:srgbClr val="64748B"/>
                </a:solidFill>
                <a:latin typeface="Arial"/>
              </a:rPr>
              <a:t>Each bar: worst-answer NPV to best-answer NPV. Sorted widest first.</a:t>
            </a:r>
          </a:p>
        </p:txBody>
      </p:sp>
      <p:sp>
        <p:nvSpPr>
          <p:cNvPr id="10" name="Rounded Rectangle 9"/>
          <p:cNvSpPr/>
          <p:nvPr/>
        </p:nvSpPr>
        <p:spPr>
          <a:xfrm>
            <a:off x="6537960" y="1691640"/>
            <a:ext cx="329184" cy="329184"/>
          </a:xfrm>
          <a:prstGeom prst="roundRect">
            <a:avLst>
              <a:gd name="adj" fmla="val 20000"/>
            </a:avLst>
          </a:prstGeom>
          <a:solidFill>
            <a:srgbClr val="2E85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537960" y="1737360"/>
            <a:ext cx="329184" cy="256032"/>
          </a:xfrm>
          <a:prstGeom prst="rect">
            <a:avLst/>
          </a:prstGeom>
          <a:noFill/>
        </p:spPr>
        <p:txBody>
          <a:bodyPr wrap="square" anchor="ctr" lIns="0" rIns="0" tIns="0" bIns="0">
            <a:spAutoFit/>
          </a:bodyPr>
          <a:lstStyle/>
          <a:p>
            <a:pPr algn="ctr">
              <a:lnSpc>
                <a:spcPct val="125000"/>
              </a:lnSpc>
              <a:spcAft>
                <a:spcPts val="0"/>
              </a:spcAft>
            </a:pPr>
            <a:r>
              <a:rPr sz="1300" b="1" i="0">
                <a:solidFill>
                  <a:srgbClr val="FFFFFF"/>
                </a:solidFill>
                <a:latin typeface="Arial"/>
              </a:rPr>
              <a:t>1</a:t>
            </a:r>
          </a:p>
        </p:txBody>
      </p:sp>
      <p:sp>
        <p:nvSpPr>
          <p:cNvPr id="12" name="TextBox 11"/>
          <p:cNvSpPr txBox="1"/>
          <p:nvPr/>
        </p:nvSpPr>
        <p:spPr>
          <a:xfrm>
            <a:off x="6995160" y="1673352"/>
            <a:ext cx="4419295" cy="777240"/>
          </a:xfrm>
          <a:prstGeom prst="rect">
            <a:avLst/>
          </a:prstGeom>
          <a:noFill/>
        </p:spPr>
        <p:txBody>
          <a:bodyPr wrap="square" anchor="t" lIns="0" rIns="0" tIns="0" bIns="0">
            <a:spAutoFit/>
          </a:bodyPr>
          <a:lstStyle/>
          <a:p>
            <a:pPr algn="l">
              <a:lnSpc>
                <a:spcPct val="125000"/>
              </a:lnSpc>
              <a:spcAft>
                <a:spcPts val="100"/>
              </a:spcAft>
            </a:pPr>
            <a:r>
              <a:rPr sz="1250" b="1" i="0">
                <a:solidFill>
                  <a:srgbClr val="1A1A1A"/>
                </a:solidFill>
                <a:latin typeface="Arial"/>
              </a:rPr>
              <a:t>Vary one lever at a time</a:t>
            </a:r>
          </a:p>
          <a:p>
            <a:pPr algn="l">
              <a:lnSpc>
                <a:spcPct val="120000"/>
              </a:lnSpc>
              <a:spcAft>
                <a:spcPts val="0"/>
              </a:spcAft>
            </a:pPr>
            <a:r>
              <a:rPr sz="1050" b="0" i="0">
                <a:solidFill>
                  <a:srgbClr val="64748B"/>
                </a:solidFill>
                <a:latin typeface="Arial"/>
              </a:rPr>
              <a:t>Walk each of the 8 money-carrying questions from answer 1 to 5, everything else held still — 40 quick valuations in total.</a:t>
            </a:r>
          </a:p>
        </p:txBody>
      </p:sp>
      <p:sp>
        <p:nvSpPr>
          <p:cNvPr id="13" name="Rounded Rectangle 12"/>
          <p:cNvSpPr/>
          <p:nvPr/>
        </p:nvSpPr>
        <p:spPr>
          <a:xfrm>
            <a:off x="6537960" y="2542032"/>
            <a:ext cx="329184" cy="329184"/>
          </a:xfrm>
          <a:prstGeom prst="roundRect">
            <a:avLst>
              <a:gd name="adj" fmla="val 20000"/>
            </a:avLst>
          </a:prstGeom>
          <a:solidFill>
            <a:srgbClr val="2E85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537960" y="2587752"/>
            <a:ext cx="329184" cy="256032"/>
          </a:xfrm>
          <a:prstGeom prst="rect">
            <a:avLst/>
          </a:prstGeom>
          <a:noFill/>
        </p:spPr>
        <p:txBody>
          <a:bodyPr wrap="square" anchor="ctr" lIns="0" rIns="0" tIns="0" bIns="0">
            <a:spAutoFit/>
          </a:bodyPr>
          <a:lstStyle/>
          <a:p>
            <a:pPr algn="ctr">
              <a:lnSpc>
                <a:spcPct val="125000"/>
              </a:lnSpc>
              <a:spcAft>
                <a:spcPts val="0"/>
              </a:spcAft>
            </a:pPr>
            <a:r>
              <a:rPr sz="1300" b="1" i="0">
                <a:solidFill>
                  <a:srgbClr val="FFFFFF"/>
                </a:solidFill>
                <a:latin typeface="Arial"/>
              </a:rPr>
              <a:t>2</a:t>
            </a:r>
          </a:p>
        </p:txBody>
      </p:sp>
      <p:sp>
        <p:nvSpPr>
          <p:cNvPr id="15" name="TextBox 14"/>
          <p:cNvSpPr txBox="1"/>
          <p:nvPr/>
        </p:nvSpPr>
        <p:spPr>
          <a:xfrm>
            <a:off x="6995160" y="2523744"/>
            <a:ext cx="4419295" cy="777240"/>
          </a:xfrm>
          <a:prstGeom prst="rect">
            <a:avLst/>
          </a:prstGeom>
          <a:noFill/>
        </p:spPr>
        <p:txBody>
          <a:bodyPr wrap="square" anchor="t" lIns="0" rIns="0" tIns="0" bIns="0">
            <a:spAutoFit/>
          </a:bodyPr>
          <a:lstStyle/>
          <a:p>
            <a:pPr algn="l">
              <a:lnSpc>
                <a:spcPct val="125000"/>
              </a:lnSpc>
              <a:spcAft>
                <a:spcPts val="100"/>
              </a:spcAft>
            </a:pPr>
            <a:r>
              <a:rPr sz="1250" b="1" i="0">
                <a:solidFill>
                  <a:srgbClr val="1A1A1A"/>
                </a:solidFill>
                <a:latin typeface="Arial"/>
              </a:rPr>
              <a:t>Caveat, stated once</a:t>
            </a:r>
          </a:p>
          <a:p>
            <a:pPr algn="l">
              <a:lnSpc>
                <a:spcPct val="120000"/>
              </a:lnSpc>
              <a:spcAft>
                <a:spcPts val="0"/>
              </a:spcAft>
            </a:pPr>
            <a:r>
              <a:rPr sz="1050" b="0" i="0">
                <a:solidFill>
                  <a:srgbClr val="64748B"/>
                </a:solidFill>
                <a:latin typeface="Arial"/>
              </a:rPr>
              <a:t>This is one-at-a-time. Levers interact, so widths don't add up — they rank a lever, they don't decompose the NPV.</a:t>
            </a:r>
          </a:p>
        </p:txBody>
      </p:sp>
      <p:sp>
        <p:nvSpPr>
          <p:cNvPr id="16" name="Rounded Rectangle 15"/>
          <p:cNvSpPr/>
          <p:nvPr/>
        </p:nvSpPr>
        <p:spPr>
          <a:xfrm>
            <a:off x="6537960" y="3392424"/>
            <a:ext cx="329184" cy="329184"/>
          </a:xfrm>
          <a:prstGeom prst="roundRect">
            <a:avLst>
              <a:gd name="adj" fmla="val 20000"/>
            </a:avLst>
          </a:prstGeom>
          <a:solidFill>
            <a:srgbClr val="2E85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537960" y="3438144"/>
            <a:ext cx="329184" cy="256032"/>
          </a:xfrm>
          <a:prstGeom prst="rect">
            <a:avLst/>
          </a:prstGeom>
          <a:noFill/>
        </p:spPr>
        <p:txBody>
          <a:bodyPr wrap="square" anchor="ctr" lIns="0" rIns="0" tIns="0" bIns="0">
            <a:spAutoFit/>
          </a:bodyPr>
          <a:lstStyle/>
          <a:p>
            <a:pPr algn="ctr">
              <a:lnSpc>
                <a:spcPct val="125000"/>
              </a:lnSpc>
              <a:spcAft>
                <a:spcPts val="0"/>
              </a:spcAft>
            </a:pPr>
            <a:r>
              <a:rPr sz="1300" b="1" i="0">
                <a:solidFill>
                  <a:srgbClr val="FFFFFF"/>
                </a:solidFill>
                <a:latin typeface="Arial"/>
              </a:rPr>
              <a:t>3</a:t>
            </a:r>
          </a:p>
        </p:txBody>
      </p:sp>
      <p:sp>
        <p:nvSpPr>
          <p:cNvPr id="18" name="TextBox 17"/>
          <p:cNvSpPr txBox="1"/>
          <p:nvPr/>
        </p:nvSpPr>
        <p:spPr>
          <a:xfrm>
            <a:off x="6995160" y="3374136"/>
            <a:ext cx="4419295" cy="777240"/>
          </a:xfrm>
          <a:prstGeom prst="rect">
            <a:avLst/>
          </a:prstGeom>
          <a:noFill/>
        </p:spPr>
        <p:txBody>
          <a:bodyPr wrap="square" anchor="t" lIns="0" rIns="0" tIns="0" bIns="0">
            <a:spAutoFit/>
          </a:bodyPr>
          <a:lstStyle/>
          <a:p>
            <a:pPr algn="l">
              <a:lnSpc>
                <a:spcPct val="125000"/>
              </a:lnSpc>
              <a:spcAft>
                <a:spcPts val="100"/>
              </a:spcAft>
            </a:pPr>
            <a:r>
              <a:rPr sz="1250" b="1" i="0">
                <a:solidFill>
                  <a:srgbClr val="1A1A1A"/>
                </a:solidFill>
                <a:latin typeface="Arial"/>
              </a:rPr>
              <a:t>Width ≠ room</a:t>
            </a:r>
          </a:p>
          <a:p>
            <a:pPr algn="l">
              <a:lnSpc>
                <a:spcPct val="120000"/>
              </a:lnSpc>
              <a:spcAft>
                <a:spcPts val="0"/>
              </a:spcAft>
            </a:pPr>
            <a:r>
              <a:rPr sz="1050" b="0" i="0">
                <a:solidFill>
                  <a:srgbClr val="64748B"/>
                </a:solidFill>
                <a:latin typeface="Arial"/>
              </a:rPr>
              <a:t>A lever can be the widest bar and still offer nothing, if the current answer is already the best one on the scale.</a:t>
            </a:r>
          </a:p>
        </p:txBody>
      </p:sp>
      <p:sp>
        <p:nvSpPr>
          <p:cNvPr id="19" name="Rounded Rectangle 18"/>
          <p:cNvSpPr/>
          <p:nvPr/>
        </p:nvSpPr>
        <p:spPr>
          <a:xfrm>
            <a:off x="6537960" y="4242816"/>
            <a:ext cx="329184" cy="329184"/>
          </a:xfrm>
          <a:prstGeom prst="roundRect">
            <a:avLst>
              <a:gd name="adj" fmla="val 20000"/>
            </a:avLst>
          </a:prstGeom>
          <a:solidFill>
            <a:srgbClr val="2E85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537960" y="4288536"/>
            <a:ext cx="329184" cy="256032"/>
          </a:xfrm>
          <a:prstGeom prst="rect">
            <a:avLst/>
          </a:prstGeom>
          <a:noFill/>
        </p:spPr>
        <p:txBody>
          <a:bodyPr wrap="square" anchor="ctr" lIns="0" rIns="0" tIns="0" bIns="0">
            <a:spAutoFit/>
          </a:bodyPr>
          <a:lstStyle/>
          <a:p>
            <a:pPr algn="ctr">
              <a:lnSpc>
                <a:spcPct val="125000"/>
              </a:lnSpc>
              <a:spcAft>
                <a:spcPts val="0"/>
              </a:spcAft>
            </a:pPr>
            <a:r>
              <a:rPr sz="1300" b="1" i="0">
                <a:solidFill>
                  <a:srgbClr val="FFFFFF"/>
                </a:solidFill>
                <a:latin typeface="Arial"/>
              </a:rPr>
              <a:t>4</a:t>
            </a:r>
          </a:p>
        </p:txBody>
      </p:sp>
      <p:sp>
        <p:nvSpPr>
          <p:cNvPr id="21" name="TextBox 20"/>
          <p:cNvSpPr txBox="1"/>
          <p:nvPr/>
        </p:nvSpPr>
        <p:spPr>
          <a:xfrm>
            <a:off x="6995160" y="4224528"/>
            <a:ext cx="4419295" cy="777240"/>
          </a:xfrm>
          <a:prstGeom prst="rect">
            <a:avLst/>
          </a:prstGeom>
          <a:noFill/>
        </p:spPr>
        <p:txBody>
          <a:bodyPr wrap="square" anchor="t" lIns="0" rIns="0" tIns="0" bIns="0">
            <a:spAutoFit/>
          </a:bodyPr>
          <a:lstStyle/>
          <a:p>
            <a:pPr algn="l">
              <a:lnSpc>
                <a:spcPct val="125000"/>
              </a:lnSpc>
              <a:spcAft>
                <a:spcPts val="100"/>
              </a:spcAft>
            </a:pPr>
            <a:r>
              <a:rPr sz="1250" b="1" i="0">
                <a:solidFill>
                  <a:srgbClr val="1A1A1A"/>
                </a:solidFill>
                <a:latin typeface="Arial"/>
              </a:rPr>
              <a:t>The realistic version</a:t>
            </a:r>
          </a:p>
          <a:p>
            <a:pPr algn="l">
              <a:lnSpc>
                <a:spcPct val="120000"/>
              </a:lnSpc>
              <a:spcAft>
                <a:spcPts val="0"/>
              </a:spcAft>
            </a:pPr>
            <a:r>
              <a:rPr sz="1050" b="0" i="0">
                <a:solidFill>
                  <a:srgbClr val="64748B"/>
                </a:solidFill>
                <a:latin typeface="Arial"/>
              </a:rPr>
              <a:t>What is one step better (or worse) actually worth? That — not the full swing — is what to put in front of a client.</a:t>
            </a:r>
          </a:p>
        </p:txBody>
      </p:sp>
      <p:sp>
        <p:nvSpPr>
          <p:cNvPr id="22" name="Rounded Rectangle 21"/>
          <p:cNvSpPr/>
          <p:nvPr/>
        </p:nvSpPr>
        <p:spPr>
          <a:xfrm>
            <a:off x="777240" y="5440680"/>
            <a:ext cx="10637215" cy="777240"/>
          </a:xfrm>
          <a:prstGeom prst="roundRect">
            <a:avLst>
              <a:gd name="adj" fmla="val 5000"/>
            </a:avLst>
          </a:prstGeom>
          <a:solidFill>
            <a:srgbClr val="FDF2F2"/>
          </a:solidFill>
          <a:ln w="12700">
            <a:solidFill>
              <a:srgbClr val="BE0F05"/>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a:lstStyle/>
          <a:p>
            <a:pPr algn="l">
              <a:lnSpc>
                <a:spcPct val="130000"/>
              </a:lnSpc>
              <a:spcAft>
                <a:spcPts val="0"/>
              </a:spcAft>
            </a:pPr>
            <a:r>
              <a:rPr sz="1250" b="0" i="0">
                <a:solidFill>
                  <a:srgbClr val="1A1A1A"/>
                </a:solidFill>
                <a:latin typeface="Arial"/>
              </a:rPr>
              <a:t>Reinforces notebook 2's finding: the 32 questions with no money effect show up here as bars of exactly zero width — a second, independent way of seeing the same fact.</a:t>
            </a:r>
          </a:p>
        </p:txBody>
      </p:sp>
      <p:sp>
        <p:nvSpPr>
          <p:cNvPr id="23" name="TextBox 22"/>
          <p:cNvSpPr txBox="1"/>
          <p:nvPr/>
        </p:nvSpPr>
        <p:spPr>
          <a:xfrm>
            <a:off x="777240" y="6355080"/>
            <a:ext cx="10637215" cy="274320"/>
          </a:xfrm>
          <a:prstGeom prst="rect">
            <a:avLst/>
          </a:prstGeom>
          <a:noFill/>
        </p:spPr>
        <p:txBody>
          <a:bodyPr wrap="square" anchor="t" lIns="0" rIns="0" tIns="0" bIns="0">
            <a:spAutoFit/>
          </a:bodyPr>
          <a:lstStyle/>
          <a:p>
            <a:pPr algn="l">
              <a:lnSpc>
                <a:spcPct val="125000"/>
              </a:lnSpc>
              <a:spcAft>
                <a:spcPts val="0"/>
              </a:spcAft>
            </a:pPr>
            <a:r>
              <a:rPr sz="900" b="0" i="0">
                <a:solidFill>
                  <a:srgbClr val="94A3B8"/>
                </a:solidFill>
                <a:latin typeface="Arial"/>
              </a:rPr>
              <a:t>Hands off: one report section (order 700, “which lever moves it?”)</a:t>
            </a:r>
          </a:p>
        </p:txBody>
      </p:sp>
      <p:sp>
        <p:nvSpPr>
          <p:cNvPr id="24" name="TextBox 23"/>
          <p:cNvSpPr txBox="1"/>
          <p:nvPr/>
        </p:nvSpPr>
        <p:spPr>
          <a:xfrm>
            <a:off x="8305495" y="6355080"/>
            <a:ext cx="3108960" cy="274320"/>
          </a:xfrm>
          <a:prstGeom prst="rect">
            <a:avLst/>
          </a:prstGeom>
          <a:noFill/>
        </p:spPr>
        <p:txBody>
          <a:bodyPr wrap="square" anchor="t" lIns="0" rIns="0" tIns="0" bIns="0">
            <a:spAutoFit/>
          </a:bodyPr>
          <a:lstStyle/>
          <a:p>
            <a:pPr algn="r">
              <a:lnSpc>
                <a:spcPct val="125000"/>
              </a:lnSpc>
              <a:spcAft>
                <a:spcPts val="0"/>
              </a:spcAft>
            </a:pPr>
            <a:r>
              <a:rPr sz="900" b="0" i="0">
                <a:solidFill>
                  <a:srgbClr val="94A3B8"/>
                </a:solidFill>
                <a:latin typeface="Arial"/>
              </a:rPr>
              <a:t>IPScore · Notebook Logic · 7 / 11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57200"/>
            <a:ext cx="10637215" cy="274320"/>
          </a:xfrm>
          <a:prstGeom prst="rect">
            <a:avLst/>
          </a:prstGeom>
          <a:noFill/>
        </p:spPr>
        <p:txBody>
          <a:bodyPr wrap="square" anchor="t" lIns="0" rIns="0" tIns="0" bIns="0">
            <a:spAutoFit/>
          </a:bodyPr>
          <a:lstStyle/>
          <a:p>
            <a:pPr algn="l">
              <a:lnSpc>
                <a:spcPct val="125000"/>
              </a:lnSpc>
              <a:spcAft>
                <a:spcPts val="0"/>
              </a:spcAft>
            </a:pPr>
            <a:r>
              <a:rPr sz="1100" b="1" i="0">
                <a:solidFill>
                  <a:srgbClr val="BE0F05"/>
                </a:solidFill>
                <a:latin typeface="Arial"/>
              </a:rPr>
              <a:t>NOTEBOOK 4</a:t>
            </a:r>
          </a:p>
        </p:txBody>
      </p:sp>
      <p:sp>
        <p:nvSpPr>
          <p:cNvPr id="3" name="TextBox 2"/>
          <p:cNvSpPr txBox="1"/>
          <p:nvPr/>
        </p:nvSpPr>
        <p:spPr>
          <a:xfrm>
            <a:off x="6476695" y="457200"/>
            <a:ext cx="4937760" cy="274320"/>
          </a:xfrm>
          <a:prstGeom prst="rect">
            <a:avLst/>
          </a:prstGeom>
          <a:noFill/>
        </p:spPr>
        <p:txBody>
          <a:bodyPr wrap="square" anchor="t" lIns="0" rIns="0" tIns="0" bIns="0">
            <a:spAutoFit/>
          </a:bodyPr>
          <a:lstStyle/>
          <a:p>
            <a:pPr algn="r">
              <a:lnSpc>
                <a:spcPct val="125000"/>
              </a:lnSpc>
              <a:spcAft>
                <a:spcPts val="0"/>
              </a:spcAft>
            </a:pPr>
            <a:r>
              <a:rPr sz="1100" b="0" i="0">
                <a:solidFill>
                  <a:srgbClr val="94A3B8"/>
                </a:solidFill>
                <a:latin typeface="Arial"/>
              </a:rPr>
              <a:t>4_assemble_tool.ipynb — no TIP needed, assembles whatever exists</a:t>
            </a:r>
          </a:p>
        </p:txBody>
      </p:sp>
      <p:sp>
        <p:nvSpPr>
          <p:cNvPr id="4" name="TextBox 3"/>
          <p:cNvSpPr txBox="1"/>
          <p:nvPr/>
        </p:nvSpPr>
        <p:spPr>
          <a:xfrm>
            <a:off x="777240" y="841248"/>
            <a:ext cx="10637215" cy="914400"/>
          </a:xfrm>
          <a:prstGeom prst="rect">
            <a:avLst/>
          </a:prstGeom>
          <a:noFill/>
        </p:spPr>
        <p:txBody>
          <a:bodyPr wrap="square" anchor="t" lIns="0" rIns="0" tIns="0" bIns="0">
            <a:spAutoFit/>
          </a:bodyPr>
          <a:lstStyle/>
          <a:p>
            <a:pPr algn="l">
              <a:lnSpc>
                <a:spcPct val="110000"/>
              </a:lnSpc>
              <a:spcAft>
                <a:spcPts val="0"/>
              </a:spcAft>
            </a:pPr>
            <a:r>
              <a:rPr sz="2500" b="1" i="0">
                <a:solidFill>
                  <a:srgbClr val="1A1A1A"/>
                </a:solidFill>
                <a:latin typeface="Arial"/>
              </a:rPr>
              <a:t>Building the spine, then slotting in what arrived</a:t>
            </a:r>
          </a:p>
        </p:txBody>
      </p:sp>
      <p:sp>
        <p:nvSpPr>
          <p:cNvPr id="5" name="TextBox 4"/>
          <p:cNvSpPr txBox="1"/>
          <p:nvPr/>
        </p:nvSpPr>
        <p:spPr>
          <a:xfrm>
            <a:off x="777240" y="1645920"/>
            <a:ext cx="10637215" cy="548640"/>
          </a:xfrm>
          <a:prstGeom prst="rect">
            <a:avLst/>
          </a:prstGeom>
          <a:noFill/>
        </p:spPr>
        <p:txBody>
          <a:bodyPr wrap="square" anchor="t" lIns="0" rIns="0" tIns="0" bIns="0">
            <a:spAutoFit/>
          </a:bodyPr>
          <a:lstStyle/>
          <a:p>
            <a:pPr algn="l">
              <a:lnSpc>
                <a:spcPct val="135000"/>
              </a:lnSpc>
              <a:spcAft>
                <a:spcPts val="0"/>
              </a:spcAft>
            </a:pPr>
            <a:r>
              <a:rPr sz="1300" b="0" i="0">
                <a:solidFill>
                  <a:srgbClr val="1A1A1A"/>
                </a:solidFill>
                <a:latin typeface="Arial"/>
              </a:rPr>
              <a:t>Notebook 4 always builds seven fixed sections itself, in a fixed order — a valuation has to be read top to bottom, unlike module 6's landscape report, which could be stitched in any order.</a:t>
            </a:r>
          </a:p>
        </p:txBody>
      </p:sp>
      <p:sp>
        <p:nvSpPr>
          <p:cNvPr id="6" name="Rounded Rectangle 5"/>
          <p:cNvSpPr/>
          <p:nvPr/>
        </p:nvSpPr>
        <p:spPr>
          <a:xfrm>
            <a:off x="777240" y="2331720"/>
            <a:ext cx="4572000" cy="3337560"/>
          </a:xfrm>
          <a:prstGeom prst="roundRect">
            <a:avLst>
              <a:gd name="adj" fmla="val 5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219456" rIns="219456" tIns="164592"/>
          <a:lstStyle/>
          <a:p>
            <a:pPr algn="l">
              <a:lnSpc>
                <a:spcPct val="125000"/>
              </a:lnSpc>
              <a:spcAft>
                <a:spcPts val="600"/>
              </a:spcAft>
            </a:pPr>
            <a:r>
              <a:rPr sz="1250" b="1" i="0">
                <a:solidFill>
                  <a:srgbClr val="1A1A1A"/>
                </a:solidFill>
                <a:latin typeface="Arial"/>
              </a:rPr>
              <a:t>The spine — always present</a:t>
            </a:r>
          </a:p>
          <a:p>
            <a:pPr algn="l">
              <a:lnSpc>
                <a:spcPct val="120000"/>
              </a:lnSpc>
              <a:spcAft>
                <a:spcPts val="600"/>
              </a:spcAft>
            </a:pPr>
            <a:r>
              <a:rPr sz="1050" b="0" i="0">
                <a:solidFill>
                  <a:srgbClr val="1A1A1A"/>
                </a:solidFill>
                <a:latin typeface="Arial"/>
              </a:rPr>
              <a:t>1 · The verdict — NPV, score, provenance split</a:t>
            </a:r>
          </a:p>
          <a:p>
            <a:pPr algn="l">
              <a:lnSpc>
                <a:spcPct val="120000"/>
              </a:lnSpc>
              <a:spcAft>
                <a:spcPts val="600"/>
              </a:spcAft>
            </a:pPr>
            <a:r>
              <a:rPr sz="1050" b="0" i="0">
                <a:solidFill>
                  <a:srgbClr val="1A1A1A"/>
                </a:solidFill>
                <a:latin typeface="Arial"/>
              </a:rPr>
              <a:t>2 · The patent and the company</a:t>
            </a:r>
          </a:p>
          <a:p>
            <a:pPr algn="l">
              <a:lnSpc>
                <a:spcPct val="120000"/>
              </a:lnSpc>
              <a:spcAft>
                <a:spcPts val="600"/>
              </a:spcAft>
            </a:pPr>
            <a:r>
              <a:rPr sz="1050" b="0" i="0">
                <a:solidFill>
                  <a:srgbClr val="1A1A1A"/>
                </a:solidFill>
                <a:latin typeface="Arial"/>
              </a:rPr>
              <a:t>3 · The profile — strengths and weaknesses</a:t>
            </a:r>
          </a:p>
          <a:p>
            <a:pPr algn="l">
              <a:lnSpc>
                <a:spcPct val="120000"/>
              </a:lnSpc>
              <a:spcAft>
                <a:spcPts val="600"/>
              </a:spcAft>
            </a:pPr>
            <a:r>
              <a:rPr sz="1050" b="0" i="0">
                <a:solidFill>
                  <a:srgbClr val="1A1A1A"/>
                </a:solidFill>
                <a:latin typeface="Arial"/>
              </a:rPr>
              <a:t>4 · How much of this valuation can data reach?</a:t>
            </a:r>
          </a:p>
          <a:p>
            <a:pPr algn="l">
              <a:lnSpc>
                <a:spcPct val="120000"/>
              </a:lnSpc>
              <a:spcAft>
                <a:spcPts val="600"/>
              </a:spcAft>
            </a:pPr>
            <a:r>
              <a:rPr sz="1050" b="0" i="0">
                <a:solidFill>
                  <a:srgbClr val="1A1A1A"/>
                </a:solidFill>
                <a:latin typeface="Arial"/>
              </a:rPr>
              <a:t>5 · The eight answers that carry money</a:t>
            </a:r>
          </a:p>
          <a:p>
            <a:pPr algn="l">
              <a:lnSpc>
                <a:spcPct val="120000"/>
              </a:lnSpc>
              <a:spcAft>
                <a:spcPts val="600"/>
              </a:spcAft>
            </a:pPr>
            <a:r>
              <a:rPr sz="1050" b="0" i="0">
                <a:solidFill>
                  <a:srgbClr val="1A1A1A"/>
                </a:solidFill>
                <a:latin typeface="Arial"/>
              </a:rPr>
              <a:t>6 · The ten-year cash flow</a:t>
            </a:r>
          </a:p>
          <a:p>
            <a:pPr algn="l">
              <a:lnSpc>
                <a:spcPct val="120000"/>
              </a:lnSpc>
              <a:spcAft>
                <a:spcPts val="600"/>
              </a:spcAft>
            </a:pPr>
            <a:r>
              <a:rPr sz="1050" b="0" i="0">
                <a:solidFill>
                  <a:srgbClr val="1A1A1A"/>
                </a:solidFill>
                <a:latin typeface="Arial"/>
              </a:rPr>
              <a:t>7 (900) · All forty answers, with provenance</a:t>
            </a:r>
          </a:p>
        </p:txBody>
      </p:sp>
      <p:sp>
        <p:nvSpPr>
          <p:cNvPr id="7" name="Rounded Rectangle 6"/>
          <p:cNvSpPr/>
          <p:nvPr/>
        </p:nvSpPr>
        <p:spPr>
          <a:xfrm>
            <a:off x="5669280" y="2331720"/>
            <a:ext cx="2834640" cy="3337560"/>
          </a:xfrm>
          <a:prstGeom prst="roundRect">
            <a:avLst>
              <a:gd name="adj" fmla="val 5000"/>
            </a:avLst>
          </a:prstGeom>
          <a:solidFill>
            <a:srgbClr val="F8FAFC"/>
          </a:solidFill>
          <a:ln w="1905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5852160" y="2450592"/>
            <a:ext cx="2468880" cy="256032"/>
          </a:xfrm>
          <a:prstGeom prst="rect">
            <a:avLst/>
          </a:prstGeom>
          <a:noFill/>
        </p:spPr>
        <p:txBody>
          <a:bodyPr wrap="square" anchor="t" lIns="0" rIns="0" tIns="0" bIns="0">
            <a:spAutoFit/>
          </a:bodyPr>
          <a:lstStyle/>
          <a:p>
            <a:pPr algn="l">
              <a:lnSpc>
                <a:spcPct val="125000"/>
              </a:lnSpc>
              <a:spcAft>
                <a:spcPts val="0"/>
              </a:spcAft>
            </a:pPr>
            <a:r>
              <a:rPr sz="1150" b="1" i="0">
                <a:solidFill>
                  <a:srgbClr val="1F6FEB"/>
                </a:solidFill>
                <a:latin typeface="Arial"/>
              </a:rPr>
              <a:t>Section 3, for real</a:t>
            </a:r>
          </a:p>
        </p:txBody>
      </p:sp>
      <p:pic>
        <p:nvPicPr>
          <p:cNvPr id="9" name="Picture 8" descr="4_assemble_tool_cell7_1.png"/>
          <p:cNvPicPr>
            <a:picLocks noChangeAspect="1"/>
          </p:cNvPicPr>
          <p:nvPr/>
        </p:nvPicPr>
        <p:blipFill>
          <a:blip r:embed="rId2"/>
          <a:stretch>
            <a:fillRect/>
          </a:stretch>
        </p:blipFill>
        <p:spPr>
          <a:xfrm>
            <a:off x="5806440" y="2770632"/>
            <a:ext cx="2560320" cy="1586677"/>
          </a:xfrm>
          <a:prstGeom prst="rect">
            <a:avLst/>
          </a:prstGeom>
        </p:spPr>
      </p:pic>
      <p:sp>
        <p:nvSpPr>
          <p:cNvPr id="10" name="TextBox 9"/>
          <p:cNvSpPr txBox="1"/>
          <p:nvPr/>
        </p:nvSpPr>
        <p:spPr>
          <a:xfrm>
            <a:off x="5852160" y="4412173"/>
            <a:ext cx="2468880" cy="457200"/>
          </a:xfrm>
          <a:prstGeom prst="rect">
            <a:avLst/>
          </a:prstGeom>
          <a:noFill/>
        </p:spPr>
        <p:txBody>
          <a:bodyPr wrap="square" anchor="t" lIns="0" rIns="0" tIns="0" bIns="0">
            <a:spAutoFit/>
          </a:bodyPr>
          <a:lstStyle/>
          <a:p>
            <a:pPr algn="l">
              <a:lnSpc>
                <a:spcPct val="120000"/>
              </a:lnSpc>
              <a:spcAft>
                <a:spcPts val="0"/>
              </a:spcAft>
            </a:pPr>
            <a:r>
              <a:rPr sz="950" b="0" i="1">
                <a:solidFill>
                  <a:srgbClr val="64748B"/>
                </a:solidFill>
                <a:latin typeface="Arial"/>
              </a:rPr>
              <a:t>Every valuation gets one of these — this patent's shape.</a:t>
            </a:r>
          </a:p>
        </p:txBody>
      </p:sp>
      <p:sp>
        <p:nvSpPr>
          <p:cNvPr id="11" name="Rounded Rectangle 10"/>
          <p:cNvSpPr/>
          <p:nvPr/>
        </p:nvSpPr>
        <p:spPr>
          <a:xfrm>
            <a:off x="8686800" y="2331720"/>
            <a:ext cx="2724912" cy="3337560"/>
          </a:xfrm>
          <a:prstGeom prst="roundRect">
            <a:avLst>
              <a:gd name="adj" fmla="val 5000"/>
            </a:avLst>
          </a:prstGeom>
          <a:solidFill>
            <a:srgbClr val="FDF2F2"/>
          </a:solidFill>
          <a:ln w="19050">
            <a:solidFill>
              <a:srgbClr val="BE0F05"/>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l">
              <a:lnSpc>
                <a:spcPct val="125000"/>
              </a:lnSpc>
              <a:spcAft>
                <a:spcPts val="600"/>
              </a:spcAft>
            </a:pPr>
            <a:r>
              <a:rPr sz="1200" b="1" i="0">
                <a:solidFill>
                  <a:srgbClr val="BE0F05"/>
                </a:solidFill>
                <a:latin typeface="Arial"/>
              </a:rPr>
              <a:t>Slotted in, if present</a:t>
            </a:r>
          </a:p>
          <a:p>
            <a:pPr algn="l">
              <a:lnSpc>
                <a:spcPct val="125000"/>
              </a:lnSpc>
              <a:spcAft>
                <a:spcPts val="200"/>
              </a:spcAft>
            </a:pPr>
            <a:r>
              <a:rPr sz="1050" b="1" i="0">
                <a:solidFill>
                  <a:srgbClr val="1A1A1A"/>
                </a:solidFill>
                <a:latin typeface="Arial"/>
              </a:rPr>
              <a:t>From notebook 2:</a:t>
            </a:r>
          </a:p>
          <a:p>
            <a:pPr algn="l">
              <a:lnSpc>
                <a:spcPct val="125000"/>
              </a:lnSpc>
              <a:spcAft>
                <a:spcPts val="900"/>
              </a:spcAft>
            </a:pPr>
            <a:r>
              <a:rPr sz="950" b="0" i="0">
                <a:solidFill>
                  <a:srgbClr val="64748B"/>
                </a:solidFill>
                <a:latin typeface="Arial"/>
              </a:rPr>
              <a:t>a better answer set — changes sections 1, 4, 7. No new section of its own</a:t>
            </a:r>
          </a:p>
          <a:p>
            <a:pPr algn="l">
              <a:lnSpc>
                <a:spcPct val="125000"/>
              </a:lnSpc>
              <a:spcAft>
                <a:spcPts val="200"/>
              </a:spcAft>
            </a:pPr>
            <a:r>
              <a:rPr sz="1050" b="1" i="0">
                <a:solidFill>
                  <a:srgbClr val="1A1A1A"/>
                </a:solidFill>
                <a:latin typeface="Arial"/>
              </a:rPr>
              <a:t>From notebook 3:</a:t>
            </a:r>
          </a:p>
          <a:p>
            <a:pPr algn="l">
              <a:lnSpc>
                <a:spcPct val="125000"/>
              </a:lnSpc>
              <a:spcAft>
                <a:spcPts val="900"/>
              </a:spcAft>
            </a:pPr>
            <a:r>
              <a:rPr sz="950" b="0" i="0">
                <a:solidFill>
                  <a:srgbClr val="64748B"/>
                </a:solidFill>
                <a:latin typeface="Arial"/>
              </a:rPr>
              <a:t>one extra section (700) — the sensitivity ranking</a:t>
            </a:r>
          </a:p>
          <a:p>
            <a:pPr algn="l">
              <a:lnSpc>
                <a:spcPct val="130000"/>
              </a:lnSpc>
              <a:spcAft>
                <a:spcPts val="0"/>
              </a:spcAft>
            </a:pPr>
            <a:r>
              <a:rPr sz="950" b="0" i="0">
                <a:solidFill>
                  <a:srgbClr val="1A1A1A"/>
                </a:solidFill>
                <a:latin typeface="Arial"/>
              </a:rPr>
              <a:t>Missing either? Notebook 4 still runs, still complete, and says exactly what's missing (e.g. “0 measured”).</a:t>
            </a:r>
          </a:p>
        </p:txBody>
      </p:sp>
      <p:sp>
        <p:nvSpPr>
          <p:cNvPr id="12" name="TextBox 11"/>
          <p:cNvSpPr txBox="1"/>
          <p:nvPr/>
        </p:nvSpPr>
        <p:spPr>
          <a:xfrm>
            <a:off x="777240" y="6355080"/>
            <a:ext cx="10637215" cy="274320"/>
          </a:xfrm>
          <a:prstGeom prst="rect">
            <a:avLst/>
          </a:prstGeom>
          <a:noFill/>
        </p:spPr>
        <p:txBody>
          <a:bodyPr wrap="square" anchor="t" lIns="0" rIns="0" tIns="0" bIns="0">
            <a:spAutoFit/>
          </a:bodyPr>
          <a:lstStyle/>
          <a:p>
            <a:pPr algn="l">
              <a:lnSpc>
                <a:spcPct val="125000"/>
              </a:lnSpc>
              <a:spcAft>
                <a:spcPts val="0"/>
              </a:spcAft>
            </a:pPr>
            <a:r>
              <a:rPr sz="900" b="0" i="0">
                <a:solidFill>
                  <a:srgbClr val="94A3B8"/>
                </a:solidFill>
                <a:latin typeface="Arial"/>
              </a:rPr>
              <a:t>Output: ipscore_valuation.html (1 self-contained page) + ipscore_valuation_data.xlsx</a:t>
            </a:r>
          </a:p>
        </p:txBody>
      </p:sp>
      <p:sp>
        <p:nvSpPr>
          <p:cNvPr id="13" name="TextBox 12"/>
          <p:cNvSpPr txBox="1"/>
          <p:nvPr/>
        </p:nvSpPr>
        <p:spPr>
          <a:xfrm>
            <a:off x="8305495" y="6355080"/>
            <a:ext cx="3108960" cy="274320"/>
          </a:xfrm>
          <a:prstGeom prst="rect">
            <a:avLst/>
          </a:prstGeom>
          <a:noFill/>
        </p:spPr>
        <p:txBody>
          <a:bodyPr wrap="square" anchor="t" lIns="0" rIns="0" tIns="0" bIns="0">
            <a:spAutoFit/>
          </a:bodyPr>
          <a:lstStyle/>
          <a:p>
            <a:pPr algn="r">
              <a:lnSpc>
                <a:spcPct val="125000"/>
              </a:lnSpc>
              <a:spcAft>
                <a:spcPts val="0"/>
              </a:spcAft>
            </a:pPr>
            <a:r>
              <a:rPr sz="900" b="0" i="0">
                <a:solidFill>
                  <a:srgbClr val="94A3B8"/>
                </a:solidFill>
                <a:latin typeface="Arial"/>
              </a:rPr>
              <a:t>IPScore · Notebook Logic · 8 / 11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57200"/>
            <a:ext cx="10637215" cy="274320"/>
          </a:xfrm>
          <a:prstGeom prst="rect">
            <a:avLst/>
          </a:prstGeom>
          <a:noFill/>
        </p:spPr>
        <p:txBody>
          <a:bodyPr wrap="square" anchor="t" lIns="0" rIns="0" tIns="0" bIns="0">
            <a:spAutoFit/>
          </a:bodyPr>
          <a:lstStyle/>
          <a:p>
            <a:pPr algn="l">
              <a:lnSpc>
                <a:spcPct val="125000"/>
              </a:lnSpc>
              <a:spcAft>
                <a:spcPts val="0"/>
              </a:spcAft>
            </a:pPr>
            <a:r>
              <a:rPr sz="1100" b="1" i="0">
                <a:solidFill>
                  <a:srgbClr val="BE0F05"/>
                </a:solidFill>
                <a:latin typeface="Arial"/>
              </a:rPr>
              <a:t>PUTTING IT ALL TOGETHER</a:t>
            </a:r>
          </a:p>
        </p:txBody>
      </p:sp>
      <p:sp>
        <p:nvSpPr>
          <p:cNvPr id="3" name="TextBox 2"/>
          <p:cNvSpPr txBox="1"/>
          <p:nvPr/>
        </p:nvSpPr>
        <p:spPr>
          <a:xfrm>
            <a:off x="6476695" y="457200"/>
            <a:ext cx="4937760" cy="274320"/>
          </a:xfrm>
          <a:prstGeom prst="rect">
            <a:avLst/>
          </a:prstGeom>
          <a:noFill/>
        </p:spPr>
        <p:txBody>
          <a:bodyPr wrap="square" anchor="t" lIns="0" rIns="0" tIns="0" bIns="0">
            <a:spAutoFit/>
          </a:bodyPr>
          <a:lstStyle/>
          <a:p>
            <a:pPr algn="r">
              <a:lnSpc>
                <a:spcPct val="125000"/>
              </a:lnSpc>
              <a:spcAft>
                <a:spcPts val="0"/>
              </a:spcAft>
            </a:pPr>
            <a:r>
              <a:rPr sz="1100" b="0" i="0">
                <a:solidFill>
                  <a:srgbClr val="94A3B8"/>
                </a:solidFill>
                <a:latin typeface="Arial"/>
              </a:rPr>
              <a:t>How the files actually pass between notebooks</a:t>
            </a:r>
          </a:p>
        </p:txBody>
      </p:sp>
      <p:sp>
        <p:nvSpPr>
          <p:cNvPr id="4" name="TextBox 3"/>
          <p:cNvSpPr txBox="1"/>
          <p:nvPr/>
        </p:nvSpPr>
        <p:spPr>
          <a:xfrm>
            <a:off x="777240" y="841248"/>
            <a:ext cx="10637215" cy="914400"/>
          </a:xfrm>
          <a:prstGeom prst="rect">
            <a:avLst/>
          </a:prstGeom>
          <a:noFill/>
        </p:spPr>
        <p:txBody>
          <a:bodyPr wrap="square" anchor="t" lIns="0" rIns="0" tIns="0" bIns="0">
            <a:spAutoFit/>
          </a:bodyPr>
          <a:lstStyle/>
          <a:p>
            <a:pPr algn="l">
              <a:lnSpc>
                <a:spcPct val="110000"/>
              </a:lnSpc>
              <a:spcAft>
                <a:spcPts val="0"/>
              </a:spcAft>
            </a:pPr>
            <a:r>
              <a:rPr sz="2500" b="1" i="0">
                <a:solidFill>
                  <a:srgbClr val="1A1A1A"/>
                </a:solidFill>
                <a:latin typeface="Arial"/>
              </a:rPr>
              <a:t>Everything converges in notebook 4's platform</a:t>
            </a:r>
          </a:p>
        </p:txBody>
      </p:sp>
      <p:sp>
        <p:nvSpPr>
          <p:cNvPr id="5" name="Rounded Rectangle 4"/>
          <p:cNvSpPr/>
          <p:nvPr/>
        </p:nvSpPr>
        <p:spPr>
          <a:xfrm>
            <a:off x="777240" y="1600200"/>
            <a:ext cx="10637215" cy="685800"/>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a:lstStyle/>
          <a:p>
            <a:pPr algn="ctr">
              <a:lnSpc>
                <a:spcPct val="125000"/>
              </a:lnSpc>
              <a:spcAft>
                <a:spcPts val="0"/>
              </a:spcAft>
            </a:pPr>
            <a:r>
              <a:rPr sz="1300" b="1" i="0">
                <a:solidFill>
                  <a:srgbClr val="1A1A1A"/>
                </a:solidFill>
                <a:latin typeface="Arial"/>
              </a:rPr>
              <a:t>worked_example.json (the patent, 40 first-pass scores, 7 company figures)  +  ipscore_spec.json (the EPO's 40 questions &amp; 8 value tables)</a:t>
            </a:r>
          </a:p>
        </p:txBody>
      </p:sp>
      <p:sp>
        <p:nvSpPr>
          <p:cNvPr id="6" name="TextBox 5"/>
          <p:cNvSpPr txBox="1"/>
          <p:nvPr/>
        </p:nvSpPr>
        <p:spPr>
          <a:xfrm>
            <a:off x="777240" y="1344168"/>
            <a:ext cx="10637215" cy="228600"/>
          </a:xfrm>
          <a:prstGeom prst="rect">
            <a:avLst/>
          </a:prstGeom>
          <a:noFill/>
        </p:spPr>
        <p:txBody>
          <a:bodyPr wrap="square" anchor="t" lIns="0" rIns="0" tIns="0" bIns="0">
            <a:spAutoFit/>
          </a:bodyPr>
          <a:lstStyle/>
          <a:p>
            <a:pPr algn="ctr">
              <a:lnSpc>
                <a:spcPct val="125000"/>
              </a:lnSpc>
              <a:spcAft>
                <a:spcPts val="0"/>
              </a:spcAft>
            </a:pPr>
            <a:r>
              <a:rPr sz="1050" b="0" i="1">
                <a:solidFill>
                  <a:srgbClr val="64748B"/>
                </a:solidFill>
                <a:latin typeface="Arial"/>
              </a:rPr>
              <a:t>read by every notebook — one shared source of truth</a:t>
            </a:r>
          </a:p>
        </p:txBody>
      </p:sp>
      <p:sp>
        <p:nvSpPr>
          <p:cNvPr id="7" name="Down Arrow 6"/>
          <p:cNvSpPr/>
          <p:nvPr/>
        </p:nvSpPr>
        <p:spPr>
          <a:xfrm>
            <a:off x="5949543" y="2286000"/>
            <a:ext cx="292608" cy="274320"/>
          </a:xfrm>
          <a:prstGeom prst="downArrow">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23747" y="2697480"/>
            <a:ext cx="2377440" cy="1188720"/>
          </a:xfrm>
          <a:prstGeom prst="roundRect">
            <a:avLst>
              <a:gd name="adj" fmla="val 8000"/>
            </a:avLst>
          </a:prstGeom>
          <a:solidFill>
            <a:srgbClr val="FDF2F2"/>
          </a:solidFill>
          <a:ln w="19050">
            <a:solidFill>
              <a:srgbClr val="BE0F0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33475" y="2788920"/>
            <a:ext cx="2157984" cy="502920"/>
          </a:xfrm>
          <a:prstGeom prst="rect">
            <a:avLst/>
          </a:prstGeom>
          <a:noFill/>
        </p:spPr>
        <p:txBody>
          <a:bodyPr wrap="square" anchor="t" lIns="0" rIns="0" tIns="0" bIns="0">
            <a:spAutoFit/>
          </a:bodyPr>
          <a:lstStyle/>
          <a:p>
            <a:pPr algn="ctr">
              <a:lnSpc>
                <a:spcPct val="115000"/>
              </a:lnSpc>
              <a:spcAft>
                <a:spcPts val="0"/>
              </a:spcAft>
            </a:pPr>
            <a:r>
              <a:rPr sz="1150" b="1" i="0">
                <a:solidFill>
                  <a:srgbClr val="BE0F05"/>
                </a:solidFill>
                <a:latin typeface="Arial"/>
              </a:rPr>
              <a:t>1 · the_model</a:t>
            </a:r>
          </a:p>
        </p:txBody>
      </p:sp>
      <p:sp>
        <p:nvSpPr>
          <p:cNvPr id="10" name="TextBox 9"/>
          <p:cNvSpPr txBox="1"/>
          <p:nvPr/>
        </p:nvSpPr>
        <p:spPr>
          <a:xfrm>
            <a:off x="833475" y="3319272"/>
            <a:ext cx="2157984" cy="530352"/>
          </a:xfrm>
          <a:prstGeom prst="rect">
            <a:avLst/>
          </a:prstGeom>
          <a:noFill/>
        </p:spPr>
        <p:txBody>
          <a:bodyPr wrap="square" anchor="t" lIns="0" rIns="0" tIns="0" bIns="0">
            <a:spAutoFit/>
          </a:bodyPr>
          <a:lstStyle/>
          <a:p>
            <a:pPr algn="ctr">
              <a:lnSpc>
                <a:spcPct val="120000"/>
              </a:lnSpc>
              <a:spcAft>
                <a:spcPts val="0"/>
              </a:spcAft>
            </a:pPr>
            <a:r>
              <a:rPr sz="1000" b="0" i="0">
                <a:solidFill>
                  <a:srgbClr val="64748B"/>
                </a:solidFill>
                <a:latin typeface="Arial"/>
              </a:rPr>
              <a:t>builds &amp; verifies
ipscore_kit.py</a:t>
            </a:r>
          </a:p>
        </p:txBody>
      </p:sp>
      <p:sp>
        <p:nvSpPr>
          <p:cNvPr id="11" name="Right Arrow 10"/>
          <p:cNvSpPr/>
          <p:nvPr/>
        </p:nvSpPr>
        <p:spPr>
          <a:xfrm>
            <a:off x="3137763" y="3154680"/>
            <a:ext cx="338328" cy="274320"/>
          </a:xfrm>
          <a:prstGeom prst="rightArrow">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512667" y="2697480"/>
            <a:ext cx="2377440" cy="1188720"/>
          </a:xfrm>
          <a:prstGeom prst="roundRect">
            <a:avLst>
              <a:gd name="adj" fmla="val 8000"/>
            </a:avLst>
          </a:prstGeom>
          <a:solidFill>
            <a:srgbClr val="F8FAFC"/>
          </a:solidFill>
          <a:ln w="1905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3622395" y="2788920"/>
            <a:ext cx="2157984" cy="502920"/>
          </a:xfrm>
          <a:prstGeom prst="rect">
            <a:avLst/>
          </a:prstGeom>
          <a:noFill/>
        </p:spPr>
        <p:txBody>
          <a:bodyPr wrap="square" anchor="t" lIns="0" rIns="0" tIns="0" bIns="0">
            <a:spAutoFit/>
          </a:bodyPr>
          <a:lstStyle/>
          <a:p>
            <a:pPr algn="ctr">
              <a:lnSpc>
                <a:spcPct val="115000"/>
              </a:lnSpc>
              <a:spcAft>
                <a:spcPts val="0"/>
              </a:spcAft>
            </a:pPr>
            <a:r>
              <a:rPr sz="1150" b="1" i="0">
                <a:solidFill>
                  <a:srgbClr val="1F6FEB"/>
                </a:solidFill>
                <a:latin typeface="Arial"/>
              </a:rPr>
              <a:t>2 · evidence_from_patstat</a:t>
            </a:r>
          </a:p>
        </p:txBody>
      </p:sp>
      <p:sp>
        <p:nvSpPr>
          <p:cNvPr id="14" name="TextBox 13"/>
          <p:cNvSpPr txBox="1"/>
          <p:nvPr/>
        </p:nvSpPr>
        <p:spPr>
          <a:xfrm>
            <a:off x="3622395" y="3319272"/>
            <a:ext cx="2157984" cy="530352"/>
          </a:xfrm>
          <a:prstGeom prst="rect">
            <a:avLst/>
          </a:prstGeom>
          <a:noFill/>
        </p:spPr>
        <p:txBody>
          <a:bodyPr wrap="square" anchor="t" lIns="0" rIns="0" tIns="0" bIns="0">
            <a:spAutoFit/>
          </a:bodyPr>
          <a:lstStyle/>
          <a:p>
            <a:pPr algn="ctr">
              <a:lnSpc>
                <a:spcPct val="120000"/>
              </a:lnSpc>
              <a:spcAft>
                <a:spcPts val="0"/>
              </a:spcAft>
            </a:pPr>
            <a:r>
              <a:rPr sz="1000" b="0" i="0">
                <a:solidFill>
                  <a:srgbClr val="64748B"/>
                </a:solidFill>
                <a:latin typeface="Arial"/>
              </a:rPr>
              <a:t>writes
evidence_answers.json</a:t>
            </a:r>
          </a:p>
        </p:txBody>
      </p:sp>
      <p:sp>
        <p:nvSpPr>
          <p:cNvPr id="15" name="Right Arrow 14"/>
          <p:cNvSpPr/>
          <p:nvPr/>
        </p:nvSpPr>
        <p:spPr>
          <a:xfrm>
            <a:off x="5926683" y="3154680"/>
            <a:ext cx="338328" cy="274320"/>
          </a:xfrm>
          <a:prstGeom prst="rightArrow">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301587" y="2697480"/>
            <a:ext cx="2377440" cy="1188720"/>
          </a:xfrm>
          <a:prstGeom prst="roundRect">
            <a:avLst>
              <a:gd name="adj" fmla="val 8000"/>
            </a:avLst>
          </a:prstGeom>
          <a:solidFill>
            <a:srgbClr val="F8FAFC"/>
          </a:solidFill>
          <a:ln w="19050">
            <a:solidFill>
              <a:srgbClr val="2E854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411315" y="2788920"/>
            <a:ext cx="2157984" cy="502920"/>
          </a:xfrm>
          <a:prstGeom prst="rect">
            <a:avLst/>
          </a:prstGeom>
          <a:noFill/>
        </p:spPr>
        <p:txBody>
          <a:bodyPr wrap="square" anchor="t" lIns="0" rIns="0" tIns="0" bIns="0">
            <a:spAutoFit/>
          </a:bodyPr>
          <a:lstStyle/>
          <a:p>
            <a:pPr algn="ctr">
              <a:lnSpc>
                <a:spcPct val="115000"/>
              </a:lnSpc>
              <a:spcAft>
                <a:spcPts val="0"/>
              </a:spcAft>
            </a:pPr>
            <a:r>
              <a:rPr sz="1150" b="1" i="0">
                <a:solidFill>
                  <a:srgbClr val="2E8540"/>
                </a:solidFill>
                <a:latin typeface="Arial"/>
              </a:rPr>
              <a:t>3 · valuation_and_scenarios</a:t>
            </a:r>
          </a:p>
        </p:txBody>
      </p:sp>
      <p:sp>
        <p:nvSpPr>
          <p:cNvPr id="18" name="TextBox 17"/>
          <p:cNvSpPr txBox="1"/>
          <p:nvPr/>
        </p:nvSpPr>
        <p:spPr>
          <a:xfrm>
            <a:off x="6411315" y="3319272"/>
            <a:ext cx="2157984" cy="530352"/>
          </a:xfrm>
          <a:prstGeom prst="rect">
            <a:avLst/>
          </a:prstGeom>
          <a:noFill/>
        </p:spPr>
        <p:txBody>
          <a:bodyPr wrap="square" anchor="t" lIns="0" rIns="0" tIns="0" bIns="0">
            <a:spAutoFit/>
          </a:bodyPr>
          <a:lstStyle/>
          <a:p>
            <a:pPr algn="ctr">
              <a:lnSpc>
                <a:spcPct val="120000"/>
              </a:lnSpc>
              <a:spcAft>
                <a:spcPts val="0"/>
              </a:spcAft>
            </a:pPr>
            <a:r>
              <a:rPr sz="1000" b="0" i="0">
                <a:solidFill>
                  <a:srgbClr val="64748B"/>
                </a:solidFill>
                <a:latin typeface="Arial"/>
              </a:rPr>
              <a:t>writes a report
section (order 700)</a:t>
            </a:r>
          </a:p>
        </p:txBody>
      </p:sp>
      <p:sp>
        <p:nvSpPr>
          <p:cNvPr id="19" name="Right Arrow 18"/>
          <p:cNvSpPr/>
          <p:nvPr/>
        </p:nvSpPr>
        <p:spPr>
          <a:xfrm>
            <a:off x="8715603" y="3154680"/>
            <a:ext cx="338328" cy="274320"/>
          </a:xfrm>
          <a:prstGeom prst="rightArrow">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090507" y="2697480"/>
            <a:ext cx="2377440" cy="1188720"/>
          </a:xfrm>
          <a:prstGeom prst="roundRect">
            <a:avLst>
              <a:gd name="adj" fmla="val 8000"/>
            </a:avLst>
          </a:prstGeom>
          <a:solidFill>
            <a:srgbClr val="FDF2F2"/>
          </a:solidFill>
          <a:ln w="19050">
            <a:solidFill>
              <a:srgbClr val="BE0F0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9200235" y="2788920"/>
            <a:ext cx="2157984" cy="502920"/>
          </a:xfrm>
          <a:prstGeom prst="rect">
            <a:avLst/>
          </a:prstGeom>
          <a:noFill/>
        </p:spPr>
        <p:txBody>
          <a:bodyPr wrap="square" anchor="t" lIns="0" rIns="0" tIns="0" bIns="0">
            <a:spAutoFit/>
          </a:bodyPr>
          <a:lstStyle/>
          <a:p>
            <a:pPr algn="ctr">
              <a:lnSpc>
                <a:spcPct val="115000"/>
              </a:lnSpc>
              <a:spcAft>
                <a:spcPts val="0"/>
              </a:spcAft>
            </a:pPr>
            <a:r>
              <a:rPr sz="1150" b="1" i="0">
                <a:solidFill>
                  <a:srgbClr val="BE0F05"/>
                </a:solidFill>
                <a:latin typeface="Arial"/>
              </a:rPr>
              <a:t>4 · assemble_tool</a:t>
            </a:r>
          </a:p>
        </p:txBody>
      </p:sp>
      <p:sp>
        <p:nvSpPr>
          <p:cNvPr id="22" name="TextBox 21"/>
          <p:cNvSpPr txBox="1"/>
          <p:nvPr/>
        </p:nvSpPr>
        <p:spPr>
          <a:xfrm>
            <a:off x="9200235" y="3319272"/>
            <a:ext cx="2157984" cy="530352"/>
          </a:xfrm>
          <a:prstGeom prst="rect">
            <a:avLst/>
          </a:prstGeom>
          <a:noFill/>
        </p:spPr>
        <p:txBody>
          <a:bodyPr wrap="square" anchor="t" lIns="0" rIns="0" tIns="0" bIns="0">
            <a:spAutoFit/>
          </a:bodyPr>
          <a:lstStyle/>
          <a:p>
            <a:pPr algn="ctr">
              <a:lnSpc>
                <a:spcPct val="120000"/>
              </a:lnSpc>
              <a:spcAft>
                <a:spcPts val="0"/>
              </a:spcAft>
            </a:pPr>
            <a:r>
              <a:rPr sz="1000" b="0" i="0">
                <a:solidFill>
                  <a:srgbClr val="64748B"/>
                </a:solidFill>
                <a:latin typeface="Arial"/>
              </a:rPr>
              <a:t>reads everything
above</a:t>
            </a:r>
          </a:p>
        </p:txBody>
      </p:sp>
      <p:sp>
        <p:nvSpPr>
          <p:cNvPr id="23" name="Down Arrow 22"/>
          <p:cNvSpPr/>
          <p:nvPr/>
        </p:nvSpPr>
        <p:spPr>
          <a:xfrm>
            <a:off x="5949543" y="3886200"/>
            <a:ext cx="292608" cy="274320"/>
          </a:xfrm>
          <a:prstGeom prst="downArrow">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77240" y="4572000"/>
            <a:ext cx="10637215" cy="1051560"/>
          </a:xfrm>
          <a:prstGeom prst="roundRect">
            <a:avLst>
              <a:gd name="adj" fmla="val 6000"/>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a:lstStyle/>
          <a:p>
            <a:pPr algn="ctr">
              <a:lnSpc>
                <a:spcPct val="125000"/>
              </a:lnSpc>
              <a:spcAft>
                <a:spcPts val="200"/>
              </a:spcAft>
            </a:pPr>
            <a:r>
              <a:rPr sz="1600" b="1" i="0">
                <a:solidFill>
                  <a:srgbClr val="FFFFFF"/>
                </a:solidFill>
                <a:latin typeface="Arial"/>
              </a:rPr>
              <a:t>4_tool/ipscore_valuation.html  +  4_tool/ipscore_valuation_data.xlsx</a:t>
            </a:r>
          </a:p>
          <a:p>
            <a:pPr algn="ctr">
              <a:lnSpc>
                <a:spcPct val="125000"/>
              </a:lnSpc>
              <a:spcAft>
                <a:spcPts val="0"/>
              </a:spcAft>
            </a:pPr>
            <a:r>
              <a:rPr sz="1150" b="0" i="0">
                <a:solidFill>
                  <a:srgbClr val="FFFFFF"/>
                </a:solidFill>
                <a:latin typeface="Arial"/>
              </a:rPr>
              <a:t>one self-contained report, one auditable workbook — opened inside TIP with open_html()</a:t>
            </a:r>
          </a:p>
        </p:txBody>
      </p:sp>
      <p:sp>
        <p:nvSpPr>
          <p:cNvPr id="25" name="TextBox 24"/>
          <p:cNvSpPr txBox="1"/>
          <p:nvPr/>
        </p:nvSpPr>
        <p:spPr>
          <a:xfrm>
            <a:off x="777240" y="5760720"/>
            <a:ext cx="10637215" cy="502920"/>
          </a:xfrm>
          <a:prstGeom prst="rect">
            <a:avLst/>
          </a:prstGeom>
          <a:noFill/>
        </p:spPr>
        <p:txBody>
          <a:bodyPr wrap="square" anchor="t" lIns="0" rIns="0" tIns="0" bIns="0">
            <a:spAutoFit/>
          </a:bodyPr>
          <a:lstStyle/>
          <a:p>
            <a:pPr algn="l">
              <a:lnSpc>
                <a:spcPct val="125000"/>
              </a:lnSpc>
              <a:spcAft>
                <a:spcPts val="0"/>
              </a:spcAft>
            </a:pPr>
            <a:r>
              <a:rPr sz="1150" b="0" i="1">
                <a:solidFill>
                  <a:srgbClr val="64748B"/>
                </a:solidFill>
                <a:latin typeface="Arial"/>
              </a:rPr>
              <a:t>Note the one-way arrows: nothing flows backward. Notebook 3 never touches notebook 2's file; notebook 4 never edits either — it only reads.</a:t>
            </a:r>
          </a:p>
        </p:txBody>
      </p:sp>
      <p:sp>
        <p:nvSpPr>
          <p:cNvPr id="26" name="TextBox 25"/>
          <p:cNvSpPr txBox="1"/>
          <p:nvPr/>
        </p:nvSpPr>
        <p:spPr>
          <a:xfrm>
            <a:off x="777240" y="6355080"/>
            <a:ext cx="10637215" cy="274320"/>
          </a:xfrm>
          <a:prstGeom prst="rect">
            <a:avLst/>
          </a:prstGeom>
          <a:noFill/>
        </p:spPr>
        <p:txBody>
          <a:bodyPr wrap="square" anchor="t" lIns="0" rIns="0" tIns="0" bIns="0">
            <a:spAutoFit/>
          </a:bodyPr>
          <a:lstStyle/>
          <a:p>
            <a:pPr algn="l">
              <a:lnSpc>
                <a:spcPct val="125000"/>
              </a:lnSpc>
              <a:spcAft>
                <a:spcPts val="0"/>
              </a:spcAft>
            </a:pPr>
            <a:r>
              <a:rPr sz="900" b="0" i="0">
                <a:solidFill>
                  <a:srgbClr val="94A3B8"/>
                </a:solidFill>
                <a:latin typeface="Arial"/>
              </a:rPr>
              <a:t/>
            </a:r>
          </a:p>
        </p:txBody>
      </p:sp>
      <p:sp>
        <p:nvSpPr>
          <p:cNvPr id="27" name="TextBox 26"/>
          <p:cNvSpPr txBox="1"/>
          <p:nvPr/>
        </p:nvSpPr>
        <p:spPr>
          <a:xfrm>
            <a:off x="8305495" y="6355080"/>
            <a:ext cx="3108960" cy="274320"/>
          </a:xfrm>
          <a:prstGeom prst="rect">
            <a:avLst/>
          </a:prstGeom>
          <a:noFill/>
        </p:spPr>
        <p:txBody>
          <a:bodyPr wrap="square" anchor="t" lIns="0" rIns="0" tIns="0" bIns="0">
            <a:spAutoFit/>
          </a:bodyPr>
          <a:lstStyle/>
          <a:p>
            <a:pPr algn="r">
              <a:lnSpc>
                <a:spcPct val="125000"/>
              </a:lnSpc>
              <a:spcAft>
                <a:spcPts val="0"/>
              </a:spcAft>
            </a:pPr>
            <a:r>
              <a:rPr sz="900" b="0" i="0">
                <a:solidFill>
                  <a:srgbClr val="94A3B8"/>
                </a:solidFill>
                <a:latin typeface="Arial"/>
              </a:rPr>
              <a:t>IPScore · Notebook Logic · 9 / 11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57200"/>
            <a:ext cx="10637215" cy="274320"/>
          </a:xfrm>
          <a:prstGeom prst="rect">
            <a:avLst/>
          </a:prstGeom>
          <a:noFill/>
        </p:spPr>
        <p:txBody>
          <a:bodyPr wrap="square" anchor="t" lIns="0" rIns="0" tIns="0" bIns="0">
            <a:spAutoFit/>
          </a:bodyPr>
          <a:lstStyle/>
          <a:p>
            <a:pPr algn="l">
              <a:lnSpc>
                <a:spcPct val="125000"/>
              </a:lnSpc>
              <a:spcAft>
                <a:spcPts val="0"/>
              </a:spcAft>
            </a:pPr>
            <a:r>
              <a:rPr sz="1100" b="1" i="0">
                <a:solidFill>
                  <a:srgbClr val="BE0F05"/>
                </a:solidFill>
                <a:latin typeface="Arial"/>
              </a:rPr>
              <a:t>WRAP-UP</a:t>
            </a:r>
          </a:p>
        </p:txBody>
      </p:sp>
      <p:sp>
        <p:nvSpPr>
          <p:cNvPr id="3" name="TextBox 2"/>
          <p:cNvSpPr txBox="1"/>
          <p:nvPr/>
        </p:nvSpPr>
        <p:spPr>
          <a:xfrm>
            <a:off x="6476695" y="457200"/>
            <a:ext cx="4937760" cy="274320"/>
          </a:xfrm>
          <a:prstGeom prst="rect">
            <a:avLst/>
          </a:prstGeom>
          <a:noFill/>
        </p:spPr>
        <p:txBody>
          <a:bodyPr wrap="square" anchor="t" lIns="0" rIns="0" tIns="0" bIns="0">
            <a:spAutoFit/>
          </a:bodyPr>
          <a:lstStyle/>
          <a:p>
            <a:pPr algn="r">
              <a:lnSpc>
                <a:spcPct val="125000"/>
              </a:lnSpc>
              <a:spcAft>
                <a:spcPts val="0"/>
              </a:spcAft>
            </a:pPr>
            <a:r>
              <a:rPr sz="1100" b="0" i="0">
                <a:solidFill>
                  <a:srgbClr val="94A3B8"/>
                </a:solidFill>
                <a:latin typeface="Arial"/>
              </a:rPr>
              <a:t>The three sentences worth keeping</a:t>
            </a:r>
          </a:p>
        </p:txBody>
      </p:sp>
      <p:sp>
        <p:nvSpPr>
          <p:cNvPr id="4" name="TextBox 3"/>
          <p:cNvSpPr txBox="1"/>
          <p:nvPr/>
        </p:nvSpPr>
        <p:spPr>
          <a:xfrm>
            <a:off x="777240" y="841248"/>
            <a:ext cx="10637215" cy="914400"/>
          </a:xfrm>
          <a:prstGeom prst="rect">
            <a:avLst/>
          </a:prstGeom>
          <a:noFill/>
        </p:spPr>
        <p:txBody>
          <a:bodyPr wrap="square" anchor="t" lIns="0" rIns="0" tIns="0" bIns="0">
            <a:spAutoFit/>
          </a:bodyPr>
          <a:lstStyle/>
          <a:p>
            <a:pPr algn="l">
              <a:lnSpc>
                <a:spcPct val="110000"/>
              </a:lnSpc>
              <a:spcAft>
                <a:spcPts val="0"/>
              </a:spcAft>
            </a:pPr>
            <a:r>
              <a:rPr sz="2700" b="1" i="0">
                <a:solidFill>
                  <a:srgbClr val="1A1A1A"/>
                </a:solidFill>
                <a:latin typeface="Arial"/>
              </a:rPr>
              <a:t>What this module is really demonstrating</a:t>
            </a:r>
          </a:p>
        </p:txBody>
      </p:sp>
      <p:sp>
        <p:nvSpPr>
          <p:cNvPr id="5" name="Rounded Rectangle 4"/>
          <p:cNvSpPr/>
          <p:nvPr/>
        </p:nvSpPr>
        <p:spPr>
          <a:xfrm>
            <a:off x="777240" y="1783080"/>
            <a:ext cx="10637215" cy="1234440"/>
          </a:xfrm>
          <a:prstGeom prst="roundRect">
            <a:avLst>
              <a:gd name="adj" fmla="val 5000"/>
            </a:avLst>
          </a:prstGeom>
          <a:solidFill>
            <a:srgbClr val="F8FAFC"/>
          </a:solidFill>
          <a:ln w="19050">
            <a:solidFill>
              <a:srgbClr val="BE0F05"/>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a:lstStyle/>
          <a:p>
            <a:pPr algn="l">
              <a:lnSpc>
                <a:spcPct val="125000"/>
              </a:lnSpc>
              <a:spcAft>
                <a:spcPts val="400"/>
              </a:spcAft>
            </a:pPr>
            <a:r>
              <a:rPr sz="1500" b="1" i="0">
                <a:solidFill>
                  <a:srgbClr val="BE0F05"/>
                </a:solidFill>
                <a:latin typeface="Arial"/>
              </a:rPr>
              <a:t>Only 8 of 40 answers ever move the NPV.</a:t>
            </a:r>
          </a:p>
          <a:p>
            <a:pPr algn="l">
              <a:lnSpc>
                <a:spcPct val="130000"/>
              </a:lnSpc>
              <a:spcAft>
                <a:spcPts val="0"/>
              </a:spcAft>
            </a:pPr>
            <a:r>
              <a:rPr sz="1200" b="0" i="0">
                <a:solidFill>
                  <a:srgbClr val="1A1A1A"/>
                </a:solidFill>
                <a:latin typeface="Arial"/>
              </a:rPr>
              <a:t>The other 32 shape the profile, the risk map, the conversation — and change the euro figure by exactly nothing. Notebooks 1 and 3 both show this, from two angles.</a:t>
            </a:r>
          </a:p>
        </p:txBody>
      </p:sp>
      <p:sp>
        <p:nvSpPr>
          <p:cNvPr id="6" name="Rounded Rectangle 5"/>
          <p:cNvSpPr/>
          <p:nvPr/>
        </p:nvSpPr>
        <p:spPr>
          <a:xfrm>
            <a:off x="777240" y="3154680"/>
            <a:ext cx="10637215" cy="1234440"/>
          </a:xfrm>
          <a:prstGeom prst="roundRect">
            <a:avLst>
              <a:gd name="adj" fmla="val 5000"/>
            </a:avLst>
          </a:prstGeom>
          <a:solidFill>
            <a:srgbClr val="F8FAFC"/>
          </a:solidFill>
          <a:ln w="1905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a:lstStyle/>
          <a:p>
            <a:pPr algn="l">
              <a:lnSpc>
                <a:spcPct val="125000"/>
              </a:lnSpc>
              <a:spcAft>
                <a:spcPts val="400"/>
              </a:spcAft>
            </a:pPr>
            <a:r>
              <a:rPr sz="1500" b="1" i="0">
                <a:solidFill>
                  <a:srgbClr val="1F6FEB"/>
                </a:solidFill>
                <a:latin typeface="Arial"/>
              </a:rPr>
              <a:t>The 11 questions PATSTAT can check are none of the 8 that carry money.</a:t>
            </a:r>
          </a:p>
          <a:p>
            <a:pPr algn="l">
              <a:lnSpc>
                <a:spcPct val="130000"/>
              </a:lnSpc>
              <a:spcAft>
                <a:spcPts val="0"/>
              </a:spcAft>
            </a:pPr>
            <a:r>
              <a:rPr sz="1200" b="0" i="0">
                <a:solidFill>
                  <a:srgbClr val="1A1A1A"/>
                </a:solidFill>
                <a:latin typeface="Arial"/>
              </a:rPr>
              <a:t>Notebook 2's evidence layer sharpens the picture of the patent — legal status, real geographic reach, applicant footprint — without moving the valuation by a cent.</a:t>
            </a:r>
          </a:p>
        </p:txBody>
      </p:sp>
      <p:sp>
        <p:nvSpPr>
          <p:cNvPr id="7" name="Rounded Rectangle 6"/>
          <p:cNvSpPr/>
          <p:nvPr/>
        </p:nvSpPr>
        <p:spPr>
          <a:xfrm>
            <a:off x="777240" y="4526280"/>
            <a:ext cx="10637215" cy="1234440"/>
          </a:xfrm>
          <a:prstGeom prst="roundRect">
            <a:avLst>
              <a:gd name="adj" fmla="val 5000"/>
            </a:avLst>
          </a:prstGeom>
          <a:solidFill>
            <a:srgbClr val="F8FAFC"/>
          </a:solidFill>
          <a:ln w="19050">
            <a:solidFill>
              <a:srgbClr val="2E854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a:lstStyle/>
          <a:p>
            <a:pPr algn="l">
              <a:lnSpc>
                <a:spcPct val="125000"/>
              </a:lnSpc>
              <a:spcAft>
                <a:spcPts val="400"/>
              </a:spcAft>
            </a:pPr>
            <a:r>
              <a:rPr sz="1500" b="1" i="0">
                <a:solidFill>
                  <a:srgbClr val="2E8540"/>
                </a:solidFill>
                <a:latin typeface="Arial"/>
              </a:rPr>
              <a:t>The report always builds, and always says what it's missing.</a:t>
            </a:r>
          </a:p>
          <a:p>
            <a:pPr algn="l">
              <a:lnSpc>
                <a:spcPct val="130000"/>
              </a:lnSpc>
              <a:spcAft>
                <a:spcPts val="0"/>
              </a:spcAft>
            </a:pPr>
            <a:r>
              <a:rPr sz="1200" b="0" i="0">
                <a:solidFill>
                  <a:srgbClr val="1A1A1A"/>
                </a:solidFill>
                <a:latin typeface="Arial"/>
              </a:rPr>
              <a:t>Run only notebooks 1 and 4: a complete, honest report reading “0 measured · 40 judgement.” Add 2 and 3, and the same report gains facts and a sensitivity ranking — same shape, better evidence.</a:t>
            </a:r>
          </a:p>
        </p:txBody>
      </p:sp>
      <p:sp>
        <p:nvSpPr>
          <p:cNvPr id="8" name="TextBox 7"/>
          <p:cNvSpPr txBox="1"/>
          <p:nvPr/>
        </p:nvSpPr>
        <p:spPr>
          <a:xfrm>
            <a:off x="777240" y="6355080"/>
            <a:ext cx="10637215" cy="274320"/>
          </a:xfrm>
          <a:prstGeom prst="rect">
            <a:avLst/>
          </a:prstGeom>
          <a:noFill/>
        </p:spPr>
        <p:txBody>
          <a:bodyPr wrap="square" anchor="t" lIns="0" rIns="0" tIns="0" bIns="0">
            <a:spAutoFit/>
          </a:bodyPr>
          <a:lstStyle/>
          <a:p>
            <a:pPr algn="l">
              <a:lnSpc>
                <a:spcPct val="125000"/>
              </a:lnSpc>
              <a:spcAft>
                <a:spcPts val="0"/>
              </a:spcAft>
            </a:pPr>
            <a:r>
              <a:rPr sz="900" b="0" i="0">
                <a:solidFill>
                  <a:srgbClr val="94A3B8"/>
                </a:solidFill>
                <a:latin typeface="Arial"/>
              </a:rPr>
              <a:t/>
            </a:r>
          </a:p>
        </p:txBody>
      </p:sp>
      <p:sp>
        <p:nvSpPr>
          <p:cNvPr id="9" name="TextBox 8"/>
          <p:cNvSpPr txBox="1"/>
          <p:nvPr/>
        </p:nvSpPr>
        <p:spPr>
          <a:xfrm>
            <a:off x="8305495" y="6355080"/>
            <a:ext cx="3108960" cy="274320"/>
          </a:xfrm>
          <a:prstGeom prst="rect">
            <a:avLst/>
          </a:prstGeom>
          <a:noFill/>
        </p:spPr>
        <p:txBody>
          <a:bodyPr wrap="square" anchor="t" lIns="0" rIns="0" tIns="0" bIns="0">
            <a:spAutoFit/>
          </a:bodyPr>
          <a:lstStyle/>
          <a:p>
            <a:pPr algn="r">
              <a:lnSpc>
                <a:spcPct val="125000"/>
              </a:lnSpc>
              <a:spcAft>
                <a:spcPts val="0"/>
              </a:spcAft>
            </a:pPr>
            <a:r>
              <a:rPr sz="900" b="0" i="0">
                <a:solidFill>
                  <a:srgbClr val="94A3B8"/>
                </a:solidFill>
                <a:latin typeface="Arial"/>
              </a:rPr>
              <a:t>IPScore · Notebook Logic · 10 / 11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77240" y="868680"/>
            <a:ext cx="10637215" cy="914400"/>
          </a:xfrm>
          <a:prstGeom prst="rect">
            <a:avLst/>
          </a:prstGeom>
          <a:noFill/>
        </p:spPr>
        <p:txBody>
          <a:bodyPr wrap="square" anchor="t" lIns="0" rIns="0" tIns="0" bIns="0">
            <a:spAutoFit/>
          </a:bodyPr>
          <a:lstStyle/>
          <a:p>
            <a:pPr algn="l">
              <a:lnSpc>
                <a:spcPct val="110000"/>
              </a:lnSpc>
              <a:spcAft>
                <a:spcPts val="0"/>
              </a:spcAft>
            </a:pPr>
            <a:r>
              <a:rPr sz="3200" b="1" i="0">
                <a:solidFill>
                  <a:srgbClr val="1A1A1A"/>
                </a:solidFill>
                <a:latin typeface="Arial"/>
              </a:rPr>
              <a:t>Thank you — questions welcome</a:t>
            </a:r>
          </a:p>
        </p:txBody>
      </p:sp>
      <p:sp>
        <p:nvSpPr>
          <p:cNvPr id="4" name="Oval 3"/>
          <p:cNvSpPr/>
          <p:nvPr/>
        </p:nvSpPr>
        <p:spPr>
          <a:xfrm>
            <a:off x="777240" y="2048256"/>
            <a:ext cx="91440" cy="91440"/>
          </a:xfrm>
          <a:prstGeom prst="ellipse">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069848" y="1920240"/>
            <a:ext cx="10344607" cy="548640"/>
          </a:xfrm>
          <a:prstGeom prst="rect">
            <a:avLst/>
          </a:prstGeom>
          <a:noFill/>
        </p:spPr>
        <p:txBody>
          <a:bodyPr wrap="square" anchor="t" lIns="0" rIns="0" tIns="0" bIns="0">
            <a:spAutoFit/>
          </a:bodyPr>
          <a:lstStyle/>
          <a:p>
            <a:pPr algn="l">
              <a:lnSpc>
                <a:spcPct val="125000"/>
              </a:lnSpc>
              <a:spcAft>
                <a:spcPts val="0"/>
              </a:spcAft>
            </a:pPr>
            <a:r>
              <a:rPr sz="1600" b="0" i="0">
                <a:solidFill>
                  <a:srgbClr val="1A1A1A"/>
                </a:solidFill>
                <a:latin typeface="Arial"/>
              </a:rPr>
              <a:t>Full chain: 8_ipscore_rebuild/ (notebooks 1–4), run order 1 → 2 → 3 → 4</a:t>
            </a:r>
          </a:p>
        </p:txBody>
      </p:sp>
      <p:sp>
        <p:nvSpPr>
          <p:cNvPr id="6" name="Oval 5"/>
          <p:cNvSpPr/>
          <p:nvPr/>
        </p:nvSpPr>
        <p:spPr>
          <a:xfrm>
            <a:off x="777240" y="2706624"/>
            <a:ext cx="91440" cy="91440"/>
          </a:xfrm>
          <a:prstGeom prst="ellipse">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1069848" y="2578608"/>
            <a:ext cx="10344607" cy="548640"/>
          </a:xfrm>
          <a:prstGeom prst="rect">
            <a:avLst/>
          </a:prstGeom>
          <a:noFill/>
        </p:spPr>
        <p:txBody>
          <a:bodyPr wrap="square" anchor="t" lIns="0" rIns="0" tIns="0" bIns="0">
            <a:spAutoFit/>
          </a:bodyPr>
          <a:lstStyle/>
          <a:p>
            <a:pPr algn="l">
              <a:lnSpc>
                <a:spcPct val="125000"/>
              </a:lnSpc>
              <a:spcAft>
                <a:spcPts val="0"/>
              </a:spcAft>
            </a:pPr>
            <a:r>
              <a:rPr sz="1600" b="0" i="0">
                <a:solidFill>
                  <a:srgbClr val="1A1A1A"/>
                </a:solidFill>
                <a:latin typeface="Arial"/>
              </a:rPr>
              <a:t>The engine and its acceptance test: ipscore_kit.py (run it standalone for the test alone)</a:t>
            </a:r>
          </a:p>
        </p:txBody>
      </p:sp>
      <p:sp>
        <p:nvSpPr>
          <p:cNvPr id="8" name="Oval 7"/>
          <p:cNvSpPr/>
          <p:nvPr/>
        </p:nvSpPr>
        <p:spPr>
          <a:xfrm>
            <a:off x="777240" y="3364992"/>
            <a:ext cx="91440" cy="91440"/>
          </a:xfrm>
          <a:prstGeom prst="ellipse">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69848" y="3236976"/>
            <a:ext cx="10344607" cy="548640"/>
          </a:xfrm>
          <a:prstGeom prst="rect">
            <a:avLst/>
          </a:prstGeom>
          <a:noFill/>
        </p:spPr>
        <p:txBody>
          <a:bodyPr wrap="square" anchor="t" lIns="0" rIns="0" tIns="0" bIns="0">
            <a:spAutoFit/>
          </a:bodyPr>
          <a:lstStyle/>
          <a:p>
            <a:pPr algn="l">
              <a:lnSpc>
                <a:spcPct val="125000"/>
              </a:lnSpc>
              <a:spcAft>
                <a:spcPts val="0"/>
              </a:spcAft>
            </a:pPr>
            <a:r>
              <a:rPr sz="1600" b="0" i="0">
                <a:solidFill>
                  <a:srgbClr val="1A1A1A"/>
                </a:solidFill>
                <a:latin typeface="Arial"/>
              </a:rPr>
              <a:t>Workshop-ready original: 7_ipscore/ — stays untouched as the working reference</a:t>
            </a:r>
          </a:p>
        </p:txBody>
      </p:sp>
      <p:sp>
        <p:nvSpPr>
          <p:cNvPr id="10" name="Rounded Rectangle 9"/>
          <p:cNvSpPr/>
          <p:nvPr/>
        </p:nvSpPr>
        <p:spPr>
          <a:xfrm>
            <a:off x="777240" y="4434840"/>
            <a:ext cx="10637215" cy="1371600"/>
          </a:xfrm>
          <a:prstGeom prst="roundRect">
            <a:avLst>
              <a:gd name="adj" fmla="val 5000"/>
            </a:avLst>
          </a:prstGeom>
          <a:solidFill>
            <a:srgbClr val="FD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10896" rIns="310896"/>
          <a:lstStyle/>
          <a:p>
            <a:pPr algn="l">
              <a:lnSpc>
                <a:spcPct val="125000"/>
              </a:lnSpc>
              <a:spcAft>
                <a:spcPts val="400"/>
              </a:spcAft>
            </a:pPr>
            <a:r>
              <a:rPr sz="1400" b="1" i="0">
                <a:solidFill>
                  <a:srgbClr val="BE0F05"/>
                </a:solidFill>
                <a:latin typeface="Arial"/>
              </a:rPr>
              <a:t>model: EPO IPScore 3.01 — an EPO tool; module 8 is an independent implementation</a:t>
            </a:r>
          </a:p>
          <a:p>
            <a:pPr algn="l">
              <a:lnSpc>
                <a:spcPct val="125000"/>
              </a:lnSpc>
              <a:spcAft>
                <a:spcPts val="400"/>
              </a:spcAft>
            </a:pPr>
            <a:r>
              <a:rPr sz="1300" b="0" i="0">
                <a:solidFill>
                  <a:srgbClr val="64748B"/>
                </a:solidFill>
                <a:latin typeface="Arial"/>
              </a:rPr>
              <a:t>rebuilt as a TIP4PATLIBS teaching module by Arne Krüger (mtc.berlin)</a:t>
            </a:r>
          </a:p>
          <a:p>
            <a:pPr algn="l">
              <a:lnSpc>
                <a:spcPct val="125000"/>
              </a:lnSpc>
              <a:spcAft>
                <a:spcPts val="0"/>
              </a:spcAft>
            </a:pPr>
            <a:r>
              <a:rPr sz="1300" b="0" i="0">
                <a:solidFill>
                  <a:srgbClr val="64748B"/>
                </a:solidFill>
                <a:latin typeface="Arial"/>
              </a:rPr>
              <a:t>scenario analysis after Riccardo Priore's NPV Target Planner</a:t>
            </a:r>
          </a:p>
        </p:txBody>
      </p:sp>
      <p:sp>
        <p:nvSpPr>
          <p:cNvPr id="11" name="TextBox 10"/>
          <p:cNvSpPr txBox="1"/>
          <p:nvPr/>
        </p:nvSpPr>
        <p:spPr>
          <a:xfrm>
            <a:off x="777240" y="6355080"/>
            <a:ext cx="10637215" cy="274320"/>
          </a:xfrm>
          <a:prstGeom prst="rect">
            <a:avLst/>
          </a:prstGeom>
          <a:noFill/>
        </p:spPr>
        <p:txBody>
          <a:bodyPr wrap="square" anchor="t" lIns="0" rIns="0" tIns="0" bIns="0">
            <a:spAutoFit/>
          </a:bodyPr>
          <a:lstStyle/>
          <a:p>
            <a:pPr algn="l">
              <a:lnSpc>
                <a:spcPct val="125000"/>
              </a:lnSpc>
              <a:spcAft>
                <a:spcPts val="0"/>
              </a:spcAft>
            </a:pPr>
            <a:r>
              <a:rPr sz="900" b="0" i="0">
                <a:solidFill>
                  <a:srgbClr val="94A3B8"/>
                </a:solidFill>
                <a:latin typeface="Arial"/>
              </a:rPr>
              <a:t>epo-tip4patlibs</a:t>
            </a:r>
          </a:p>
        </p:txBody>
      </p:sp>
      <p:sp>
        <p:nvSpPr>
          <p:cNvPr id="12" name="TextBox 11"/>
          <p:cNvSpPr txBox="1"/>
          <p:nvPr/>
        </p:nvSpPr>
        <p:spPr>
          <a:xfrm>
            <a:off x="8305495" y="6355080"/>
            <a:ext cx="3108960" cy="274320"/>
          </a:xfrm>
          <a:prstGeom prst="rect">
            <a:avLst/>
          </a:prstGeom>
          <a:noFill/>
        </p:spPr>
        <p:txBody>
          <a:bodyPr wrap="square" anchor="t" lIns="0" rIns="0" tIns="0" bIns="0">
            <a:spAutoFit/>
          </a:bodyPr>
          <a:lstStyle/>
          <a:p>
            <a:pPr algn="r">
              <a:lnSpc>
                <a:spcPct val="125000"/>
              </a:lnSpc>
              <a:spcAft>
                <a:spcPts val="0"/>
              </a:spcAft>
            </a:pPr>
            <a:r>
              <a:rPr sz="900" b="0" i="0">
                <a:solidFill>
                  <a:srgbClr val="94A3B8"/>
                </a:solidFill>
                <a:latin typeface="Arial"/>
              </a:rPr>
              <a:t>IPScore · Notebook Logic · 11 / 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