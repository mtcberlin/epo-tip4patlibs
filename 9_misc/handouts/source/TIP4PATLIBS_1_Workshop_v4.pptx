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348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speakers, six modules, one repository. The claim in one line: the entry barrier is an account, not a budget — and the judgement is still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anyone who has not opened TIP: it is a hosted JupyterLab with the EPO's own databases behind it, free, with EPO Academy material alongside. Say the licence sentence out loud — it is what the directors in the room will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 story in one breath: this is community work, not a vendor course. Then move on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colleagues who have never touched PATSTAT. Take a full minute. Nobody has to be a programmer today — and the Academy route is a real route, not a consolation prize.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of the workshop. Say it plainly: nobody is asking you to become a developer. The judgement is still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ladder: each rung adds one thing. Nothing here needs the rung above it to make 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Persistence is the whole trick. Everyone who tried this before lost their setup overnight. Mention the assistant here once — it is a tool in the setup, not the point of the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loop: the rest of the workshop assumes only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library as a starting point, not a catalogue: nobody learns from an empty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makes the room nod. Everybody has been burnt by a name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module for directors, chambers of commerce and the ministry. Ships on Alsace FR42; change the region code and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caveat is the selling point, not a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Riccardo's module. The search strategy is the professional skill and the step a finished report usually hides.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honest finding. It is the strongest thing in the whole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repository, not on a thank-you slide. The handouts are the reason they will open it again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6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PATLIB WORKSHOP  ·  WARSAW  ·  16 / 17 SEPTEMBER 2026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10578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kern="0" spc="-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542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9EC7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on the platform. Then ask better questions.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66928" y="3456432"/>
            <a:ext cx="7863840" cy="1143000"/>
          </a:xfrm>
          <a:prstGeom prst="roundRect">
            <a:avLst>
              <a:gd name="adj" fmla="val 48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9EC7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86967" y="3456432"/>
            <a:ext cx="74267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modules on the EPO Technology Intelligence Platform. You do not have to learn SQL first — you have to get onto the platform, and then decide what to ask.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983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Krüger</a:t>
            </a:r>
            <a:r>
              <a:rPr lang="en-US" sz="14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mtc.berlin
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Riccardo Priore</a:t>
            </a:r>
            <a:r>
              <a:rPr lang="en-US" sz="14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Centro PATLIB, AREA Science Park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76072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EC7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github.com/mtcberlin/epo-tip4patlibs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 / 19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EVERYTHING HERE RUNS 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772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TIP is — </a:t>
            </a: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your PATLIB gets out of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5323180" cy="3310128"/>
          </a:xfrm>
          <a:prstGeom prst="roundRect">
            <a:avLst>
              <a:gd name="adj" fmla="val 1381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86968" y="1792224"/>
            <a:ext cx="46831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EPO Technology Intelligence Platform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286000"/>
            <a:ext cx="4683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tip.epo.org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2798064"/>
            <a:ext cx="46831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JupyterLab server adapted to and hosted by the EPO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PATSTAT, the EPO Register and the EP-A/B full-text databases, queryable as SQL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access for the general public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 training material on database structure, Python and SQL from the EPO Academy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1588" y="1536192"/>
            <a:ext cx="5323180" cy="3310128"/>
          </a:xfrm>
          <a:prstGeom prst="roundRect">
            <a:avLst>
              <a:gd name="adj" fmla="val 1381"/>
            </a:avLst>
          </a:prstGeom>
          <a:solidFill>
            <a:srgbClr val="FFFFFF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621628" y="1792224"/>
            <a:ext cx="46831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opens up for a PATLIB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621628" y="2286000"/>
            <a:ext cx="4683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we spent the year on it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1628" y="2798064"/>
            <a:ext cx="46831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analytics and reports built on current PATSTAT — not on an export from last year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to get familiar with patent statistics and data-science methods, at your own pace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licence to negotiate, no server to run — and what you build stays yours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5074920"/>
            <a:ext cx="11057839" cy="841248"/>
          </a:xfrm>
          <a:prstGeom prst="roundRect">
            <a:avLst>
              <a:gd name="adj" fmla="val 5435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932688" y="5074920"/>
            <a:ext cx="1032631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entry barrier is an account, not a budget. Everything shown over these two days runs inside TIP.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CAME ABOUT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7724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2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handed us a course.
</a:t>
            </a:r>
            <a:r>
              <a:rPr lang="en-US" sz="32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walked into TIP together.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029968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walking-group sessions with colleagues from the PATLIB community, working out access to the Technology Intelligence Platform side by side — not a product demo, but people trying to get a first query to return rows.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7" y="2907792"/>
            <a:ext cx="3472586" cy="1988820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41248" y="3054096"/>
            <a:ext cx="29239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questions, every time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479292"/>
            <a:ext cx="29239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survives a restart. How to reach PATSTAT. Where a query even starts. How to show a result to a colleague who does not code.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9554" y="2921455"/>
            <a:ext cx="3472586" cy="1975157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633874" y="3054096"/>
            <a:ext cx="29239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down as it worked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33874" y="3456379"/>
            <a:ext cx="29239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answer became a notebook that runs top to bottom inside TIP — no installation, and a sensible default so it works before you change anything.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52181" y="2921455"/>
            <a:ext cx="3472586" cy="1975157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426500" y="3054096"/>
            <a:ext cx="29239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modules, one repository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52928" y="3310128"/>
            <a:ext cx="29239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order we found them. Everything shown over these two days is in there, public, yours to run and to change.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3 / 19</a:t>
            </a:r>
            <a:endParaRPr lang="en-US" sz="900" dirty="0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A0AACD00-ADAE-9FDE-77F7-AA4FDB75AC10}"/>
              </a:ext>
            </a:extLst>
          </p:cNvPr>
          <p:cNvSpPr/>
          <p:nvPr/>
        </p:nvSpPr>
        <p:spPr>
          <a:xfrm>
            <a:off x="566927" y="5321808"/>
            <a:ext cx="11057840" cy="758952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92091D59-A65C-7302-1B22-A8FA32AF57A5}"/>
              </a:ext>
            </a:extLst>
          </p:cNvPr>
          <p:cNvSpPr txBox="1"/>
          <p:nvPr/>
        </p:nvSpPr>
        <p:spPr>
          <a:xfrm>
            <a:off x="841248" y="5426964"/>
            <a:ext cx="83109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000"/>
              </a:lnSpc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repository available to you: https://</a:t>
            </a:r>
            <a:r>
              <a:rPr lang="en-US" sz="1500" b="1" dirty="0" err="1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</a:t>
            </a: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500" b="1" dirty="0" err="1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mtcberlin</a:t>
            </a: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/epo-tip4patlibs</a:t>
            </a:r>
            <a:endParaRPr lang="en-US" sz="15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7AE6B5-0C64-2472-2A68-78CC32D04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1986" y="4567428"/>
            <a:ext cx="2089404" cy="20894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 YOU WILL HEAR ALL DAY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772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PATSTAT — and who writes the queries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23180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5875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59536" y="1847088"/>
            <a:ext cx="438912" cy="438912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59536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828800"/>
            <a:ext cx="413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PATSTAT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212848"/>
            <a:ext cx="413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EPO's raw patent database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2688336"/>
            <a:ext cx="4737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search interface. Around forty linked tables holding every application, applicant, classification, family link and citation the offices have published.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search box and no company record. You ask it questions in SQL — which is exactly why it stayed a specialist tool for twenty years.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1588" y="1572768"/>
            <a:ext cx="5323180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5875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594196" y="1847088"/>
            <a:ext cx="438912" cy="43891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594196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170268" y="1828800"/>
            <a:ext cx="413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writes the SQL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7170268" y="2212848"/>
            <a:ext cx="413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routes, and you will see all three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94196" y="2688336"/>
            <a:ext cx="4737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EPO Academy material on TIP, which teaches the schema and the language properly — the long road, and the one worth walking.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query library that already runs, so your first result arrives before your first lesson does. Or an assistant in your session that drafts it for you.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route: the query stays on the screen, and you are the one who reads it.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047488"/>
            <a:ext cx="11057839" cy="868680"/>
          </a:xfrm>
          <a:prstGeom prst="roundRect">
            <a:avLst>
              <a:gd name="adj" fmla="val 5263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32688" y="5047488"/>
            <a:ext cx="106920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in these two days asks you to write SQL from scratch. Everything in them asks you to read a result critically.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barrier moved.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twenty years the hard part of patent analytics was getting to the data at all: the licence, the schema, the SQL. On TIP, none of those is where your time goes any more. What is left is the part that was always the professional work.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66928" y="2697480"/>
            <a:ext cx="5300320" cy="3063240"/>
          </a:xfrm>
          <a:prstGeom prst="roundRect">
            <a:avLst>
              <a:gd name="adj" fmla="val 149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460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longer costs you weeks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01568"/>
            <a:ext cx="4605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8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access to current PATSTAT at all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8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which of the forty tables to join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8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and debugging the SQL by hand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8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distance between a question and a first table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24448" y="2697480"/>
            <a:ext cx="5300320" cy="3063240"/>
          </a:xfrm>
          <a:prstGeom prst="roundRect">
            <a:avLst>
              <a:gd name="adj" fmla="val 1493"/>
            </a:avLst>
          </a:prstGeom>
          <a:solidFill>
            <a:srgbClr val="FFFFFF">
              <a:alpha val="12000"/>
            </a:srgbClr>
          </a:solidFill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671920" y="2926080"/>
            <a:ext cx="460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yours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671920" y="3401568"/>
            <a:ext cx="4605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what is actually being asked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the corpus — and its exclusions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whether the answer holds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caveat you put under the table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592531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EC7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modules follow. Every one of them is a live notebook in TIP — the slides only set it up.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ORDER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772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claim, three examples, </a:t>
            </a:r>
            <a:r>
              <a:rPr lang="en-US" sz="31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 cases.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898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ambition from left to right. Each module is set up on two slides, then shown live in TIP.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2697480" cy="3200400"/>
          </a:xfrm>
          <a:prstGeom prst="roundRect">
            <a:avLst>
              <a:gd name="adj" fmla="val 1695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6883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TIP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344168" y="29626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an assistant that survives the restart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02736" y="2057400"/>
            <a:ext cx="4709160" cy="3200400"/>
          </a:xfrm>
          <a:prstGeom prst="roundRect">
            <a:avLst>
              <a:gd name="adj" fmla="val 1429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858768" y="2286000"/>
            <a:ext cx="4197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EXAMPLES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58768" y="2724912"/>
            <a:ext cx="384048" cy="384048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3858768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79976" y="2688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Library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29626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you are actually asked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858768" y="3502152"/>
            <a:ext cx="384048" cy="384048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3858768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79976" y="34655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PATSTAT Explorer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4379976" y="37398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query, as an app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858768" y="4279392"/>
            <a:ext cx="384048" cy="384048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3858768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79976" y="42428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Analysis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379976" y="45171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region, your client list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650224" y="2057400"/>
            <a:ext cx="3246120" cy="3200400"/>
          </a:xfrm>
          <a:prstGeom prst="roundRect">
            <a:avLst>
              <a:gd name="adj" fmla="val 1429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8906256" y="2286000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 CASES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906256" y="2724912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8906256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427464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Antibiotics Landscape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9427464" y="29626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multi-step analysis, end to end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906256" y="3502152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8906256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427464" y="34655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IPScore with TIP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9427464" y="37398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patent worth?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548640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1–4  Arne Krüger · mtc.berlin          Modules 5–6  Riccardo Priore · Centro PATLIB, AREA Science Park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SETUP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setup that survives the restart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install.sh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50976" y="1600200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have a login to a machine you do not own, which is rebuilt without warning, and which holds the largest patent database in the world. How do you get a working setup onto it that is still there next session?”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260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41248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just install what I need.” The usual install and configuration is gone by Monday — nothing was deleted, the machine was simply rebuilt.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59554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633874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“Then I will work through the Academy material first.” Do — it is good. But you can have a result on the screen long before you are finished.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2181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426501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would need a developer for this.” Not for this. You need a setup that persists, and the habit of reading the query before you trust the number.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14400" y="53035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350008" y="5303520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setup surviving a restart, then a first PATSTAT query — company and institution search — read line by line before we trust the number.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SETUP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install.sh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TIP working environment that is still there after the machine restarts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sample query you can read, run and change — before you could have written it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setup you can carry into your own PATLIB's TIP account</a:t>
            </a:r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cs typeface="Calibri" pitchFamily="34" charset="-120"/>
              </a:rPr>
              <a:t>AI Coding Assistant can be installed optionally to support you in your learning and implementing your ideas.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was never the database. It was the SQL and the PATSTAT knowledge — and that is the part that has stopped standing in your way.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1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Query Library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1_querylib/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50976" y="1600200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client walks in and asks: who in Europe is working on solid-state batteries?”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260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41248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answer was always a keyword search. It is not wrong — it is simply the weakest instrument you have.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59554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633874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miss everything phrased differently, and catch everything that merely mentions the term in passing.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2181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426501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problem is visible in the result. You get a list, and no way to show that it is complete.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14400" y="53035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350008" y="5303520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 from the library run against PATSTAT Global, then the same query with a single parameter changed.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1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1_querylib/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 adapted to a question you are actually asked, with its result table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feel for what a PATSTAT query costs in time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vocabulary to explain why keywords were combined with classifications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analysis you cannot understand is one you cannot defend.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2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PATSTAT Explorer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2_patstat_explorer/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50976" y="1600200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client asks how big Siemens Healthineers' patent portfolio is. You run a name search. You get 200 rows. Which one is the answer?”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260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41248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them. PATSTAT does not know companies — it knows names, exactly as typed on each application.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59554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633874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entry per spelling, per country, per subsidiary, per typo. There is no company record to look up.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2181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426501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largest row and you have undercounted the group — as a clean, confident-looking number.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14400" y="53035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350008" y="5303520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search returning 200 rows, the consolidation decision behind the number, and the same search running as an app inside TIP.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2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2_patstat_explorer/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consolidated applicant group — a named list of spellings you decided belong together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family count, filing offices and technology profile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note of what your consolidation missed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Consolidation is a judgement, not a lookup. What makes the number defensible is that you wrote the decision down.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Lead Generation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3_lead_generation/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50976" y="1600200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PATLIB is asked to justify its outreach budget. Which companies in your region should you actually be talking to — and why those?”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260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41248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PATLIB has a contact list. Almost none of them can say how it was built.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59554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633874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walked in, who came to the last event, who somebody happened to remember.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2181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426501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 ranked list has to survive is not “who is on it” but “who is missing”.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14400" y="53035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350008" y="5303520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regional notebook on Alsace (FR42), then the same run for a German region — and the tier grid it produces.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3_lead_generation/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shortlist for your region — family count, depth tier, reach tier, zones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grid showing how your region distributes across the tiers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defensible sentence about what the list does not contain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EP/PCT-active subset of your region. Roughly 70% of national families never take that route — say so under the table.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RICCARDO  ·  TWO USE CASES  ·  MODULE 4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landscape reports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4_patentreports/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353312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 analyses after Riccardo Priore, Centro PATLIB, AREA Science Park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950976" y="1755648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regional cluster manager asks for a picture of what is happening in antibiotic resistance. Where do you start?”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0815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41248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“Drug resistance” is dominated by cancer — an oncology landscape wearing the wrong label.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59554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4633874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acronyms — MRSA, VRE, ESBL — are noisy, and turn up where the subject is not.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52181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8426501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visible in the result: a large corpus, looking perfectly healthy, about something else.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458968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914400" y="5458968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350008" y="5458968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assembled report with its 13 charts — then back to the search strategy that defined the corpus.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15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RICCARDO  ·  TWO USE CASES  ·  MODULE 4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4_patentreports/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self-contained HTML report, 13 charts, no internet connection needed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workbook carrying the data behind every chart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search strategy — including its exclusions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analyses are generic. The corpus definition is the part that is yours, and the part you have to defend.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16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RICCARDO  ·  TWO USE CASES  ·  MODULE 5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patent worth?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5_ipscore/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353312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IPScore is an EPO tool; this is the course's own implementation of the 3.01 model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950976" y="1755648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client puts a granted European patent on the table and asks what it is worth.”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0815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41248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costs, comparable licence rates, “it depends” — or the answer that the question cannot be answered.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59554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4633874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IPScore does answer it: 40 questions, seven figures from the accounts, a ten-year discounted cash flow.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52181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8426501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then: all 40 answers come from a person. The engine is exact; its inputs are opinions.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458968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914400" y="5458968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350008" y="5458968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questionnaire and the NPV for one granted European patent, and which of the 40 answers the data could check.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RICCARDO  ·  TWO USE CASES  ·  MODULE 5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5_ipscore/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verified implementation of the EPO IPScore model, seen from the inside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completed valuation of a real patent — NPV and profile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of how much of that number is actually evidence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the 11 questions PATSTAT can check is one of the 8 that carry money. What a database can check and what a valuation depends on barely overlap.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LEAVE WITH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04672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the repository.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6367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environment on TIP that survives the restart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4767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hosted, with current PATSTAT behind 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532888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6928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478024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working examples, in rising order of ambition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78892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 question · the same query as an app · a named shortlist for your own region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374136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566928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31927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 cases built the same way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3016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landscape report, and a patent valuation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215384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566928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16052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in every one of them, the part no tool does for you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47141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what to ask, and judging whether the answer holds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960120"/>
          </a:xfrm>
          <a:prstGeom prst="roundRect">
            <a:avLst>
              <a:gd name="adj" fmla="val 47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9EC7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932688" y="5193792"/>
            <a:ext cx="103263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handouts — the full 45-minute version of every block you just saw — in </a:t>
            </a: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3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github.com/mtcberlin/epo-tip4patlibs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309567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Krüger · mtc.berlin      ·      Riccardo Priore · Centro PATLIB, AREA Science Park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19 / 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3027</Words>
  <Application>Microsoft Macintosh PowerPoint</Application>
  <PresentationFormat>Widescreen</PresentationFormat>
  <Paragraphs>294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TIP4PATLIBS — Get on the platform. Then ask better questions.</dc:title>
  <dc:subject>PptxGenJS Presentation</dc:subject>
  <dc:creator>Arne Krüger · mtc.berlin</dc:creator>
  <cp:lastModifiedBy>Arne Krueger</cp:lastModifiedBy>
  <cp:revision>2</cp:revision>
  <dcterms:created xsi:type="dcterms:W3CDTF">2026-09-17T06:47:06Z</dcterms:created>
  <dcterms:modified xsi:type="dcterms:W3CDTF">2026-09-17T07:25:08Z</dcterms:modified>
</cp:coreProperties>
</file>